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charts/chart1.xml" ContentType="application/vnd.openxmlformats-officedocument.drawingml.chart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charts/chart2.xml" ContentType="application/vnd.openxmlformats-officedocument.drawingml.chart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charts/chart3.xml" ContentType="application/vnd.openxmlformats-officedocument.drawingml.chart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</p:sldIdLst>
  <p:notesMasterIdLst>
    <p:notesMasterId r:id="rId20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notesMaster" Target="notesMasters/notesMaster1.xml"/><Relationship Id="rId21" Type="http://schemas.openxmlformats.org/officeDocument/2006/relationships/presProps" Target="presProps.xml"/><Relationship Id="rId22" Type="http://schemas.openxmlformats.org/officeDocument/2006/relationships/viewProps" Target="viewProps.xml"/><Relationship Id="rId23" Type="http://schemas.openxmlformats.org/officeDocument/2006/relationships/theme" Target="theme/theme1.xml"/><Relationship Id="rId24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_rels/chart2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2.xlsx"/></Relationships>
</file>

<file path=ppt/charts/_rels/chart3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3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lineChart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유료 가구</c:v>
                </c:pt>
              </c:strCache>
            </c:strRef>
          </c:tx>
          <c:spPr>
            <a:solidFill>
              <a:srgbClr val="722F37"/>
            </a:solidFill>
            <a:ln w="50800" cap="flat">
              <a:solidFill>
                <a:srgbClr val="722F37"/>
              </a:solidFill>
              <a:prstDash val="solid"/>
              <a:round/>
            </a:ln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000" u="none">
                    <a:solidFill>
                      <a:srgbClr val="1A1A1A"/>
                    </a:solidFill>
                    <a:latin typeface="Arial Black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marker>
            <c:symbol val="circle"/>
            <c:size val="12"/>
            <c:spPr>
              <a:solidFill>
                <a:srgbClr val="722F37"/>
              </a:solidFill>
              <a:ln w="9525" cap="flat">
                <a:solidFill>
                  <a:srgbClr val="722F37"/>
                </a:solidFill>
                <a:prstDash val="solid"/>
                <a:round/>
              </a:ln>
              <a:effectLst/>
            </c:spPr>
          </c:marker>
          <c:cat>
            <c:multiLvlStrRef>
              <c:f>Sheet1!$A$2:$A$8</c:f>
              <c:multiLvlStrCache>
                <c:ptCount val="7"/>
                <c:lvl>
                  <c:pt idx="0">
                    <c:v>M0</c:v>
                  </c:pt>
                  <c:pt idx="1">
                    <c:v>M+3</c:v>
                  </c:pt>
                  <c:pt idx="2">
                    <c:v>M+6</c:v>
                  </c:pt>
                  <c:pt idx="3">
                    <c:v>M+9</c:v>
                  </c:pt>
                  <c:pt idx="4">
                    <c:v>M+12</c:v>
                  </c:pt>
                  <c:pt idx="5">
                    <c:v>M+15</c:v>
                  </c:pt>
                  <c:pt idx="6">
                    <c:v>M+18</c:v>
                  </c:pt>
                </c:lvl>
              </c:multiLvlStrCache>
            </c:multiLvlStrRef>
          </c:cat>
          <c:val>
            <c:numRef>
              <c:f>Sheet1!$B$2:$B$8</c:f>
              <c:numCache>
                <c:formatCode>General</c:formatCode>
                <c:ptCount val="7"/>
                <c:pt idx="0">
                  <c:v>200</c:v>
                </c:pt>
                <c:pt idx="1">
                  <c:v>380</c:v>
                </c:pt>
                <c:pt idx="2">
                  <c:v>580</c:v>
                </c:pt>
                <c:pt idx="3">
                  <c:v>820</c:v>
                </c:pt>
                <c:pt idx="4">
                  <c:v>1080</c:v>
                </c:pt>
                <c:pt idx="5">
                  <c:v>1240</c:v>
                </c:pt>
                <c:pt idx="6">
                  <c:v>1420</c:v>
                </c:pt>
              </c:numCache>
            </c:numRef>
          </c:val>
          <c:smooth val="0"/>
        </c:ser>
        <c:dLbls>
          <c:numFmt formatCode="#,##0" sourceLinked="0"/>
          <c:txPr>
            <a:bodyPr/>
            <a:lstStyle/>
            <a:p>
              <a:pPr>
                <a:defRPr b="0" i="0" strike="noStrike" sz="1000" u="none">
                  <a:solidFill>
                    <a:srgbClr val="1A1A1A"/>
                  </a:solidFill>
                  <a:latin typeface="Arial Black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marker val="1"/>
        <c:axId val="2094734554"/>
        <c:axId val="2094734552"/>
        <c:axId val="2094734556"/>
      </c:line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000000"/>
                </a:solidFill>
                <a:latin typeface="Palatino Linotype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12700" cap="flat">
              <a:solidFill>
                <a:srgbClr val="888888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000000"/>
                </a:solidFill>
                <a:latin typeface="Palatino Linotype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시장 규모 (조원)</c:v>
                </c:pt>
              </c:strCache>
            </c:strRef>
          </c:tx>
          <c:spPr>
            <a:solidFill>
              <a:srgbClr val="5B7553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100" u="none">
                    <a:solidFill>
                      <a:srgbClr val="1A1A1A"/>
                    </a:solidFill>
                    <a:latin typeface="Arial Black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Sheet1!$A$2:$A$7</c:f>
              <c:multiLvlStrCache>
                <c:ptCount val="6"/>
                <c:lvl>
                  <c:pt idx="0">
                    <c:v>2021</c:v>
                  </c:pt>
                  <c:pt idx="1">
                    <c:v>2022</c:v>
                  </c:pt>
                  <c:pt idx="2">
                    <c:v>2023</c:v>
                  </c:pt>
                  <c:pt idx="3">
                    <c:v>2024</c:v>
                  </c:pt>
                  <c:pt idx="4">
                    <c:v>2025E</c:v>
                  </c:pt>
                  <c:pt idx="5">
                    <c:v>2030E</c:v>
                  </c:pt>
                </c:lvl>
              </c:multiLvlStrCache>
            </c:multiLvlStrRef>
          </c:cat>
          <c:val>
            <c:numRef>
              <c:f>Sheet1!$B$2:$B$7</c:f>
              <c:numCache>
                <c:formatCode>General</c:formatCode>
                <c:ptCount val="6"/>
                <c:pt idx="0">
                  <c:v>7.2</c:v>
                </c:pt>
                <c:pt idx="1">
                  <c:v>8.4</c:v>
                </c:pt>
                <c:pt idx="2">
                  <c:v>9.8</c:v>
                </c:pt>
                <c:pt idx="3">
                  <c:v>11</c:v>
                </c:pt>
                <c:pt idx="4">
                  <c:v>12.4</c:v>
                </c:pt>
                <c:pt idx="5">
                  <c:v>28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100" u="none">
                  <a:solidFill>
                    <a:srgbClr val="1A1A1A"/>
                  </a:solidFill>
                  <a:latin typeface="Arial Black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000000"/>
                </a:solidFill>
                <a:latin typeface="Palatino Linotype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12700" cap="flat">
              <a:solidFill>
                <a:srgbClr val="888888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000000"/>
                </a:solidFill>
                <a:latin typeface="Palatino Linotype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doughnut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Use</c:v>
                </c:pt>
              </c:strCache>
            </c:strRef>
          </c:tx>
          <c:spPr>
            <a:solidFill>
              <a:schemeClr val="accent1"/>
            </a:solidFill>
            <a:ln w="9525" cap="flat">
              <a:solidFill>
                <a:srgbClr val="F9F9F9"/>
              </a:solidFill>
              <a:prstDash val="solid"/>
              <a:round/>
            </a:ln>
            <a:effectLst/>
          </c:spPr>
          <c:dPt>
            <c:idx val="0"/>
            <c:bubble3D val="0"/>
            <c:spPr>
              <a:solidFill>
                <a:srgbClr val="722F37"/>
              </a:solidFill>
              <a:effectLst/>
            </c:spPr>
          </c:dPt>
          <c:dPt>
            <c:idx val="1"/>
            <c:bubble3D val="0"/>
            <c:spPr>
              <a:solidFill>
                <a:srgbClr val="5B7553"/>
              </a:solidFill>
              <a:effectLst/>
            </c:spPr>
          </c:dPt>
          <c:dPt>
            <c:idx val="2"/>
            <c:bubble3D val="0"/>
            <c:spPr>
              <a:solidFill>
                <a:srgbClr val="B89263"/>
              </a:solidFill>
              <a:effectLst/>
            </c:spPr>
          </c:dPt>
          <c:dPt>
            <c:idx val="3"/>
            <c:bubble3D val="0"/>
            <c:spPr>
              <a:solidFill>
                <a:srgbClr val="6B6B6B"/>
              </a:solidFill>
              <a:effectLst/>
            </c:spPr>
          </c:dPt>
          <c:dLbls>
            <c:dLbl>
              <c:idx val="0"/>
              <c:numFmt formatCode="General" sourceLinked="0"/>
              <c:spPr/>
              <c:txPr>
                <a:bodyPr/>
                <a:lstStyle/>
                <a:p>
                  <a:pPr>
                    <a:defRPr sz="1400" b="0" i="0" u="none" strike="noStrike">
                      <a:solidFill>
                        <a:srgbClr val="F8F4EC"/>
                      </a:solidFill>
                      <a:latin typeface="Arial Black"/>
                    </a:defRPr>
                  </a:pPr>
                </a:p>
              </c:txPr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1"/>
              <c:numFmt formatCode="General" sourceLinked="0"/>
              <c:spPr/>
              <c:txPr>
                <a:bodyPr/>
                <a:lstStyle/>
                <a:p>
                  <a:pPr>
                    <a:defRPr sz="1400" b="0" i="0" u="none" strike="noStrike">
                      <a:solidFill>
                        <a:srgbClr val="F8F4EC"/>
                      </a:solidFill>
                      <a:latin typeface="Arial Black"/>
                    </a:defRPr>
                  </a:pPr>
                </a:p>
              </c:txPr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2"/>
              <c:numFmt formatCode="General" sourceLinked="0"/>
              <c:spPr/>
              <c:txPr>
                <a:bodyPr/>
                <a:lstStyle/>
                <a:p>
                  <a:pPr>
                    <a:defRPr sz="1400" b="0" i="0" u="none" strike="noStrike">
                      <a:solidFill>
                        <a:srgbClr val="F8F4EC"/>
                      </a:solidFill>
                      <a:latin typeface="Arial Black"/>
                    </a:defRPr>
                  </a:pPr>
                </a:p>
              </c:txPr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3"/>
              <c:numFmt formatCode="General" sourceLinked="0"/>
              <c:spPr/>
              <c:txPr>
                <a:bodyPr/>
                <a:lstStyle/>
                <a:p>
                  <a:pPr>
                    <a:defRPr sz="1400" b="0" i="0" u="none" strike="noStrike">
                      <a:solidFill>
                        <a:srgbClr val="F8F4EC"/>
                      </a:solidFill>
                      <a:latin typeface="Arial Black"/>
                    </a:defRPr>
                  </a:pPr>
                </a:p>
              </c:txPr>
              <c:showLegendKey val="0"/>
              <c:showVal val="1"/>
              <c:showCatName val="0"/>
              <c:showSerName val="0"/>
              <c:showPercent val="0"/>
              <c:showBubbleSize val="0"/>
            </c:dLbl>
            <c:numFmt formatCode="General" sourceLinked="0"/>
            <c:txPr>
              <a:bodyPr/>
              <a:lstStyle/>
              <a:p>
                <a:pPr>
                  <a:defRPr sz="1800" b="0" i="0" u="none" strike="noStrik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1"/>
            <c:showSerName val="0"/>
            <c:showPercent val="1"/>
            <c:showBubbleSize val="0"/>
            <c:showLeaderLines val="0"/>
          </c:dLbls>
          <c:cat>
            <c:strRef>
              <c:f>Sheet1!$A$2:$A$5</c:f>
              <c:strCache>
                <c:ptCount val="4"/>
                <c:pt idx="0">
                  <c:v>인건비 (5명 → 12명)</c:v>
                </c:pt>
                <c:pt idx="1">
                  <c:v>GTM 채널·마케팅</c:v>
                </c:pt>
                <c:pt idx="2">
                  <c:v>R&amp;D 낙상·AI</c:v>
                </c:pt>
                <c:pt idx="3">
                  <c:v>운영·법률·인증</c:v>
                </c:pt>
              </c:strCache>
            </c:strRef>
          </c:cat>
          <c:val>
            <c:numRef>
              <c:f>Sheet1!$B$2:$B$5</c:f>
              <c:numCache>
                <c:ptCount val="4"/>
                <c:pt idx="0">
                  <c:v>48</c:v>
                </c:pt>
                <c:pt idx="1">
                  <c:v>22</c:v>
                </c:pt>
                <c:pt idx="2">
                  <c:v>18</c:v>
                </c:pt>
                <c:pt idx="3">
                  <c:v>12</c:v>
                </c:pt>
              </c:numCache>
            </c:numRef>
          </c:val>
        </c:ser>
        <c:firstSliceAng val="0"/>
        <c:holeSize val="55"/>
      </c:doughnutChart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2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3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8F4E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457200"/>
            <a:ext cx="11247120" cy="0"/>
          </a:xfrm>
          <a:prstGeom prst="line">
            <a:avLst/>
          </a:prstGeom>
          <a:noFill/>
          <a:ln w="12700">
            <a:solidFill>
              <a:srgbClr val="722F37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64008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600" kern="0" dirty="0">
                <a:solidFill>
                  <a:srgbClr val="722F37"/>
                </a:solidFill>
                <a:latin typeface="Garamond" pitchFamily="34" charset="0"/>
                <a:ea typeface="Garamond" pitchFamily="34" charset="-122"/>
                <a:cs typeface="Garamond" pitchFamily="34" charset="-120"/>
              </a:rPr>
              <a:t>SILVERCARELAB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0" y="640080"/>
            <a:ext cx="43891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i="1" dirty="0">
                <a:solidFill>
                  <a:srgbClr val="6B6B6B"/>
                </a:solidFill>
                <a:latin typeface="Garamond" pitchFamily="34" charset="0"/>
                <a:ea typeface="Garamond" pitchFamily="34" charset="-122"/>
                <a:cs typeface="Garamond" pitchFamily="34" charset="-120"/>
              </a:rPr>
              <a:t>PRE-SERIES A · 2026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457200" y="1005840"/>
            <a:ext cx="11247120" cy="0"/>
          </a:xfrm>
          <a:prstGeom prst="line">
            <a:avLst/>
          </a:prstGeom>
          <a:noFill/>
          <a:ln w="6350">
            <a:solidFill>
              <a:srgbClr val="D6CFC2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57200" y="1554480"/>
            <a:ext cx="1097280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0" i="1" dirty="0">
                <a:solidFill>
                  <a:srgbClr val="722F37"/>
                </a:solidFill>
                <a:latin typeface="Palatino" pitchFamily="34" charset="0"/>
                <a:ea typeface="Palatino" pitchFamily="34" charset="-122"/>
                <a:cs typeface="Palatino" pitchFamily="34" charset="-120"/>
              </a:rPr>
              <a:t>SilverCareLab.</a:t>
            </a:r>
            <a:endParaRPr lang="en-US" sz="11000" dirty="0"/>
          </a:p>
        </p:txBody>
      </p:sp>
      <p:sp>
        <p:nvSpPr>
          <p:cNvPr id="7" name="Shape 5"/>
          <p:cNvSpPr/>
          <p:nvPr/>
        </p:nvSpPr>
        <p:spPr>
          <a:xfrm>
            <a:off x="457200" y="3108960"/>
            <a:ext cx="11247120" cy="0"/>
          </a:xfrm>
          <a:prstGeom prst="line">
            <a:avLst/>
          </a:prstGeom>
          <a:noFill/>
          <a:ln w="12700">
            <a:solidFill>
              <a:srgbClr val="722F37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57200" y="3291840"/>
            <a:ext cx="10972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i="1" dirty="0">
                <a:solidFill>
                  <a:srgbClr val="1A1A1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부모님의 안부를 기술이 챙기는 시대 —</a:t>
            </a:r>
            <a:endParaRPr lang="en-US" sz="2200" dirty="0"/>
          </a:p>
        </p:txBody>
      </p:sp>
      <p:sp>
        <p:nvSpPr>
          <p:cNvPr id="9" name="Text 7"/>
          <p:cNvSpPr/>
          <p:nvPr/>
        </p:nvSpPr>
        <p:spPr>
          <a:xfrm>
            <a:off x="457200" y="3794760"/>
            <a:ext cx="10972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A1A1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AI 기반 시니어 일상·복약·낙상 케어 통합 플랫폼.</a:t>
            </a:r>
            <a:endParaRPr lang="en-US" sz="2200" dirty="0"/>
          </a:p>
        </p:txBody>
      </p:sp>
      <p:sp>
        <p:nvSpPr>
          <p:cNvPr id="10" name="Shape 8"/>
          <p:cNvSpPr/>
          <p:nvPr/>
        </p:nvSpPr>
        <p:spPr>
          <a:xfrm>
            <a:off x="457200" y="4526280"/>
            <a:ext cx="11247120" cy="0"/>
          </a:xfrm>
          <a:prstGeom prst="line">
            <a:avLst/>
          </a:prstGeom>
          <a:noFill/>
          <a:ln w="6350">
            <a:solidFill>
              <a:srgbClr val="D6CFC2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57200" y="4709160"/>
            <a:ext cx="109728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i="1" dirty="0">
                <a:solidFill>
                  <a:srgbClr val="722F37"/>
                </a:solidFill>
                <a:latin typeface="Garamond" pitchFamily="34" charset="0"/>
                <a:ea typeface="Garamond" pitchFamily="34" charset="-122"/>
                <a:cs typeface="Garamond" pitchFamily="34" charset="-120"/>
              </a:rPr>
              <a:t>Pre-Series A Round.   </a:t>
            </a:r>
            <a:pPr indent="0" marL="0">
              <a:buNone/>
            </a:pPr>
            <a:r>
              <a:rPr lang="en-US" sz="2200" b="1" dirty="0">
                <a:solidFill>
                  <a:srgbClr val="1F2937"/>
                </a:solidFill>
                <a:latin typeface="Palatino" pitchFamily="34" charset="0"/>
                <a:ea typeface="Palatino" pitchFamily="34" charset="-122"/>
                <a:cs typeface="Palatino" pitchFamily="34" charset="-120"/>
              </a:rPr>
              <a:t>₩1.5B Raising.   </a:t>
            </a:r>
            <a:pPr indent="0" marL="0">
              <a:buNone/>
            </a:pPr>
            <a:r>
              <a:rPr lang="en-US" sz="1800" i="1" dirty="0">
                <a:solidFill>
                  <a:srgbClr val="722F3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Lead 모집.</a:t>
            </a:r>
            <a:endParaRPr lang="en-US" sz="1800" dirty="0"/>
          </a:p>
        </p:txBody>
      </p:sp>
      <p:sp>
        <p:nvSpPr>
          <p:cNvPr id="12" name="Shape 10"/>
          <p:cNvSpPr/>
          <p:nvPr/>
        </p:nvSpPr>
        <p:spPr>
          <a:xfrm>
            <a:off x="457200" y="5486400"/>
            <a:ext cx="11247120" cy="0"/>
          </a:xfrm>
          <a:prstGeom prst="line">
            <a:avLst/>
          </a:prstGeom>
          <a:noFill/>
          <a:ln w="6350">
            <a:solidFill>
              <a:srgbClr val="D6CFC2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57200" y="5669280"/>
            <a:ext cx="25603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i="1" spc="300" kern="0" dirty="0">
                <a:solidFill>
                  <a:srgbClr val="722F37"/>
                </a:solidFill>
                <a:latin typeface="Garamond" pitchFamily="34" charset="0"/>
                <a:ea typeface="Garamond" pitchFamily="34" charset="-122"/>
                <a:cs typeface="Garamond" pitchFamily="34" charset="-120"/>
              </a:rPr>
              <a:t>대표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457200" y="5943600"/>
            <a:ext cx="25603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A1A1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이수진 / CEO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3291840" y="5669280"/>
            <a:ext cx="25603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i="1" spc="300" kern="0" dirty="0">
                <a:solidFill>
                  <a:srgbClr val="722F37"/>
                </a:solidFill>
                <a:latin typeface="Garamond" pitchFamily="34" charset="0"/>
                <a:ea typeface="Garamond" pitchFamily="34" charset="-122"/>
                <a:cs typeface="Garamond" pitchFamily="34" charset="-120"/>
              </a:rPr>
              <a:t>MRR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3291840" y="5943600"/>
            <a:ext cx="25603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A1A1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₩52M (M+18%)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6126480" y="5669280"/>
            <a:ext cx="25603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i="1" spc="300" kern="0" dirty="0">
                <a:solidFill>
                  <a:srgbClr val="722F37"/>
                </a:solidFill>
                <a:latin typeface="Garamond" pitchFamily="34" charset="0"/>
                <a:ea typeface="Garamond" pitchFamily="34" charset="-122"/>
                <a:cs typeface="Garamond" pitchFamily="34" charset="-120"/>
              </a:rPr>
              <a:t>고객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6126480" y="5943600"/>
            <a:ext cx="25603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A1A1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유료 1,420명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8961120" y="5669280"/>
            <a:ext cx="25603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i="1" spc="300" kern="0" dirty="0">
                <a:solidFill>
                  <a:srgbClr val="722F37"/>
                </a:solidFill>
                <a:latin typeface="Garamond" pitchFamily="34" charset="0"/>
                <a:ea typeface="Garamond" pitchFamily="34" charset="-122"/>
                <a:cs typeface="Garamond" pitchFamily="34" charset="-120"/>
              </a:rPr>
              <a:t>발표 일자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8961120" y="5943600"/>
            <a:ext cx="25603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A1A1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2026.06</a:t>
            </a:r>
            <a:endParaRPr lang="en-US" sz="1300" dirty="0"/>
          </a:p>
        </p:txBody>
      </p:sp>
      <p:sp>
        <p:nvSpPr>
          <p:cNvPr id="21" name="Shape 19"/>
          <p:cNvSpPr/>
          <p:nvPr/>
        </p:nvSpPr>
        <p:spPr>
          <a:xfrm>
            <a:off x="457200" y="6446520"/>
            <a:ext cx="11247120" cy="0"/>
          </a:xfrm>
          <a:prstGeom prst="line">
            <a:avLst/>
          </a:prstGeom>
          <a:noFill/>
          <a:ln w="12700">
            <a:solidFill>
              <a:srgbClr val="722F37"/>
            </a:solidFill>
            <a:prstDash val="solid"/>
          </a:ln>
        </p:spPr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8F4E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1371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i="1" dirty="0">
                <a:solidFill>
                  <a:srgbClr val="722F37"/>
                </a:solidFill>
                <a:latin typeface="Garamond" pitchFamily="34" charset="0"/>
                <a:ea typeface="Garamond" pitchFamily="34" charset="-122"/>
                <a:cs typeface="Garamond" pitchFamily="34" charset="-120"/>
              </a:rPr>
              <a:t>01</a:t>
            </a:r>
            <a:endParaRPr lang="en-US" sz="1200" dirty="0"/>
          </a:p>
        </p:txBody>
      </p:sp>
      <p:sp>
        <p:nvSpPr>
          <p:cNvPr id="3" name="Shape 1"/>
          <p:cNvSpPr/>
          <p:nvPr/>
        </p:nvSpPr>
        <p:spPr>
          <a:xfrm>
            <a:off x="1691640" y="502920"/>
            <a:ext cx="365760" cy="0"/>
          </a:xfrm>
          <a:prstGeom prst="line">
            <a:avLst/>
          </a:prstGeom>
          <a:noFill/>
          <a:ln w="8890">
            <a:solidFill>
              <a:srgbClr val="722F37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286000" y="36576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i="1" spc="400" kern="0" dirty="0">
                <a:solidFill>
                  <a:srgbClr val="1F2937"/>
                </a:solidFill>
                <a:latin typeface="Garamond" pitchFamily="34" charset="0"/>
                <a:ea typeface="Garamond" pitchFamily="34" charset="-122"/>
                <a:cs typeface="Garamond" pitchFamily="34" charset="-120"/>
              </a:rPr>
              <a:t>EXECUTIVE SUMMARY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10058400" y="365760"/>
            <a:ext cx="1645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i="1" dirty="0">
                <a:solidFill>
                  <a:srgbClr val="6B6B6B"/>
                </a:solidFill>
                <a:latin typeface="Garamond" pitchFamily="34" charset="0"/>
                <a:ea typeface="Garamond" pitchFamily="34" charset="-122"/>
                <a:cs typeface="Garamond" pitchFamily="34" charset="-120"/>
              </a:rPr>
              <a:t>p.02 / 18</a:t>
            </a:r>
            <a:endParaRPr lang="en-US" sz="1000" dirty="0"/>
          </a:p>
        </p:txBody>
      </p:sp>
      <p:sp>
        <p:nvSpPr>
          <p:cNvPr id="6" name="Shape 4"/>
          <p:cNvSpPr/>
          <p:nvPr/>
        </p:nvSpPr>
        <p:spPr>
          <a:xfrm>
            <a:off x="457200" y="777240"/>
            <a:ext cx="11247120" cy="0"/>
          </a:xfrm>
          <a:prstGeom prst="line">
            <a:avLst/>
          </a:prstGeom>
          <a:noFill/>
          <a:ln w="8890">
            <a:solidFill>
              <a:srgbClr val="722F37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57200" y="1005840"/>
            <a:ext cx="10972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600" i="1" dirty="0">
                <a:solidFill>
                  <a:srgbClr val="722F37"/>
                </a:solidFill>
                <a:latin typeface="Palatino" pitchFamily="34" charset="0"/>
                <a:ea typeface="Palatino" pitchFamily="34" charset="-122"/>
                <a:cs typeface="Palatino" pitchFamily="34" charset="-120"/>
              </a:rPr>
              <a:t>한 장 요약.</a:t>
            </a:r>
            <a:endParaRPr lang="en-US" sz="3600" dirty="0"/>
          </a:p>
        </p:txBody>
      </p:sp>
      <p:sp>
        <p:nvSpPr>
          <p:cNvPr id="8" name="Text 6"/>
          <p:cNvSpPr/>
          <p:nvPr/>
        </p:nvSpPr>
        <p:spPr>
          <a:xfrm>
            <a:off x="457200" y="1691640"/>
            <a:ext cx="10972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A1A1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우리는 1,420가구 시니어를 매일 케어한다.</a:t>
            </a:r>
            <a:endParaRPr lang="en-US" sz="2200" dirty="0"/>
          </a:p>
        </p:txBody>
      </p:sp>
      <p:sp>
        <p:nvSpPr>
          <p:cNvPr id="9" name="Shape 7"/>
          <p:cNvSpPr/>
          <p:nvPr/>
        </p:nvSpPr>
        <p:spPr>
          <a:xfrm>
            <a:off x="457200" y="2377440"/>
            <a:ext cx="11247120" cy="0"/>
          </a:xfrm>
          <a:prstGeom prst="line">
            <a:avLst/>
          </a:prstGeom>
          <a:noFill/>
          <a:ln w="12700">
            <a:solidFill>
              <a:srgbClr val="722F37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57200" y="2606040"/>
            <a:ext cx="27432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722F37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1,420</a:t>
            </a:r>
            <a:endParaRPr lang="en-US" sz="3200" dirty="0"/>
          </a:p>
        </p:txBody>
      </p:sp>
      <p:sp>
        <p:nvSpPr>
          <p:cNvPr id="11" name="Text 9"/>
          <p:cNvSpPr/>
          <p:nvPr/>
        </p:nvSpPr>
        <p:spPr>
          <a:xfrm>
            <a:off x="457200" y="329184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B6B6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유료 가구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3337560" y="2606040"/>
            <a:ext cx="27432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722F37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+18%</a:t>
            </a:r>
            <a:endParaRPr lang="en-US" sz="3200" dirty="0"/>
          </a:p>
        </p:txBody>
      </p:sp>
      <p:sp>
        <p:nvSpPr>
          <p:cNvPr id="13" name="Text 11"/>
          <p:cNvSpPr/>
          <p:nvPr/>
        </p:nvSpPr>
        <p:spPr>
          <a:xfrm>
            <a:off x="3337560" y="329184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B6B6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M-on-M 성장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6217920" y="2606040"/>
            <a:ext cx="27432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722F37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96%</a:t>
            </a:r>
            <a:endParaRPr lang="en-US" sz="3200" dirty="0"/>
          </a:p>
        </p:txBody>
      </p:sp>
      <p:sp>
        <p:nvSpPr>
          <p:cNvPr id="15" name="Text 13"/>
          <p:cNvSpPr/>
          <p:nvPr/>
        </p:nvSpPr>
        <p:spPr>
          <a:xfrm>
            <a:off x="6217920" y="329184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B6B6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보호자 만족도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9098280" y="2606040"/>
            <a:ext cx="27432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722F37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₩52M</a:t>
            </a:r>
            <a:endParaRPr lang="en-US" sz="3200" dirty="0"/>
          </a:p>
        </p:txBody>
      </p:sp>
      <p:sp>
        <p:nvSpPr>
          <p:cNvPr id="17" name="Text 15"/>
          <p:cNvSpPr/>
          <p:nvPr/>
        </p:nvSpPr>
        <p:spPr>
          <a:xfrm>
            <a:off x="9098280" y="329184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B6B6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현재 MRR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457200" y="3794760"/>
            <a:ext cx="1645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spc="400" kern="0" dirty="0">
                <a:solidFill>
                  <a:srgbClr val="722F37"/>
                </a:solidFill>
                <a:latin typeface="Garamond" pitchFamily="34" charset="0"/>
                <a:ea typeface="Garamond" pitchFamily="34" charset="-122"/>
                <a:cs typeface="Garamond" pitchFamily="34" charset="-120"/>
              </a:rPr>
              <a:t>TRACTION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457200" y="4087368"/>
            <a:ext cx="5303520" cy="0"/>
          </a:xfrm>
          <a:prstGeom prst="line">
            <a:avLst/>
          </a:prstGeom>
          <a:noFill/>
          <a:ln w="6350">
            <a:solidFill>
              <a:srgbClr val="D6CFC2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457200" y="4160520"/>
            <a:ext cx="530352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A1A1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베타 200명 → M+18 1,420가구. M-on-M +18% 안정 성장. NRR 124%.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6217920" y="3794760"/>
            <a:ext cx="1645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spc="400" kern="0" dirty="0">
                <a:solidFill>
                  <a:srgbClr val="722F37"/>
                </a:solidFill>
                <a:latin typeface="Garamond" pitchFamily="34" charset="0"/>
                <a:ea typeface="Garamond" pitchFamily="34" charset="-122"/>
                <a:cs typeface="Garamond" pitchFamily="34" charset="-120"/>
              </a:rPr>
              <a:t>MARKET</a:t>
            </a:r>
            <a:endParaRPr lang="en-US" sz="1000" dirty="0"/>
          </a:p>
        </p:txBody>
      </p:sp>
      <p:sp>
        <p:nvSpPr>
          <p:cNvPr id="22" name="Shape 20"/>
          <p:cNvSpPr/>
          <p:nvPr/>
        </p:nvSpPr>
        <p:spPr>
          <a:xfrm>
            <a:off x="6217920" y="4087368"/>
            <a:ext cx="5303520" cy="0"/>
          </a:xfrm>
          <a:prstGeom prst="line">
            <a:avLst/>
          </a:prstGeom>
          <a:noFill/>
          <a:ln w="6350">
            <a:solidFill>
              <a:srgbClr val="D6CFC2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6217920" y="4160520"/>
            <a:ext cx="530352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A1A1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고령 인구 1,000만 (20.5%). 시니어 케어 시장 12.4조. CAGR +14%.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457200" y="5074920"/>
            <a:ext cx="1645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spc="400" kern="0" dirty="0">
                <a:solidFill>
                  <a:srgbClr val="722F37"/>
                </a:solidFill>
                <a:latin typeface="Garamond" pitchFamily="34" charset="0"/>
                <a:ea typeface="Garamond" pitchFamily="34" charset="-122"/>
                <a:cs typeface="Garamond" pitchFamily="34" charset="-120"/>
              </a:rPr>
              <a:t>MOAT</a:t>
            </a:r>
            <a:endParaRPr lang="en-US" sz="1000" dirty="0"/>
          </a:p>
        </p:txBody>
      </p:sp>
      <p:sp>
        <p:nvSpPr>
          <p:cNvPr id="25" name="Shape 23"/>
          <p:cNvSpPr/>
          <p:nvPr/>
        </p:nvSpPr>
        <p:spPr>
          <a:xfrm>
            <a:off x="457200" y="5367528"/>
            <a:ext cx="5303520" cy="0"/>
          </a:xfrm>
          <a:prstGeom prst="line">
            <a:avLst/>
          </a:prstGeom>
          <a:noFill/>
          <a:ln w="6350">
            <a:solidFill>
              <a:srgbClr val="D6CFC2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457200" y="5440680"/>
            <a:ext cx="530352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A1A1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낙상 감지 정확도 97.2%. 의사 자문 12명. 정부 인증 4종.</a:t>
            </a:r>
            <a:endParaRPr lang="en-US" sz="1100" dirty="0"/>
          </a:p>
        </p:txBody>
      </p:sp>
      <p:sp>
        <p:nvSpPr>
          <p:cNvPr id="27" name="Text 25"/>
          <p:cNvSpPr/>
          <p:nvPr/>
        </p:nvSpPr>
        <p:spPr>
          <a:xfrm>
            <a:off x="6217920" y="5074920"/>
            <a:ext cx="1645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spc="400" kern="0" dirty="0">
                <a:solidFill>
                  <a:srgbClr val="722F37"/>
                </a:solidFill>
                <a:latin typeface="Garamond" pitchFamily="34" charset="0"/>
                <a:ea typeface="Garamond" pitchFamily="34" charset="-122"/>
                <a:cs typeface="Garamond" pitchFamily="34" charset="-120"/>
              </a:rPr>
              <a:t>TEAM</a:t>
            </a:r>
            <a:endParaRPr lang="en-US" sz="1000" dirty="0"/>
          </a:p>
        </p:txBody>
      </p:sp>
      <p:sp>
        <p:nvSpPr>
          <p:cNvPr id="28" name="Shape 26"/>
          <p:cNvSpPr/>
          <p:nvPr/>
        </p:nvSpPr>
        <p:spPr>
          <a:xfrm>
            <a:off x="6217920" y="5367528"/>
            <a:ext cx="5303520" cy="0"/>
          </a:xfrm>
          <a:prstGeom prst="line">
            <a:avLst/>
          </a:prstGeom>
          <a:noFill/>
          <a:ln w="6350">
            <a:solidFill>
              <a:srgbClr val="D6CFC2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6217920" y="5440680"/>
            <a:ext cx="530352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A1A1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삼성서울병원 노인의학 7년 + 네이버 AI 6년 + 스타트업 PM 5년.</a:t>
            </a:r>
            <a:endParaRPr lang="en-US" sz="11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8F4E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1371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i="1" dirty="0">
                <a:solidFill>
                  <a:srgbClr val="722F37"/>
                </a:solidFill>
                <a:latin typeface="Garamond" pitchFamily="34" charset="0"/>
                <a:ea typeface="Garamond" pitchFamily="34" charset="-122"/>
                <a:cs typeface="Garamond" pitchFamily="34" charset="-120"/>
              </a:rPr>
              <a:t>02</a:t>
            </a:r>
            <a:endParaRPr lang="en-US" sz="1200" dirty="0"/>
          </a:p>
        </p:txBody>
      </p:sp>
      <p:sp>
        <p:nvSpPr>
          <p:cNvPr id="3" name="Shape 1"/>
          <p:cNvSpPr/>
          <p:nvPr/>
        </p:nvSpPr>
        <p:spPr>
          <a:xfrm>
            <a:off x="1691640" y="502920"/>
            <a:ext cx="365760" cy="0"/>
          </a:xfrm>
          <a:prstGeom prst="line">
            <a:avLst/>
          </a:prstGeom>
          <a:noFill/>
          <a:ln w="8890">
            <a:solidFill>
              <a:srgbClr val="722F37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286000" y="36576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i="1" spc="400" kern="0" dirty="0">
                <a:solidFill>
                  <a:srgbClr val="1F2937"/>
                </a:solidFill>
                <a:latin typeface="Garamond" pitchFamily="34" charset="0"/>
                <a:ea typeface="Garamond" pitchFamily="34" charset="-122"/>
                <a:cs typeface="Garamond" pitchFamily="34" charset="-120"/>
              </a:rPr>
              <a:t>PROBLEM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10058400" y="365760"/>
            <a:ext cx="1645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i="1" dirty="0">
                <a:solidFill>
                  <a:srgbClr val="6B6B6B"/>
                </a:solidFill>
                <a:latin typeface="Garamond" pitchFamily="34" charset="0"/>
                <a:ea typeface="Garamond" pitchFamily="34" charset="-122"/>
                <a:cs typeface="Garamond" pitchFamily="34" charset="-120"/>
              </a:rPr>
              <a:t>p.03 / 18</a:t>
            </a:r>
            <a:endParaRPr lang="en-US" sz="1000" dirty="0"/>
          </a:p>
        </p:txBody>
      </p:sp>
      <p:sp>
        <p:nvSpPr>
          <p:cNvPr id="6" name="Shape 4"/>
          <p:cNvSpPr/>
          <p:nvPr/>
        </p:nvSpPr>
        <p:spPr>
          <a:xfrm>
            <a:off x="457200" y="777240"/>
            <a:ext cx="11247120" cy="0"/>
          </a:xfrm>
          <a:prstGeom prst="line">
            <a:avLst/>
          </a:prstGeom>
          <a:noFill/>
          <a:ln w="8890">
            <a:solidFill>
              <a:srgbClr val="722F37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57200" y="1005840"/>
            <a:ext cx="10972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722F3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부모는 멀리, 자녀는 매일 걱정.</a:t>
            </a:r>
            <a:endParaRPr lang="en-US" sz="3200" dirty="0"/>
          </a:p>
        </p:txBody>
      </p:sp>
      <p:sp>
        <p:nvSpPr>
          <p:cNvPr id="8" name="Text 6"/>
          <p:cNvSpPr/>
          <p:nvPr/>
        </p:nvSpPr>
        <p:spPr>
          <a:xfrm>
            <a:off x="457200" y="1783080"/>
            <a:ext cx="10972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i="1" dirty="0">
                <a:solidFill>
                  <a:srgbClr val="1A1A1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독거 노인 80%가 약·식사·낙상을 혼자 관리한다.</a:t>
            </a:r>
            <a:endParaRPr lang="en-US" sz="1800" dirty="0"/>
          </a:p>
        </p:txBody>
      </p:sp>
      <p:sp>
        <p:nvSpPr>
          <p:cNvPr id="9" name="Shape 7"/>
          <p:cNvSpPr/>
          <p:nvPr/>
        </p:nvSpPr>
        <p:spPr>
          <a:xfrm>
            <a:off x="457200" y="2423160"/>
            <a:ext cx="11247120" cy="0"/>
          </a:xfrm>
          <a:prstGeom prst="line">
            <a:avLst/>
          </a:prstGeom>
          <a:noFill/>
          <a:ln w="12700">
            <a:solidFill>
              <a:srgbClr val="722F37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457200" y="2743200"/>
            <a:ext cx="5394960" cy="1554480"/>
          </a:xfrm>
          <a:prstGeom prst="rect">
            <a:avLst/>
          </a:prstGeom>
          <a:solidFill>
            <a:srgbClr val="FFFFFF"/>
          </a:solidFill>
          <a:ln w="6350">
            <a:solidFill>
              <a:srgbClr val="D6CFC2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731520" y="2834640"/>
            <a:ext cx="22860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722F37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80%</a:t>
            </a:r>
            <a:endParaRPr lang="en-US" sz="3600" dirty="0"/>
          </a:p>
        </p:txBody>
      </p:sp>
      <p:sp>
        <p:nvSpPr>
          <p:cNvPr id="12" name="Text 10"/>
          <p:cNvSpPr/>
          <p:nvPr/>
        </p:nvSpPr>
        <p:spPr>
          <a:xfrm>
            <a:off x="3200400" y="2880360"/>
            <a:ext cx="24688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722F3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독거 노인 비중</a:t>
            </a:r>
            <a:endParaRPr lang="en-US" sz="1400" dirty="0"/>
          </a:p>
        </p:txBody>
      </p:sp>
      <p:sp>
        <p:nvSpPr>
          <p:cNvPr id="13" name="Shape 11"/>
          <p:cNvSpPr/>
          <p:nvPr/>
        </p:nvSpPr>
        <p:spPr>
          <a:xfrm>
            <a:off x="3200400" y="3291840"/>
            <a:ext cx="2286000" cy="0"/>
          </a:xfrm>
          <a:prstGeom prst="line">
            <a:avLst/>
          </a:prstGeom>
          <a:noFill/>
          <a:ln w="6350">
            <a:solidFill>
              <a:srgbClr val="D6CFC2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3200400" y="3383280"/>
            <a:ext cx="246888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6B6B6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65세+ 독거 인구 175만 (2025) — 매년 +6%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6217920" y="2743200"/>
            <a:ext cx="5394960" cy="1554480"/>
          </a:xfrm>
          <a:prstGeom prst="rect">
            <a:avLst/>
          </a:prstGeom>
          <a:solidFill>
            <a:srgbClr val="FFFFFF"/>
          </a:solidFill>
          <a:ln w="6350">
            <a:solidFill>
              <a:srgbClr val="D6CFC2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6492240" y="2834640"/>
            <a:ext cx="22860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722F37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67%</a:t>
            </a:r>
            <a:endParaRPr lang="en-US" sz="3600" dirty="0"/>
          </a:p>
        </p:txBody>
      </p:sp>
      <p:sp>
        <p:nvSpPr>
          <p:cNvPr id="17" name="Text 15"/>
          <p:cNvSpPr/>
          <p:nvPr/>
        </p:nvSpPr>
        <p:spPr>
          <a:xfrm>
            <a:off x="8961120" y="2880360"/>
            <a:ext cx="24688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722F3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복약 누락 경험</a:t>
            </a:r>
            <a:endParaRPr lang="en-US" sz="1400" dirty="0"/>
          </a:p>
        </p:txBody>
      </p:sp>
      <p:sp>
        <p:nvSpPr>
          <p:cNvPr id="18" name="Shape 16"/>
          <p:cNvSpPr/>
          <p:nvPr/>
        </p:nvSpPr>
        <p:spPr>
          <a:xfrm>
            <a:off x="8961120" y="3291840"/>
            <a:ext cx="2286000" cy="0"/>
          </a:xfrm>
          <a:prstGeom prst="line">
            <a:avLst/>
          </a:prstGeom>
          <a:noFill/>
          <a:ln w="6350">
            <a:solidFill>
              <a:srgbClr val="D6CFC2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8961120" y="3383280"/>
            <a:ext cx="246888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6B6B6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약 3종 이상 복용 / 누락 시 입원 위험 4배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457200" y="4480560"/>
            <a:ext cx="5394960" cy="1554480"/>
          </a:xfrm>
          <a:prstGeom prst="rect">
            <a:avLst/>
          </a:prstGeom>
          <a:solidFill>
            <a:srgbClr val="FFFFFF"/>
          </a:solidFill>
          <a:ln w="6350">
            <a:solidFill>
              <a:srgbClr val="D6CFC2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731520" y="4572000"/>
            <a:ext cx="22860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722F37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10만 명당 32건</a:t>
            </a:r>
            <a:endParaRPr lang="en-US" sz="3600" dirty="0"/>
          </a:p>
        </p:txBody>
      </p:sp>
      <p:sp>
        <p:nvSpPr>
          <p:cNvPr id="22" name="Text 20"/>
          <p:cNvSpPr/>
          <p:nvPr/>
        </p:nvSpPr>
        <p:spPr>
          <a:xfrm>
            <a:off x="3200400" y="4617720"/>
            <a:ext cx="24688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722F3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65세+ 낙상 사망</a:t>
            </a:r>
            <a:endParaRPr lang="en-US" sz="1400" dirty="0"/>
          </a:p>
        </p:txBody>
      </p:sp>
      <p:sp>
        <p:nvSpPr>
          <p:cNvPr id="23" name="Shape 21"/>
          <p:cNvSpPr/>
          <p:nvPr/>
        </p:nvSpPr>
        <p:spPr>
          <a:xfrm>
            <a:off x="3200400" y="5029200"/>
            <a:ext cx="2286000" cy="0"/>
          </a:xfrm>
          <a:prstGeom prst="line">
            <a:avLst/>
          </a:prstGeom>
          <a:noFill/>
          <a:ln w="6350">
            <a:solidFill>
              <a:srgbClr val="D6CFC2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3200400" y="5120640"/>
            <a:ext cx="246888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6B6B6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교통사고 사망의 4배 (통계청)</a:t>
            </a:r>
            <a:endParaRPr lang="en-US" sz="1000" dirty="0"/>
          </a:p>
        </p:txBody>
      </p:sp>
      <p:sp>
        <p:nvSpPr>
          <p:cNvPr id="25" name="Shape 23"/>
          <p:cNvSpPr/>
          <p:nvPr/>
        </p:nvSpPr>
        <p:spPr>
          <a:xfrm>
            <a:off x="6217920" y="4480560"/>
            <a:ext cx="5394960" cy="1554480"/>
          </a:xfrm>
          <a:prstGeom prst="rect">
            <a:avLst/>
          </a:prstGeom>
          <a:solidFill>
            <a:srgbClr val="FFFFFF"/>
          </a:solidFill>
          <a:ln w="6350">
            <a:solidFill>
              <a:srgbClr val="D6CFC2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6492240" y="4572000"/>
            <a:ext cx="22860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722F37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월 3.2회</a:t>
            </a:r>
            <a:endParaRPr lang="en-US" sz="3600" dirty="0"/>
          </a:p>
        </p:txBody>
      </p:sp>
      <p:sp>
        <p:nvSpPr>
          <p:cNvPr id="27" name="Text 25"/>
          <p:cNvSpPr/>
          <p:nvPr/>
        </p:nvSpPr>
        <p:spPr>
          <a:xfrm>
            <a:off x="8961120" y="4617720"/>
            <a:ext cx="24688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722F3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보호자 안부 통화</a:t>
            </a:r>
            <a:endParaRPr lang="en-US" sz="1400" dirty="0"/>
          </a:p>
        </p:txBody>
      </p:sp>
      <p:sp>
        <p:nvSpPr>
          <p:cNvPr id="28" name="Shape 26"/>
          <p:cNvSpPr/>
          <p:nvPr/>
        </p:nvSpPr>
        <p:spPr>
          <a:xfrm>
            <a:off x="8961120" y="5029200"/>
            <a:ext cx="2286000" cy="0"/>
          </a:xfrm>
          <a:prstGeom prst="line">
            <a:avLst/>
          </a:prstGeom>
          <a:noFill/>
          <a:ln w="6350">
            <a:solidFill>
              <a:srgbClr val="D6CFC2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8961120" y="5120640"/>
            <a:ext cx="246888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6B6B6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평균 22분 / 그러나 정확한 상태 확인 어려움</a:t>
            </a:r>
            <a:endParaRPr lang="en-US" sz="1000" dirty="0"/>
          </a:p>
        </p:txBody>
      </p:sp>
      <p:sp>
        <p:nvSpPr>
          <p:cNvPr id="30" name="Text 28"/>
          <p:cNvSpPr/>
          <p:nvPr/>
        </p:nvSpPr>
        <p:spPr>
          <a:xfrm>
            <a:off x="457200" y="6355080"/>
            <a:ext cx="10972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6B6B6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자료: 통계청 / 보건복지부 노인실태조사 / 한국보건사회연구원 2025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8F4E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1371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i="1" dirty="0">
                <a:solidFill>
                  <a:srgbClr val="722F37"/>
                </a:solidFill>
                <a:latin typeface="Garamond" pitchFamily="34" charset="0"/>
                <a:ea typeface="Garamond" pitchFamily="34" charset="-122"/>
                <a:cs typeface="Garamond" pitchFamily="34" charset="-120"/>
              </a:rPr>
              <a:t>03</a:t>
            </a:r>
            <a:endParaRPr lang="en-US" sz="1200" dirty="0"/>
          </a:p>
        </p:txBody>
      </p:sp>
      <p:sp>
        <p:nvSpPr>
          <p:cNvPr id="3" name="Shape 1"/>
          <p:cNvSpPr/>
          <p:nvPr/>
        </p:nvSpPr>
        <p:spPr>
          <a:xfrm>
            <a:off x="1691640" y="502920"/>
            <a:ext cx="365760" cy="0"/>
          </a:xfrm>
          <a:prstGeom prst="line">
            <a:avLst/>
          </a:prstGeom>
          <a:noFill/>
          <a:ln w="8890">
            <a:solidFill>
              <a:srgbClr val="722F37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286000" y="36576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i="1" spc="400" kern="0" dirty="0">
                <a:solidFill>
                  <a:srgbClr val="1F2937"/>
                </a:solidFill>
                <a:latin typeface="Garamond" pitchFamily="34" charset="0"/>
                <a:ea typeface="Garamond" pitchFamily="34" charset="-122"/>
                <a:cs typeface="Garamond" pitchFamily="34" charset="-120"/>
              </a:rPr>
              <a:t>SOLUTION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10058400" y="365760"/>
            <a:ext cx="1645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i="1" dirty="0">
                <a:solidFill>
                  <a:srgbClr val="6B6B6B"/>
                </a:solidFill>
                <a:latin typeface="Garamond" pitchFamily="34" charset="0"/>
                <a:ea typeface="Garamond" pitchFamily="34" charset="-122"/>
                <a:cs typeface="Garamond" pitchFamily="34" charset="-120"/>
              </a:rPr>
              <a:t>p.04 / 18</a:t>
            </a:r>
            <a:endParaRPr lang="en-US" sz="1000" dirty="0"/>
          </a:p>
        </p:txBody>
      </p:sp>
      <p:sp>
        <p:nvSpPr>
          <p:cNvPr id="6" name="Shape 4"/>
          <p:cNvSpPr/>
          <p:nvPr/>
        </p:nvSpPr>
        <p:spPr>
          <a:xfrm>
            <a:off x="457200" y="777240"/>
            <a:ext cx="11247120" cy="0"/>
          </a:xfrm>
          <a:prstGeom prst="line">
            <a:avLst/>
          </a:prstGeom>
          <a:noFill/>
          <a:ln w="8890">
            <a:solidFill>
              <a:srgbClr val="722F37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57200" y="1005840"/>
            <a:ext cx="109728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5600" i="1" dirty="0">
                <a:solidFill>
                  <a:srgbClr val="722F37"/>
                </a:solidFill>
                <a:latin typeface="Palatino" pitchFamily="34" charset="0"/>
                <a:ea typeface="Palatino" pitchFamily="34" charset="-122"/>
                <a:cs typeface="Palatino" pitchFamily="34" charset="-120"/>
              </a:rPr>
              <a:t>Solution.</a:t>
            </a:r>
            <a:endParaRPr lang="en-US" sz="5600" dirty="0"/>
          </a:p>
        </p:txBody>
      </p:sp>
      <p:sp>
        <p:nvSpPr>
          <p:cNvPr id="8" name="Text 6"/>
          <p:cNvSpPr/>
          <p:nvPr/>
        </p:nvSpPr>
        <p:spPr>
          <a:xfrm>
            <a:off x="457200" y="1920240"/>
            <a:ext cx="10972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A1A1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AI 시니어 케어 플랫폼 — 4가지 모듈로 일상 풀 케어.</a:t>
            </a:r>
            <a:endParaRPr lang="en-US" sz="1800" dirty="0"/>
          </a:p>
        </p:txBody>
      </p:sp>
      <p:sp>
        <p:nvSpPr>
          <p:cNvPr id="9" name="Shape 7"/>
          <p:cNvSpPr/>
          <p:nvPr/>
        </p:nvSpPr>
        <p:spPr>
          <a:xfrm>
            <a:off x="457200" y="2468880"/>
            <a:ext cx="11247120" cy="0"/>
          </a:xfrm>
          <a:prstGeom prst="line">
            <a:avLst/>
          </a:prstGeom>
          <a:noFill/>
          <a:ln w="12700">
            <a:solidFill>
              <a:srgbClr val="5B7553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457200" y="2788920"/>
            <a:ext cx="5394960" cy="1508760"/>
          </a:xfrm>
          <a:prstGeom prst="rect">
            <a:avLst/>
          </a:prstGeom>
          <a:solidFill>
            <a:srgbClr val="FFFFFF"/>
          </a:solidFill>
          <a:ln w="6350">
            <a:solidFill>
              <a:srgbClr val="D6CFC2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457200" y="2788920"/>
            <a:ext cx="365760" cy="1508760"/>
          </a:xfrm>
          <a:prstGeom prst="rect">
            <a:avLst/>
          </a:prstGeom>
          <a:solidFill>
            <a:srgbClr val="722F37"/>
          </a:solidFill>
          <a:ln/>
        </p:spPr>
      </p:sp>
      <p:sp>
        <p:nvSpPr>
          <p:cNvPr id="12" name="Text 10"/>
          <p:cNvSpPr/>
          <p:nvPr/>
        </p:nvSpPr>
        <p:spPr>
          <a:xfrm>
            <a:off x="1005840" y="2880360"/>
            <a:ext cx="640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i="1" dirty="0">
                <a:solidFill>
                  <a:srgbClr val="722F37"/>
                </a:solidFill>
                <a:latin typeface="Garamond" pitchFamily="34" charset="0"/>
                <a:ea typeface="Garamond" pitchFamily="34" charset="-122"/>
                <a:cs typeface="Garamond" pitchFamily="34" charset="-120"/>
              </a:rPr>
              <a:t>01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1005840" y="315468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spc="400" kern="0" dirty="0">
                <a:solidFill>
                  <a:srgbClr val="5B7553"/>
                </a:solidFill>
                <a:latin typeface="Garamond" pitchFamily="34" charset="0"/>
                <a:ea typeface="Garamond" pitchFamily="34" charset="-122"/>
                <a:cs typeface="Garamond" pitchFamily="34" charset="-120"/>
              </a:rPr>
              <a:t>MEDICATION</a:t>
            </a:r>
            <a:endParaRPr lang="en-US" sz="900" dirty="0"/>
          </a:p>
        </p:txBody>
      </p:sp>
      <p:sp>
        <p:nvSpPr>
          <p:cNvPr id="14" name="Text 12"/>
          <p:cNvSpPr/>
          <p:nvPr/>
        </p:nvSpPr>
        <p:spPr>
          <a:xfrm>
            <a:off x="1005840" y="3429000"/>
            <a:ext cx="3657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A1A1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복약 관리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1005840" y="3794760"/>
            <a:ext cx="47548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6B6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AI 음성 알림 + 복용 확인 + 자녀 알림 / 누락 시 즉시 보호자 SMS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6217920" y="2788920"/>
            <a:ext cx="5394960" cy="1508760"/>
          </a:xfrm>
          <a:prstGeom prst="rect">
            <a:avLst/>
          </a:prstGeom>
          <a:solidFill>
            <a:srgbClr val="FFFFFF"/>
          </a:solidFill>
          <a:ln w="6350">
            <a:solidFill>
              <a:srgbClr val="D6CFC2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6217920" y="2788920"/>
            <a:ext cx="365760" cy="1508760"/>
          </a:xfrm>
          <a:prstGeom prst="rect">
            <a:avLst/>
          </a:prstGeom>
          <a:solidFill>
            <a:srgbClr val="722F37"/>
          </a:solidFill>
          <a:ln/>
        </p:spPr>
      </p:sp>
      <p:sp>
        <p:nvSpPr>
          <p:cNvPr id="18" name="Text 16"/>
          <p:cNvSpPr/>
          <p:nvPr/>
        </p:nvSpPr>
        <p:spPr>
          <a:xfrm>
            <a:off x="6766560" y="2880360"/>
            <a:ext cx="640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i="1" dirty="0">
                <a:solidFill>
                  <a:srgbClr val="722F37"/>
                </a:solidFill>
                <a:latin typeface="Garamond" pitchFamily="34" charset="0"/>
                <a:ea typeface="Garamond" pitchFamily="34" charset="-122"/>
                <a:cs typeface="Garamond" pitchFamily="34" charset="-120"/>
              </a:rPr>
              <a:t>02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6766560" y="315468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spc="400" kern="0" dirty="0">
                <a:solidFill>
                  <a:srgbClr val="5B7553"/>
                </a:solidFill>
                <a:latin typeface="Garamond" pitchFamily="34" charset="0"/>
                <a:ea typeface="Garamond" pitchFamily="34" charset="-122"/>
                <a:cs typeface="Garamond" pitchFamily="34" charset="-120"/>
              </a:rPr>
              <a:t>FALL DETECT</a:t>
            </a:r>
            <a:endParaRPr lang="en-US" sz="900" dirty="0"/>
          </a:p>
        </p:txBody>
      </p:sp>
      <p:sp>
        <p:nvSpPr>
          <p:cNvPr id="20" name="Text 18"/>
          <p:cNvSpPr/>
          <p:nvPr/>
        </p:nvSpPr>
        <p:spPr>
          <a:xfrm>
            <a:off x="6766560" y="3429000"/>
            <a:ext cx="3657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A1A1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낙상 감지</a:t>
            </a:r>
            <a:endParaRPr lang="en-US" sz="1600" dirty="0"/>
          </a:p>
        </p:txBody>
      </p:sp>
      <p:sp>
        <p:nvSpPr>
          <p:cNvPr id="21" name="Text 19"/>
          <p:cNvSpPr/>
          <p:nvPr/>
        </p:nvSpPr>
        <p:spPr>
          <a:xfrm>
            <a:off x="6766560" y="3794760"/>
            <a:ext cx="47548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6B6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센서 + AI 97.2% 정확도 / 119 자동 신고 + 응급 연락</a:t>
            </a:r>
            <a:endParaRPr lang="en-US" sz="1000" dirty="0"/>
          </a:p>
        </p:txBody>
      </p:sp>
      <p:sp>
        <p:nvSpPr>
          <p:cNvPr id="22" name="Shape 20"/>
          <p:cNvSpPr/>
          <p:nvPr/>
        </p:nvSpPr>
        <p:spPr>
          <a:xfrm>
            <a:off x="457200" y="4480560"/>
            <a:ext cx="5394960" cy="1508760"/>
          </a:xfrm>
          <a:prstGeom prst="rect">
            <a:avLst/>
          </a:prstGeom>
          <a:solidFill>
            <a:srgbClr val="FFFFFF"/>
          </a:solidFill>
          <a:ln w="6350">
            <a:solidFill>
              <a:srgbClr val="D6CFC2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457200" y="4480560"/>
            <a:ext cx="365760" cy="1508760"/>
          </a:xfrm>
          <a:prstGeom prst="rect">
            <a:avLst/>
          </a:prstGeom>
          <a:solidFill>
            <a:srgbClr val="722F37"/>
          </a:solidFill>
          <a:ln/>
        </p:spPr>
      </p:sp>
      <p:sp>
        <p:nvSpPr>
          <p:cNvPr id="24" name="Text 22"/>
          <p:cNvSpPr/>
          <p:nvPr/>
        </p:nvSpPr>
        <p:spPr>
          <a:xfrm>
            <a:off x="1005840" y="4572000"/>
            <a:ext cx="640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i="1" dirty="0">
                <a:solidFill>
                  <a:srgbClr val="722F37"/>
                </a:solidFill>
                <a:latin typeface="Garamond" pitchFamily="34" charset="0"/>
                <a:ea typeface="Garamond" pitchFamily="34" charset="-122"/>
                <a:cs typeface="Garamond" pitchFamily="34" charset="-120"/>
              </a:rPr>
              <a:t>03</a:t>
            </a:r>
            <a:endParaRPr lang="en-US" sz="1400" dirty="0"/>
          </a:p>
        </p:txBody>
      </p:sp>
      <p:sp>
        <p:nvSpPr>
          <p:cNvPr id="25" name="Text 23"/>
          <p:cNvSpPr/>
          <p:nvPr/>
        </p:nvSpPr>
        <p:spPr>
          <a:xfrm>
            <a:off x="1005840" y="48463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spc="400" kern="0" dirty="0">
                <a:solidFill>
                  <a:srgbClr val="5B7553"/>
                </a:solidFill>
                <a:latin typeface="Garamond" pitchFamily="34" charset="0"/>
                <a:ea typeface="Garamond" pitchFamily="34" charset="-122"/>
                <a:cs typeface="Garamond" pitchFamily="34" charset="-120"/>
              </a:rPr>
              <a:t>DAILY CHECK</a:t>
            </a:r>
            <a:endParaRPr lang="en-US" sz="900" dirty="0"/>
          </a:p>
        </p:txBody>
      </p:sp>
      <p:sp>
        <p:nvSpPr>
          <p:cNvPr id="26" name="Text 24"/>
          <p:cNvSpPr/>
          <p:nvPr/>
        </p:nvSpPr>
        <p:spPr>
          <a:xfrm>
            <a:off x="1005840" y="5120640"/>
            <a:ext cx="3657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A1A1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안부 확인</a:t>
            </a:r>
            <a:endParaRPr lang="en-US" sz="1600" dirty="0"/>
          </a:p>
        </p:txBody>
      </p:sp>
      <p:sp>
        <p:nvSpPr>
          <p:cNvPr id="27" name="Text 25"/>
          <p:cNvSpPr/>
          <p:nvPr/>
        </p:nvSpPr>
        <p:spPr>
          <a:xfrm>
            <a:off x="1005840" y="5486400"/>
            <a:ext cx="47548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6B6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매일 음성 안부 + 활동 패턴 분석 / 이상 시 보호자 알림</a:t>
            </a:r>
            <a:endParaRPr lang="en-US" sz="1000" dirty="0"/>
          </a:p>
        </p:txBody>
      </p:sp>
      <p:sp>
        <p:nvSpPr>
          <p:cNvPr id="28" name="Shape 26"/>
          <p:cNvSpPr/>
          <p:nvPr/>
        </p:nvSpPr>
        <p:spPr>
          <a:xfrm>
            <a:off x="6217920" y="4480560"/>
            <a:ext cx="5394960" cy="1508760"/>
          </a:xfrm>
          <a:prstGeom prst="rect">
            <a:avLst/>
          </a:prstGeom>
          <a:solidFill>
            <a:srgbClr val="FFFFFF"/>
          </a:solidFill>
          <a:ln w="6350">
            <a:solidFill>
              <a:srgbClr val="D6CFC2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6217920" y="4480560"/>
            <a:ext cx="365760" cy="1508760"/>
          </a:xfrm>
          <a:prstGeom prst="rect">
            <a:avLst/>
          </a:prstGeom>
          <a:solidFill>
            <a:srgbClr val="722F37"/>
          </a:solidFill>
          <a:ln/>
        </p:spPr>
      </p:sp>
      <p:sp>
        <p:nvSpPr>
          <p:cNvPr id="30" name="Text 28"/>
          <p:cNvSpPr/>
          <p:nvPr/>
        </p:nvSpPr>
        <p:spPr>
          <a:xfrm>
            <a:off x="6766560" y="4572000"/>
            <a:ext cx="640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i="1" dirty="0">
                <a:solidFill>
                  <a:srgbClr val="722F37"/>
                </a:solidFill>
                <a:latin typeface="Garamond" pitchFamily="34" charset="0"/>
                <a:ea typeface="Garamond" pitchFamily="34" charset="-122"/>
                <a:cs typeface="Garamond" pitchFamily="34" charset="-120"/>
              </a:rPr>
              <a:t>04</a:t>
            </a:r>
            <a:endParaRPr lang="en-US" sz="1400" dirty="0"/>
          </a:p>
        </p:txBody>
      </p:sp>
      <p:sp>
        <p:nvSpPr>
          <p:cNvPr id="31" name="Text 29"/>
          <p:cNvSpPr/>
          <p:nvPr/>
        </p:nvSpPr>
        <p:spPr>
          <a:xfrm>
            <a:off x="6766560" y="48463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spc="400" kern="0" dirty="0">
                <a:solidFill>
                  <a:srgbClr val="5B7553"/>
                </a:solidFill>
                <a:latin typeface="Garamond" pitchFamily="34" charset="0"/>
                <a:ea typeface="Garamond" pitchFamily="34" charset="-122"/>
                <a:cs typeface="Garamond" pitchFamily="34" charset="-120"/>
              </a:rPr>
              <a:t>DOCTOR CONNECT</a:t>
            </a:r>
            <a:endParaRPr lang="en-US" sz="900" dirty="0"/>
          </a:p>
        </p:txBody>
      </p:sp>
      <p:sp>
        <p:nvSpPr>
          <p:cNvPr id="32" name="Text 30"/>
          <p:cNvSpPr/>
          <p:nvPr/>
        </p:nvSpPr>
        <p:spPr>
          <a:xfrm>
            <a:off x="6766560" y="5120640"/>
            <a:ext cx="3657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A1A1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의사 연결</a:t>
            </a:r>
            <a:endParaRPr lang="en-US" sz="1600" dirty="0"/>
          </a:p>
        </p:txBody>
      </p:sp>
      <p:sp>
        <p:nvSpPr>
          <p:cNvPr id="33" name="Text 31"/>
          <p:cNvSpPr/>
          <p:nvPr/>
        </p:nvSpPr>
        <p:spPr>
          <a:xfrm>
            <a:off x="6766560" y="5486400"/>
            <a:ext cx="47548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6B6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비대면 진료 + 처방 조정 / 12명 자문 의사 풀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8F4E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1371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i="1" dirty="0">
                <a:solidFill>
                  <a:srgbClr val="722F37"/>
                </a:solidFill>
                <a:latin typeface="Garamond" pitchFamily="34" charset="0"/>
                <a:ea typeface="Garamond" pitchFamily="34" charset="-122"/>
                <a:cs typeface="Garamond" pitchFamily="34" charset="-120"/>
              </a:rPr>
              <a:t>04</a:t>
            </a:r>
            <a:endParaRPr lang="en-US" sz="1200" dirty="0"/>
          </a:p>
        </p:txBody>
      </p:sp>
      <p:sp>
        <p:nvSpPr>
          <p:cNvPr id="3" name="Shape 1"/>
          <p:cNvSpPr/>
          <p:nvPr/>
        </p:nvSpPr>
        <p:spPr>
          <a:xfrm>
            <a:off x="1691640" y="502920"/>
            <a:ext cx="365760" cy="0"/>
          </a:xfrm>
          <a:prstGeom prst="line">
            <a:avLst/>
          </a:prstGeom>
          <a:noFill/>
          <a:ln w="8890">
            <a:solidFill>
              <a:srgbClr val="722F37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286000" y="36576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i="1" spc="400" kern="0" dirty="0">
                <a:solidFill>
                  <a:srgbClr val="1F2937"/>
                </a:solidFill>
                <a:latin typeface="Garamond" pitchFamily="34" charset="0"/>
                <a:ea typeface="Garamond" pitchFamily="34" charset="-122"/>
                <a:cs typeface="Garamond" pitchFamily="34" charset="-120"/>
              </a:rPr>
              <a:t>TRACTION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10058400" y="365760"/>
            <a:ext cx="1645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i="1" dirty="0">
                <a:solidFill>
                  <a:srgbClr val="6B6B6B"/>
                </a:solidFill>
                <a:latin typeface="Garamond" pitchFamily="34" charset="0"/>
                <a:ea typeface="Garamond" pitchFamily="34" charset="-122"/>
                <a:cs typeface="Garamond" pitchFamily="34" charset="-120"/>
              </a:rPr>
              <a:t>p.05 / 18</a:t>
            </a:r>
            <a:endParaRPr lang="en-US" sz="1000" dirty="0"/>
          </a:p>
        </p:txBody>
      </p:sp>
      <p:sp>
        <p:nvSpPr>
          <p:cNvPr id="6" name="Shape 4"/>
          <p:cNvSpPr/>
          <p:nvPr/>
        </p:nvSpPr>
        <p:spPr>
          <a:xfrm>
            <a:off x="457200" y="777240"/>
            <a:ext cx="11247120" cy="0"/>
          </a:xfrm>
          <a:prstGeom prst="line">
            <a:avLst/>
          </a:prstGeom>
          <a:noFill/>
          <a:ln w="8890">
            <a:solidFill>
              <a:srgbClr val="722F37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57200" y="1005840"/>
            <a:ext cx="109728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722F3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Traction. M0 → M+18 — 1,420 유료 가구.</a:t>
            </a:r>
            <a:endParaRPr lang="en-US" sz="2400" dirty="0"/>
          </a:p>
        </p:txBody>
      </p:sp>
      <p:graphicFrame>
        <p:nvGraphicFramePr>
          <p:cNvPr id="8" name="Chart 0" descr=""/>
          <p:cNvGraphicFramePr/>
          <p:nvPr/>
        </p:nvGraphicFramePr>
        <p:xfrm>
          <a:off x="457200" y="1783080"/>
          <a:ext cx="6858000" cy="438912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9" name="Text 6"/>
          <p:cNvSpPr/>
          <p:nvPr/>
        </p:nvSpPr>
        <p:spPr>
          <a:xfrm>
            <a:off x="7772400" y="1783080"/>
            <a:ext cx="3931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722F37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+18%</a:t>
            </a:r>
            <a:endParaRPr lang="en-US" sz="2800" dirty="0"/>
          </a:p>
        </p:txBody>
      </p:sp>
      <p:sp>
        <p:nvSpPr>
          <p:cNvPr id="10" name="Text 7"/>
          <p:cNvSpPr/>
          <p:nvPr/>
        </p:nvSpPr>
        <p:spPr>
          <a:xfrm>
            <a:off x="7772400" y="2240280"/>
            <a:ext cx="3931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A1A1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M-on-M Growth</a:t>
            </a:r>
            <a:endParaRPr lang="en-US" sz="1200" dirty="0"/>
          </a:p>
        </p:txBody>
      </p:sp>
      <p:sp>
        <p:nvSpPr>
          <p:cNvPr id="11" name="Text 8"/>
          <p:cNvSpPr/>
          <p:nvPr/>
        </p:nvSpPr>
        <p:spPr>
          <a:xfrm>
            <a:off x="7772400" y="2514600"/>
            <a:ext cx="3931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6B6B6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지난 12개월 평균</a:t>
            </a:r>
            <a:endParaRPr lang="en-US" sz="950" dirty="0"/>
          </a:p>
        </p:txBody>
      </p:sp>
      <p:sp>
        <p:nvSpPr>
          <p:cNvPr id="12" name="Shape 9"/>
          <p:cNvSpPr/>
          <p:nvPr/>
        </p:nvSpPr>
        <p:spPr>
          <a:xfrm>
            <a:off x="7772400" y="2788920"/>
            <a:ext cx="3931920" cy="0"/>
          </a:xfrm>
          <a:prstGeom prst="line">
            <a:avLst/>
          </a:prstGeom>
          <a:noFill/>
          <a:ln w="6350">
            <a:solidFill>
              <a:srgbClr val="D6CFC2"/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7772400" y="2880360"/>
            <a:ext cx="3931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722F37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96%</a:t>
            </a:r>
            <a:endParaRPr lang="en-US" sz="2800" dirty="0"/>
          </a:p>
        </p:txBody>
      </p:sp>
      <p:sp>
        <p:nvSpPr>
          <p:cNvPr id="14" name="Text 11"/>
          <p:cNvSpPr/>
          <p:nvPr/>
        </p:nvSpPr>
        <p:spPr>
          <a:xfrm>
            <a:off x="7772400" y="3337560"/>
            <a:ext cx="3931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A1A1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보호자 만족도</a:t>
            </a:r>
            <a:endParaRPr lang="en-US" sz="1200" dirty="0"/>
          </a:p>
        </p:txBody>
      </p:sp>
      <p:sp>
        <p:nvSpPr>
          <p:cNvPr id="15" name="Text 12"/>
          <p:cNvSpPr/>
          <p:nvPr/>
        </p:nvSpPr>
        <p:spPr>
          <a:xfrm>
            <a:off x="7772400" y="3611880"/>
            <a:ext cx="3931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6B6B6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분기 NPS 측정 (n=420)</a:t>
            </a:r>
            <a:endParaRPr lang="en-US" sz="950" dirty="0"/>
          </a:p>
        </p:txBody>
      </p:sp>
      <p:sp>
        <p:nvSpPr>
          <p:cNvPr id="16" name="Shape 13"/>
          <p:cNvSpPr/>
          <p:nvPr/>
        </p:nvSpPr>
        <p:spPr>
          <a:xfrm>
            <a:off x="7772400" y="3886200"/>
            <a:ext cx="3931920" cy="0"/>
          </a:xfrm>
          <a:prstGeom prst="line">
            <a:avLst/>
          </a:prstGeom>
          <a:noFill/>
          <a:ln w="6350">
            <a:solidFill>
              <a:srgbClr val="D6CFC2"/>
            </a:solidFill>
            <a:prstDash val="solid"/>
          </a:ln>
        </p:spPr>
      </p:sp>
      <p:sp>
        <p:nvSpPr>
          <p:cNvPr id="17" name="Text 14"/>
          <p:cNvSpPr/>
          <p:nvPr/>
        </p:nvSpPr>
        <p:spPr>
          <a:xfrm>
            <a:off x="7772400" y="3977640"/>
            <a:ext cx="3931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722F37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124%</a:t>
            </a:r>
            <a:endParaRPr lang="en-US" sz="2800" dirty="0"/>
          </a:p>
        </p:txBody>
      </p:sp>
      <p:sp>
        <p:nvSpPr>
          <p:cNvPr id="18" name="Text 15"/>
          <p:cNvSpPr/>
          <p:nvPr/>
        </p:nvSpPr>
        <p:spPr>
          <a:xfrm>
            <a:off x="7772400" y="4434840"/>
            <a:ext cx="3931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A1A1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NRR</a:t>
            </a:r>
            <a:endParaRPr lang="en-US" sz="1200" dirty="0"/>
          </a:p>
        </p:txBody>
      </p:sp>
      <p:sp>
        <p:nvSpPr>
          <p:cNvPr id="19" name="Text 16"/>
          <p:cNvSpPr/>
          <p:nvPr/>
        </p:nvSpPr>
        <p:spPr>
          <a:xfrm>
            <a:off x="7772400" y="4709160"/>
            <a:ext cx="3931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6B6B6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Net Revenue Retention</a:t>
            </a:r>
            <a:endParaRPr lang="en-US" sz="950" dirty="0"/>
          </a:p>
        </p:txBody>
      </p:sp>
      <p:sp>
        <p:nvSpPr>
          <p:cNvPr id="20" name="Shape 17"/>
          <p:cNvSpPr/>
          <p:nvPr/>
        </p:nvSpPr>
        <p:spPr>
          <a:xfrm>
            <a:off x="7772400" y="4983480"/>
            <a:ext cx="3931920" cy="0"/>
          </a:xfrm>
          <a:prstGeom prst="line">
            <a:avLst/>
          </a:prstGeom>
          <a:noFill/>
          <a:ln w="6350">
            <a:solidFill>
              <a:srgbClr val="D6CFC2"/>
            </a:solidFill>
            <a:prstDash val="solid"/>
          </a:ln>
        </p:spPr>
      </p:sp>
      <p:sp>
        <p:nvSpPr>
          <p:cNvPr id="21" name="Text 18"/>
          <p:cNvSpPr/>
          <p:nvPr/>
        </p:nvSpPr>
        <p:spPr>
          <a:xfrm>
            <a:off x="7772400" y="5074920"/>
            <a:ext cx="3931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722F37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1.8%</a:t>
            </a:r>
            <a:endParaRPr lang="en-US" sz="2800" dirty="0"/>
          </a:p>
        </p:txBody>
      </p:sp>
      <p:sp>
        <p:nvSpPr>
          <p:cNvPr id="22" name="Text 19"/>
          <p:cNvSpPr/>
          <p:nvPr/>
        </p:nvSpPr>
        <p:spPr>
          <a:xfrm>
            <a:off x="7772400" y="5532120"/>
            <a:ext cx="3931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A1A1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월 이탈률</a:t>
            </a:r>
            <a:endParaRPr lang="en-US" sz="1200" dirty="0"/>
          </a:p>
        </p:txBody>
      </p:sp>
      <p:sp>
        <p:nvSpPr>
          <p:cNvPr id="23" name="Text 20"/>
          <p:cNvSpPr/>
          <p:nvPr/>
        </p:nvSpPr>
        <p:spPr>
          <a:xfrm>
            <a:off x="7772400" y="5806440"/>
            <a:ext cx="3931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6B6B6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업계 평균 5.2% 대비</a:t>
            </a:r>
            <a:endParaRPr lang="en-US" sz="950" dirty="0"/>
          </a:p>
        </p:txBody>
      </p:sp>
      <p:sp>
        <p:nvSpPr>
          <p:cNvPr id="24" name="Shape 21"/>
          <p:cNvSpPr/>
          <p:nvPr/>
        </p:nvSpPr>
        <p:spPr>
          <a:xfrm>
            <a:off x="7772400" y="6080760"/>
            <a:ext cx="3931920" cy="0"/>
          </a:xfrm>
          <a:prstGeom prst="line">
            <a:avLst/>
          </a:prstGeom>
          <a:noFill/>
          <a:ln w="6350">
            <a:solidFill>
              <a:srgbClr val="D6CFC2"/>
            </a:solidFill>
            <a:prstDash val="solid"/>
          </a:ln>
        </p:spPr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8F4E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1371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i="1" dirty="0">
                <a:solidFill>
                  <a:srgbClr val="722F37"/>
                </a:solidFill>
                <a:latin typeface="Garamond" pitchFamily="34" charset="0"/>
                <a:ea typeface="Garamond" pitchFamily="34" charset="-122"/>
                <a:cs typeface="Garamond" pitchFamily="34" charset="-120"/>
              </a:rPr>
              <a:t>05</a:t>
            </a:r>
            <a:endParaRPr lang="en-US" sz="1200" dirty="0"/>
          </a:p>
        </p:txBody>
      </p:sp>
      <p:sp>
        <p:nvSpPr>
          <p:cNvPr id="3" name="Shape 1"/>
          <p:cNvSpPr/>
          <p:nvPr/>
        </p:nvSpPr>
        <p:spPr>
          <a:xfrm>
            <a:off x="1691640" y="502920"/>
            <a:ext cx="365760" cy="0"/>
          </a:xfrm>
          <a:prstGeom prst="line">
            <a:avLst/>
          </a:prstGeom>
          <a:noFill/>
          <a:ln w="8890">
            <a:solidFill>
              <a:srgbClr val="722F37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286000" y="36576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i="1" spc="400" kern="0" dirty="0">
                <a:solidFill>
                  <a:srgbClr val="1F2937"/>
                </a:solidFill>
                <a:latin typeface="Garamond" pitchFamily="34" charset="0"/>
                <a:ea typeface="Garamond" pitchFamily="34" charset="-122"/>
                <a:cs typeface="Garamond" pitchFamily="34" charset="-120"/>
              </a:rPr>
              <a:t>CASE STUDIES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10058400" y="365760"/>
            <a:ext cx="1645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i="1" dirty="0">
                <a:solidFill>
                  <a:srgbClr val="6B6B6B"/>
                </a:solidFill>
                <a:latin typeface="Garamond" pitchFamily="34" charset="0"/>
                <a:ea typeface="Garamond" pitchFamily="34" charset="-122"/>
                <a:cs typeface="Garamond" pitchFamily="34" charset="-120"/>
              </a:rPr>
              <a:t>p.06 / 18</a:t>
            </a:r>
            <a:endParaRPr lang="en-US" sz="1000" dirty="0"/>
          </a:p>
        </p:txBody>
      </p:sp>
      <p:sp>
        <p:nvSpPr>
          <p:cNvPr id="6" name="Shape 4"/>
          <p:cNvSpPr/>
          <p:nvPr/>
        </p:nvSpPr>
        <p:spPr>
          <a:xfrm>
            <a:off x="457200" y="777240"/>
            <a:ext cx="11247120" cy="0"/>
          </a:xfrm>
          <a:prstGeom prst="line">
            <a:avLst/>
          </a:prstGeom>
          <a:noFill/>
          <a:ln w="8890">
            <a:solidFill>
              <a:srgbClr val="722F37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57200" y="1005840"/>
            <a:ext cx="54864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600" i="1" dirty="0">
                <a:solidFill>
                  <a:srgbClr val="722F37"/>
                </a:solidFill>
                <a:latin typeface="Palatino" pitchFamily="34" charset="0"/>
                <a:ea typeface="Palatino" pitchFamily="34" charset="-122"/>
                <a:cs typeface="Palatino" pitchFamily="34" charset="-120"/>
              </a:rPr>
              <a:t>실제 사례.</a:t>
            </a:r>
            <a:endParaRPr lang="en-US" sz="3600" dirty="0"/>
          </a:p>
        </p:txBody>
      </p:sp>
      <p:sp>
        <p:nvSpPr>
          <p:cNvPr id="8" name="Text 6"/>
          <p:cNvSpPr/>
          <p:nvPr/>
        </p:nvSpPr>
        <p:spPr>
          <a:xfrm>
            <a:off x="457200" y="1783080"/>
            <a:ext cx="10972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6B6B6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18개월 케어 성과 — 3가지 대표 케이스.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457200" y="2286000"/>
            <a:ext cx="11247120" cy="0"/>
          </a:xfrm>
          <a:prstGeom prst="line">
            <a:avLst/>
          </a:prstGeom>
          <a:noFill/>
          <a:ln w="12700">
            <a:solidFill>
              <a:srgbClr val="722F37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457200" y="2606040"/>
            <a:ext cx="3657600" cy="3657600"/>
          </a:xfrm>
          <a:prstGeom prst="rect">
            <a:avLst/>
          </a:prstGeom>
          <a:solidFill>
            <a:srgbClr val="FFFFFF"/>
          </a:solidFill>
          <a:ln w="6350">
            <a:solidFill>
              <a:srgbClr val="D6CFC2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731520" y="2697480"/>
            <a:ext cx="3200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722F3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김OO 어르신 (78세)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731520" y="3017520"/>
            <a:ext cx="3200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6B6B6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독거 / 고혈압·당뇨 약 4종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731520" y="3337560"/>
            <a:ext cx="3200400" cy="0"/>
          </a:xfrm>
          <a:prstGeom prst="line">
            <a:avLst/>
          </a:prstGeom>
          <a:noFill/>
          <a:ln w="6350">
            <a:solidFill>
              <a:srgbClr val="D6CFC2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731520" y="3456432"/>
            <a:ext cx="3200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spc="300" kern="0" dirty="0">
                <a:solidFill>
                  <a:srgbClr val="5B7553"/>
                </a:solidFill>
                <a:latin typeface="Garamond" pitchFamily="34" charset="0"/>
                <a:ea typeface="Garamond" pitchFamily="34" charset="-122"/>
                <a:cs typeface="Garamond" pitchFamily="34" charset="-120"/>
              </a:rPr>
              <a:t>RESULT</a:t>
            </a:r>
            <a:endParaRPr lang="en-US" sz="900" dirty="0"/>
          </a:p>
        </p:txBody>
      </p:sp>
      <p:sp>
        <p:nvSpPr>
          <p:cNvPr id="15" name="Text 13"/>
          <p:cNvSpPr/>
          <p:nvPr/>
        </p:nvSpPr>
        <p:spPr>
          <a:xfrm>
            <a:off x="731520" y="3703320"/>
            <a:ext cx="320040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A1A1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복약 누락 0건 (12개월), 응급 알림 2회 작동, 자녀 안심도 +94%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731520" y="5120640"/>
            <a:ext cx="3200400" cy="1005840"/>
          </a:xfrm>
          <a:prstGeom prst="rect">
            <a:avLst/>
          </a:prstGeom>
          <a:solidFill>
            <a:srgbClr val="F8F4EC"/>
          </a:solidFill>
          <a:ln/>
        </p:spPr>
      </p:sp>
      <p:sp>
        <p:nvSpPr>
          <p:cNvPr id="17" name="Text 15"/>
          <p:cNvSpPr/>
          <p:nvPr/>
        </p:nvSpPr>
        <p:spPr>
          <a:xfrm>
            <a:off x="822960" y="5212080"/>
            <a:ext cx="301752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i="1" dirty="0">
                <a:solidFill>
                  <a:srgbClr val="722F3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"아침마다 약 챙겨주는 손녀가 생긴 기분."</a:t>
            </a:r>
            <a:endParaRPr lang="en-US" sz="1050" dirty="0"/>
          </a:p>
        </p:txBody>
      </p:sp>
      <p:sp>
        <p:nvSpPr>
          <p:cNvPr id="18" name="Shape 16"/>
          <p:cNvSpPr/>
          <p:nvPr/>
        </p:nvSpPr>
        <p:spPr>
          <a:xfrm>
            <a:off x="4297680" y="2606040"/>
            <a:ext cx="3657600" cy="3657600"/>
          </a:xfrm>
          <a:prstGeom prst="rect">
            <a:avLst/>
          </a:prstGeom>
          <a:solidFill>
            <a:srgbClr val="FFFFFF"/>
          </a:solidFill>
          <a:ln w="6350">
            <a:solidFill>
              <a:srgbClr val="D6CFC2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4572000" y="2697480"/>
            <a:ext cx="3200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722F3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박OO 어르신 (82세)</a:t>
            </a:r>
            <a:endParaRPr lang="en-US" sz="1400" dirty="0"/>
          </a:p>
        </p:txBody>
      </p:sp>
      <p:sp>
        <p:nvSpPr>
          <p:cNvPr id="20" name="Text 18"/>
          <p:cNvSpPr/>
          <p:nvPr/>
        </p:nvSpPr>
        <p:spPr>
          <a:xfrm>
            <a:off x="4572000" y="3017520"/>
            <a:ext cx="3200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6B6B6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재택 / 낙상 위험군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4572000" y="3337560"/>
            <a:ext cx="3200400" cy="0"/>
          </a:xfrm>
          <a:prstGeom prst="line">
            <a:avLst/>
          </a:prstGeom>
          <a:noFill/>
          <a:ln w="6350">
            <a:solidFill>
              <a:srgbClr val="D6CFC2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4572000" y="3456432"/>
            <a:ext cx="3200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spc="300" kern="0" dirty="0">
                <a:solidFill>
                  <a:srgbClr val="5B7553"/>
                </a:solidFill>
                <a:latin typeface="Garamond" pitchFamily="34" charset="0"/>
                <a:ea typeface="Garamond" pitchFamily="34" charset="-122"/>
                <a:cs typeface="Garamond" pitchFamily="34" charset="-120"/>
              </a:rPr>
              <a:t>RESULT</a:t>
            </a:r>
            <a:endParaRPr lang="en-US" sz="900" dirty="0"/>
          </a:p>
        </p:txBody>
      </p:sp>
      <p:sp>
        <p:nvSpPr>
          <p:cNvPr id="23" name="Text 21"/>
          <p:cNvSpPr/>
          <p:nvPr/>
        </p:nvSpPr>
        <p:spPr>
          <a:xfrm>
            <a:off x="4572000" y="3703320"/>
            <a:ext cx="320040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A1A1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낙상 감지 1회 (욕실 미끄러짐) — 119 자동 신고 → 골절 방지 조기 치료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4572000" y="5120640"/>
            <a:ext cx="3200400" cy="1005840"/>
          </a:xfrm>
          <a:prstGeom prst="rect">
            <a:avLst/>
          </a:prstGeom>
          <a:solidFill>
            <a:srgbClr val="F8F4EC"/>
          </a:solidFill>
          <a:ln/>
        </p:spPr>
      </p:sp>
      <p:sp>
        <p:nvSpPr>
          <p:cNvPr id="25" name="Text 23"/>
          <p:cNvSpPr/>
          <p:nvPr/>
        </p:nvSpPr>
        <p:spPr>
          <a:xfrm>
            <a:off x="4663440" y="5212080"/>
            <a:ext cx="301752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i="1" dirty="0">
                <a:solidFill>
                  <a:srgbClr val="722F3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"그 날 밤이 우리 어머니 평생 가장 안전한 밤이었다."</a:t>
            </a:r>
            <a:endParaRPr lang="en-US" sz="1050" dirty="0"/>
          </a:p>
        </p:txBody>
      </p:sp>
      <p:sp>
        <p:nvSpPr>
          <p:cNvPr id="26" name="Shape 24"/>
          <p:cNvSpPr/>
          <p:nvPr/>
        </p:nvSpPr>
        <p:spPr>
          <a:xfrm>
            <a:off x="8138160" y="2606040"/>
            <a:ext cx="3657600" cy="3657600"/>
          </a:xfrm>
          <a:prstGeom prst="rect">
            <a:avLst/>
          </a:prstGeom>
          <a:solidFill>
            <a:srgbClr val="FFFFFF"/>
          </a:solidFill>
          <a:ln w="6350">
            <a:solidFill>
              <a:srgbClr val="D6CFC2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8412480" y="2697480"/>
            <a:ext cx="3200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722F3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이OO 어르신 (74세)</a:t>
            </a:r>
            <a:endParaRPr lang="en-US" sz="1400" dirty="0"/>
          </a:p>
        </p:txBody>
      </p:sp>
      <p:sp>
        <p:nvSpPr>
          <p:cNvPr id="28" name="Text 26"/>
          <p:cNvSpPr/>
          <p:nvPr/>
        </p:nvSpPr>
        <p:spPr>
          <a:xfrm>
            <a:off x="8412480" y="3017520"/>
            <a:ext cx="3200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6B6B6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초기 치매 / 활동 저하</a:t>
            </a:r>
            <a:endParaRPr lang="en-US" sz="1000" dirty="0"/>
          </a:p>
        </p:txBody>
      </p:sp>
      <p:sp>
        <p:nvSpPr>
          <p:cNvPr id="29" name="Shape 27"/>
          <p:cNvSpPr/>
          <p:nvPr/>
        </p:nvSpPr>
        <p:spPr>
          <a:xfrm>
            <a:off x="8412480" y="3337560"/>
            <a:ext cx="3200400" cy="0"/>
          </a:xfrm>
          <a:prstGeom prst="line">
            <a:avLst/>
          </a:prstGeom>
          <a:noFill/>
          <a:ln w="6350">
            <a:solidFill>
              <a:srgbClr val="D6CFC2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8412480" y="3456432"/>
            <a:ext cx="3200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spc="300" kern="0" dirty="0">
                <a:solidFill>
                  <a:srgbClr val="5B7553"/>
                </a:solidFill>
                <a:latin typeface="Garamond" pitchFamily="34" charset="0"/>
                <a:ea typeface="Garamond" pitchFamily="34" charset="-122"/>
                <a:cs typeface="Garamond" pitchFamily="34" charset="-120"/>
              </a:rPr>
              <a:t>RESULT</a:t>
            </a:r>
            <a:endParaRPr lang="en-US" sz="900" dirty="0"/>
          </a:p>
        </p:txBody>
      </p:sp>
      <p:sp>
        <p:nvSpPr>
          <p:cNvPr id="31" name="Text 29"/>
          <p:cNvSpPr/>
          <p:nvPr/>
        </p:nvSpPr>
        <p:spPr>
          <a:xfrm>
            <a:off x="8412480" y="3703320"/>
            <a:ext cx="320040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A1A1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활동 패턴 이상 감지 → 자녀 즉시 방문 → 전문 진단 연결, 6개월 안정화</a:t>
            </a:r>
            <a:endParaRPr lang="en-US" sz="1100" dirty="0"/>
          </a:p>
        </p:txBody>
      </p:sp>
      <p:sp>
        <p:nvSpPr>
          <p:cNvPr id="32" name="Shape 30"/>
          <p:cNvSpPr/>
          <p:nvPr/>
        </p:nvSpPr>
        <p:spPr>
          <a:xfrm>
            <a:off x="8412480" y="5120640"/>
            <a:ext cx="3200400" cy="1005840"/>
          </a:xfrm>
          <a:prstGeom prst="rect">
            <a:avLst/>
          </a:prstGeom>
          <a:solidFill>
            <a:srgbClr val="F8F4EC"/>
          </a:solidFill>
          <a:ln/>
        </p:spPr>
      </p:sp>
      <p:sp>
        <p:nvSpPr>
          <p:cNvPr id="33" name="Text 31"/>
          <p:cNvSpPr/>
          <p:nvPr/>
        </p:nvSpPr>
        <p:spPr>
          <a:xfrm>
            <a:off x="8503920" y="5212080"/>
            <a:ext cx="301752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i="1" dirty="0">
                <a:solidFill>
                  <a:srgbClr val="722F3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"AI가 우리 엄마 변화를 먼저 알아챘다."</a:t>
            </a:r>
            <a:endParaRPr lang="en-US" sz="10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8F4E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1371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i="1" dirty="0">
                <a:solidFill>
                  <a:srgbClr val="722F37"/>
                </a:solidFill>
                <a:latin typeface="Garamond" pitchFamily="34" charset="0"/>
                <a:ea typeface="Garamond" pitchFamily="34" charset="-122"/>
                <a:cs typeface="Garamond" pitchFamily="34" charset="-120"/>
              </a:rPr>
              <a:t>06</a:t>
            </a:r>
            <a:endParaRPr lang="en-US" sz="1200" dirty="0"/>
          </a:p>
        </p:txBody>
      </p:sp>
      <p:sp>
        <p:nvSpPr>
          <p:cNvPr id="3" name="Shape 1"/>
          <p:cNvSpPr/>
          <p:nvPr/>
        </p:nvSpPr>
        <p:spPr>
          <a:xfrm>
            <a:off x="1691640" y="502920"/>
            <a:ext cx="365760" cy="0"/>
          </a:xfrm>
          <a:prstGeom prst="line">
            <a:avLst/>
          </a:prstGeom>
          <a:noFill/>
          <a:ln w="8890">
            <a:solidFill>
              <a:srgbClr val="722F37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286000" y="36576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i="1" spc="400" kern="0" dirty="0">
                <a:solidFill>
                  <a:srgbClr val="1F2937"/>
                </a:solidFill>
                <a:latin typeface="Garamond" pitchFamily="34" charset="0"/>
                <a:ea typeface="Garamond" pitchFamily="34" charset="-122"/>
                <a:cs typeface="Garamond" pitchFamily="34" charset="-120"/>
              </a:rPr>
              <a:t>BUSINESS MODEL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10058400" y="365760"/>
            <a:ext cx="1645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i="1" dirty="0">
                <a:solidFill>
                  <a:srgbClr val="6B6B6B"/>
                </a:solidFill>
                <a:latin typeface="Garamond" pitchFamily="34" charset="0"/>
                <a:ea typeface="Garamond" pitchFamily="34" charset="-122"/>
                <a:cs typeface="Garamond" pitchFamily="34" charset="-120"/>
              </a:rPr>
              <a:t>p.07 / 18</a:t>
            </a:r>
            <a:endParaRPr lang="en-US" sz="1000" dirty="0"/>
          </a:p>
        </p:txBody>
      </p:sp>
      <p:sp>
        <p:nvSpPr>
          <p:cNvPr id="6" name="Shape 4"/>
          <p:cNvSpPr/>
          <p:nvPr/>
        </p:nvSpPr>
        <p:spPr>
          <a:xfrm>
            <a:off x="457200" y="777240"/>
            <a:ext cx="11247120" cy="0"/>
          </a:xfrm>
          <a:prstGeom prst="line">
            <a:avLst/>
          </a:prstGeom>
          <a:noFill/>
          <a:ln w="8890">
            <a:solidFill>
              <a:srgbClr val="722F37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57200" y="1005840"/>
            <a:ext cx="109728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722F3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BM. 자녀 결제 + 시니어 사용 (B2C2C) + B2G 요양 협력.</a:t>
            </a:r>
            <a:endParaRPr lang="en-US" sz="2200" dirty="0"/>
          </a:p>
        </p:txBody>
      </p:sp>
      <p:sp>
        <p:nvSpPr>
          <p:cNvPr id="8" name="Shape 6"/>
          <p:cNvSpPr/>
          <p:nvPr/>
        </p:nvSpPr>
        <p:spPr>
          <a:xfrm>
            <a:off x="457200" y="1783080"/>
            <a:ext cx="3657600" cy="4480560"/>
          </a:xfrm>
          <a:prstGeom prst="rect">
            <a:avLst/>
          </a:prstGeom>
          <a:solidFill>
            <a:srgbClr val="FFFFFF"/>
          </a:solidFill>
          <a:ln w="6350">
            <a:solidFill>
              <a:srgbClr val="D6CFC2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731520" y="2011680"/>
            <a:ext cx="3200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spc="500" kern="0" dirty="0">
                <a:solidFill>
                  <a:srgbClr val="722F37"/>
                </a:solidFill>
                <a:latin typeface="Garamond" pitchFamily="34" charset="0"/>
                <a:ea typeface="Garamond" pitchFamily="34" charset="-122"/>
                <a:cs typeface="Garamond" pitchFamily="34" charset="-120"/>
              </a:rPr>
              <a:t>BASIC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731520" y="2468880"/>
            <a:ext cx="3200400" cy="914400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indent="0" marL="0">
              <a:buNone/>
            </a:pPr>
            <a:r>
              <a:rPr lang="en-US" sz="2200" b="1" dirty="0">
                <a:solidFill>
                  <a:srgbClr val="1A1A1A"/>
                </a:solidFill>
                <a:latin typeface="Palatino" pitchFamily="34" charset="0"/>
                <a:ea typeface="Palatino" pitchFamily="34" charset="-122"/>
                <a:cs typeface="Palatino" pitchFamily="34" charset="-120"/>
              </a:rPr>
              <a:t>₩</a:t>
            </a:r>
            <a:pPr indent="0" marL="0">
              <a:buNone/>
            </a:pPr>
            <a:r>
              <a:rPr lang="en-US" sz="4400" b="1" dirty="0">
                <a:solidFill>
                  <a:srgbClr val="722F37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39,000</a:t>
            </a:r>
            <a:endParaRPr lang="en-US" sz="2200" dirty="0"/>
          </a:p>
        </p:txBody>
      </p:sp>
      <p:sp>
        <p:nvSpPr>
          <p:cNvPr id="11" name="Text 9"/>
          <p:cNvSpPr/>
          <p:nvPr/>
        </p:nvSpPr>
        <p:spPr>
          <a:xfrm>
            <a:off x="731520" y="3383280"/>
            <a:ext cx="3200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6B6B6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/ 월 (자녀 결제)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731520" y="3657600"/>
            <a:ext cx="3200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5B755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기본 케어</a:t>
            </a:r>
            <a:endParaRPr lang="en-US" sz="1400" dirty="0"/>
          </a:p>
        </p:txBody>
      </p:sp>
      <p:sp>
        <p:nvSpPr>
          <p:cNvPr id="13" name="Shape 11"/>
          <p:cNvSpPr/>
          <p:nvPr/>
        </p:nvSpPr>
        <p:spPr>
          <a:xfrm>
            <a:off x="731520" y="4069080"/>
            <a:ext cx="3200400" cy="0"/>
          </a:xfrm>
          <a:prstGeom prst="line">
            <a:avLst/>
          </a:prstGeom>
          <a:noFill/>
          <a:ln w="6350">
            <a:solidFill>
              <a:srgbClr val="D6CFC2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731520" y="4206240"/>
            <a:ext cx="3200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A1A1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— 복약 관리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731520" y="4590288"/>
            <a:ext cx="3200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A1A1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— 안부 확인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731520" y="4974336"/>
            <a:ext cx="3200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A1A1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— 자녀 SMS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731520" y="5358384"/>
            <a:ext cx="3200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A1A1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— 주간 리포트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4297680" y="1783080"/>
            <a:ext cx="3657600" cy="4480560"/>
          </a:xfrm>
          <a:prstGeom prst="rect">
            <a:avLst/>
          </a:prstGeom>
          <a:solidFill>
            <a:srgbClr val="FFFFFF"/>
          </a:solidFill>
          <a:ln w="6350">
            <a:solidFill>
              <a:srgbClr val="D6CFC2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4297680" y="1783080"/>
            <a:ext cx="3657600" cy="274320"/>
          </a:xfrm>
          <a:prstGeom prst="rect">
            <a:avLst/>
          </a:prstGeom>
          <a:solidFill>
            <a:srgbClr val="722F37"/>
          </a:solidFill>
          <a:ln/>
        </p:spPr>
      </p:sp>
      <p:sp>
        <p:nvSpPr>
          <p:cNvPr id="20" name="Text 18"/>
          <p:cNvSpPr/>
          <p:nvPr/>
        </p:nvSpPr>
        <p:spPr>
          <a:xfrm>
            <a:off x="4297680" y="178308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spc="500" kern="0" dirty="0">
                <a:solidFill>
                  <a:srgbClr val="F8F4EC"/>
                </a:solidFill>
                <a:latin typeface="Garamond" pitchFamily="34" charset="0"/>
                <a:ea typeface="Garamond" pitchFamily="34" charset="-122"/>
                <a:cs typeface="Garamond" pitchFamily="34" charset="-120"/>
              </a:rPr>
              <a:t>RECOMMENDED</a:t>
            </a:r>
            <a:endParaRPr lang="en-US" sz="900" dirty="0"/>
          </a:p>
        </p:txBody>
      </p:sp>
      <p:sp>
        <p:nvSpPr>
          <p:cNvPr id="21" name="Text 19"/>
          <p:cNvSpPr/>
          <p:nvPr/>
        </p:nvSpPr>
        <p:spPr>
          <a:xfrm>
            <a:off x="4572000" y="2240280"/>
            <a:ext cx="3200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spc="500" kern="0" dirty="0">
                <a:solidFill>
                  <a:srgbClr val="722F37"/>
                </a:solidFill>
                <a:latin typeface="Garamond" pitchFamily="34" charset="0"/>
                <a:ea typeface="Garamond" pitchFamily="34" charset="-122"/>
                <a:cs typeface="Garamond" pitchFamily="34" charset="-120"/>
              </a:rPr>
              <a:t>STANDARD</a:t>
            </a:r>
            <a:endParaRPr lang="en-US" sz="1000" dirty="0"/>
          </a:p>
        </p:txBody>
      </p:sp>
      <p:sp>
        <p:nvSpPr>
          <p:cNvPr id="22" name="Text 20"/>
          <p:cNvSpPr/>
          <p:nvPr/>
        </p:nvSpPr>
        <p:spPr>
          <a:xfrm>
            <a:off x="4572000" y="2468880"/>
            <a:ext cx="3200400" cy="914400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indent="0" marL="0">
              <a:buNone/>
            </a:pPr>
            <a:r>
              <a:rPr lang="en-US" sz="2200" b="1" dirty="0">
                <a:solidFill>
                  <a:srgbClr val="1A1A1A"/>
                </a:solidFill>
                <a:latin typeface="Palatino" pitchFamily="34" charset="0"/>
                <a:ea typeface="Palatino" pitchFamily="34" charset="-122"/>
                <a:cs typeface="Palatino" pitchFamily="34" charset="-120"/>
              </a:rPr>
              <a:t>₩</a:t>
            </a:r>
            <a:pPr indent="0" marL="0">
              <a:buNone/>
            </a:pPr>
            <a:r>
              <a:rPr lang="en-US" sz="4400" b="1" dirty="0">
                <a:solidFill>
                  <a:srgbClr val="722F37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69,000</a:t>
            </a:r>
            <a:endParaRPr lang="en-US" sz="2200" dirty="0"/>
          </a:p>
        </p:txBody>
      </p:sp>
      <p:sp>
        <p:nvSpPr>
          <p:cNvPr id="23" name="Text 21"/>
          <p:cNvSpPr/>
          <p:nvPr/>
        </p:nvSpPr>
        <p:spPr>
          <a:xfrm>
            <a:off x="4572000" y="3383280"/>
            <a:ext cx="3200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6B6B6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/ 월 (자녀 결제)</a:t>
            </a:r>
            <a:endParaRPr lang="en-US" sz="1000" dirty="0"/>
          </a:p>
        </p:txBody>
      </p:sp>
      <p:sp>
        <p:nvSpPr>
          <p:cNvPr id="24" name="Text 22"/>
          <p:cNvSpPr/>
          <p:nvPr/>
        </p:nvSpPr>
        <p:spPr>
          <a:xfrm>
            <a:off x="4572000" y="3657600"/>
            <a:ext cx="3200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5B755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낙상 + 통화</a:t>
            </a:r>
            <a:endParaRPr lang="en-US" sz="1400" dirty="0"/>
          </a:p>
        </p:txBody>
      </p:sp>
      <p:sp>
        <p:nvSpPr>
          <p:cNvPr id="25" name="Shape 23"/>
          <p:cNvSpPr/>
          <p:nvPr/>
        </p:nvSpPr>
        <p:spPr>
          <a:xfrm>
            <a:off x="4572000" y="4069080"/>
            <a:ext cx="3200400" cy="0"/>
          </a:xfrm>
          <a:prstGeom prst="line">
            <a:avLst/>
          </a:prstGeom>
          <a:noFill/>
          <a:ln w="6350">
            <a:solidFill>
              <a:srgbClr val="D6CFC2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4572000" y="4206240"/>
            <a:ext cx="3200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A1A1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— BASIC 전체</a:t>
            </a:r>
            <a:endParaRPr lang="en-US" sz="1100" dirty="0"/>
          </a:p>
        </p:txBody>
      </p:sp>
      <p:sp>
        <p:nvSpPr>
          <p:cNvPr id="27" name="Text 25"/>
          <p:cNvSpPr/>
          <p:nvPr/>
        </p:nvSpPr>
        <p:spPr>
          <a:xfrm>
            <a:off x="4572000" y="4590288"/>
            <a:ext cx="3200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A1A1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— 낙상 감지 디바이스</a:t>
            </a:r>
            <a:endParaRPr lang="en-US" sz="1100" dirty="0"/>
          </a:p>
        </p:txBody>
      </p:sp>
      <p:sp>
        <p:nvSpPr>
          <p:cNvPr id="28" name="Text 26"/>
          <p:cNvSpPr/>
          <p:nvPr/>
        </p:nvSpPr>
        <p:spPr>
          <a:xfrm>
            <a:off x="4572000" y="4974336"/>
            <a:ext cx="3200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A1A1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— 응급 119 자동</a:t>
            </a:r>
            <a:endParaRPr lang="en-US" sz="1100" dirty="0"/>
          </a:p>
        </p:txBody>
      </p:sp>
      <p:sp>
        <p:nvSpPr>
          <p:cNvPr id="29" name="Text 27"/>
          <p:cNvSpPr/>
          <p:nvPr/>
        </p:nvSpPr>
        <p:spPr>
          <a:xfrm>
            <a:off x="4572000" y="5358384"/>
            <a:ext cx="3200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A1A1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— 월 의사 상담 1회</a:t>
            </a:r>
            <a:endParaRPr lang="en-US" sz="1100" dirty="0"/>
          </a:p>
        </p:txBody>
      </p:sp>
      <p:sp>
        <p:nvSpPr>
          <p:cNvPr id="30" name="Shape 28"/>
          <p:cNvSpPr/>
          <p:nvPr/>
        </p:nvSpPr>
        <p:spPr>
          <a:xfrm>
            <a:off x="8138160" y="1783080"/>
            <a:ext cx="3657600" cy="4480560"/>
          </a:xfrm>
          <a:prstGeom prst="rect">
            <a:avLst/>
          </a:prstGeom>
          <a:solidFill>
            <a:srgbClr val="FFFFFF"/>
          </a:solidFill>
          <a:ln w="6350">
            <a:solidFill>
              <a:srgbClr val="D6CFC2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8412480" y="2011680"/>
            <a:ext cx="3200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spc="500" kern="0" dirty="0">
                <a:solidFill>
                  <a:srgbClr val="722F37"/>
                </a:solidFill>
                <a:latin typeface="Garamond" pitchFamily="34" charset="0"/>
                <a:ea typeface="Garamond" pitchFamily="34" charset="-122"/>
                <a:cs typeface="Garamond" pitchFamily="34" charset="-120"/>
              </a:rPr>
              <a:t>PREMIUM</a:t>
            </a:r>
            <a:endParaRPr lang="en-US" sz="1000" dirty="0"/>
          </a:p>
        </p:txBody>
      </p:sp>
      <p:sp>
        <p:nvSpPr>
          <p:cNvPr id="32" name="Text 30"/>
          <p:cNvSpPr/>
          <p:nvPr/>
        </p:nvSpPr>
        <p:spPr>
          <a:xfrm>
            <a:off x="8412480" y="2468880"/>
            <a:ext cx="3200400" cy="914400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indent="0" marL="0">
              <a:buNone/>
            </a:pPr>
            <a:r>
              <a:rPr lang="en-US" sz="2200" b="1" dirty="0">
                <a:solidFill>
                  <a:srgbClr val="1A1A1A"/>
                </a:solidFill>
                <a:latin typeface="Palatino" pitchFamily="34" charset="0"/>
                <a:ea typeface="Palatino" pitchFamily="34" charset="-122"/>
                <a:cs typeface="Palatino" pitchFamily="34" charset="-120"/>
              </a:rPr>
              <a:t>₩</a:t>
            </a:r>
            <a:pPr indent="0" marL="0">
              <a:buNone/>
            </a:pPr>
            <a:r>
              <a:rPr lang="en-US" sz="4400" b="1" dirty="0">
                <a:solidFill>
                  <a:srgbClr val="722F37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119,000</a:t>
            </a:r>
            <a:endParaRPr lang="en-US" sz="2200" dirty="0"/>
          </a:p>
        </p:txBody>
      </p:sp>
      <p:sp>
        <p:nvSpPr>
          <p:cNvPr id="33" name="Text 31"/>
          <p:cNvSpPr/>
          <p:nvPr/>
        </p:nvSpPr>
        <p:spPr>
          <a:xfrm>
            <a:off x="8412480" y="3383280"/>
            <a:ext cx="3200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6B6B6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/ 월 (자녀 결제)</a:t>
            </a:r>
            <a:endParaRPr lang="en-US" sz="1000" dirty="0"/>
          </a:p>
        </p:txBody>
      </p:sp>
      <p:sp>
        <p:nvSpPr>
          <p:cNvPr id="34" name="Text 32"/>
          <p:cNvSpPr/>
          <p:nvPr/>
        </p:nvSpPr>
        <p:spPr>
          <a:xfrm>
            <a:off x="8412480" y="3657600"/>
            <a:ext cx="3200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5B755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치매·만성 케어</a:t>
            </a:r>
            <a:endParaRPr lang="en-US" sz="1400" dirty="0"/>
          </a:p>
        </p:txBody>
      </p:sp>
      <p:sp>
        <p:nvSpPr>
          <p:cNvPr id="35" name="Shape 33"/>
          <p:cNvSpPr/>
          <p:nvPr/>
        </p:nvSpPr>
        <p:spPr>
          <a:xfrm>
            <a:off x="8412480" y="4069080"/>
            <a:ext cx="3200400" cy="0"/>
          </a:xfrm>
          <a:prstGeom prst="line">
            <a:avLst/>
          </a:prstGeom>
          <a:noFill/>
          <a:ln w="6350">
            <a:solidFill>
              <a:srgbClr val="D6CFC2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8412480" y="4206240"/>
            <a:ext cx="3200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A1A1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— STANDARD 전체</a:t>
            </a:r>
            <a:endParaRPr lang="en-US" sz="1100" dirty="0"/>
          </a:p>
        </p:txBody>
      </p:sp>
      <p:sp>
        <p:nvSpPr>
          <p:cNvPr id="37" name="Text 35"/>
          <p:cNvSpPr/>
          <p:nvPr/>
        </p:nvSpPr>
        <p:spPr>
          <a:xfrm>
            <a:off x="8412480" y="4590288"/>
            <a:ext cx="3200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A1A1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— 전담 케어 매니저</a:t>
            </a:r>
            <a:endParaRPr lang="en-US" sz="1100" dirty="0"/>
          </a:p>
        </p:txBody>
      </p:sp>
      <p:sp>
        <p:nvSpPr>
          <p:cNvPr id="38" name="Text 36"/>
          <p:cNvSpPr/>
          <p:nvPr/>
        </p:nvSpPr>
        <p:spPr>
          <a:xfrm>
            <a:off x="8412480" y="4974336"/>
            <a:ext cx="3200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A1A1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— 주 1회 방문 케어</a:t>
            </a:r>
            <a:endParaRPr lang="en-US" sz="1100" dirty="0"/>
          </a:p>
        </p:txBody>
      </p:sp>
      <p:sp>
        <p:nvSpPr>
          <p:cNvPr id="39" name="Text 37"/>
          <p:cNvSpPr/>
          <p:nvPr/>
        </p:nvSpPr>
        <p:spPr>
          <a:xfrm>
            <a:off x="8412480" y="5358384"/>
            <a:ext cx="3200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A1A1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— 월 의사 상담 4회</a:t>
            </a:r>
            <a:endParaRPr lang="en-US" sz="1100" dirty="0"/>
          </a:p>
        </p:txBody>
      </p:sp>
      <p:sp>
        <p:nvSpPr>
          <p:cNvPr id="40" name="Text 38"/>
          <p:cNvSpPr/>
          <p:nvPr/>
        </p:nvSpPr>
        <p:spPr>
          <a:xfrm>
            <a:off x="8412480" y="5742432"/>
            <a:ext cx="3200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A1A1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— 치매 인지 검사</a:t>
            </a:r>
            <a:endParaRPr lang="en-US" sz="11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8F4E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1371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i="1" dirty="0">
                <a:solidFill>
                  <a:srgbClr val="722F37"/>
                </a:solidFill>
                <a:latin typeface="Garamond" pitchFamily="34" charset="0"/>
                <a:ea typeface="Garamond" pitchFamily="34" charset="-122"/>
                <a:cs typeface="Garamond" pitchFamily="34" charset="-120"/>
              </a:rPr>
              <a:t>07</a:t>
            </a:r>
            <a:endParaRPr lang="en-US" sz="1200" dirty="0"/>
          </a:p>
        </p:txBody>
      </p:sp>
      <p:sp>
        <p:nvSpPr>
          <p:cNvPr id="3" name="Shape 1"/>
          <p:cNvSpPr/>
          <p:nvPr/>
        </p:nvSpPr>
        <p:spPr>
          <a:xfrm>
            <a:off x="1691640" y="502920"/>
            <a:ext cx="365760" cy="0"/>
          </a:xfrm>
          <a:prstGeom prst="line">
            <a:avLst/>
          </a:prstGeom>
          <a:noFill/>
          <a:ln w="8890">
            <a:solidFill>
              <a:srgbClr val="722F37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286000" y="36576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i="1" spc="400" kern="0" dirty="0">
                <a:solidFill>
                  <a:srgbClr val="1F2937"/>
                </a:solidFill>
                <a:latin typeface="Garamond" pitchFamily="34" charset="0"/>
                <a:ea typeface="Garamond" pitchFamily="34" charset="-122"/>
                <a:cs typeface="Garamond" pitchFamily="34" charset="-120"/>
              </a:rPr>
              <a:t>MARKET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10058400" y="365760"/>
            <a:ext cx="1645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i="1" dirty="0">
                <a:solidFill>
                  <a:srgbClr val="6B6B6B"/>
                </a:solidFill>
                <a:latin typeface="Garamond" pitchFamily="34" charset="0"/>
                <a:ea typeface="Garamond" pitchFamily="34" charset="-122"/>
                <a:cs typeface="Garamond" pitchFamily="34" charset="-120"/>
              </a:rPr>
              <a:t>p.08 / 18</a:t>
            </a:r>
            <a:endParaRPr lang="en-US" sz="1000" dirty="0"/>
          </a:p>
        </p:txBody>
      </p:sp>
      <p:sp>
        <p:nvSpPr>
          <p:cNvPr id="6" name="Shape 4"/>
          <p:cNvSpPr/>
          <p:nvPr/>
        </p:nvSpPr>
        <p:spPr>
          <a:xfrm>
            <a:off x="457200" y="777240"/>
            <a:ext cx="11247120" cy="0"/>
          </a:xfrm>
          <a:prstGeom prst="line">
            <a:avLst/>
          </a:prstGeom>
          <a:noFill/>
          <a:ln w="8890">
            <a:solidFill>
              <a:srgbClr val="722F37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57200" y="1005840"/>
            <a:ext cx="109728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722F3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시장. 시니어 케어 12.4조 — 2030 28조 도달.</a:t>
            </a:r>
            <a:endParaRPr lang="en-US" sz="2200" dirty="0"/>
          </a:p>
        </p:txBody>
      </p:sp>
      <p:graphicFrame>
        <p:nvGraphicFramePr>
          <p:cNvPr id="8" name="Chart 0" descr=""/>
          <p:cNvGraphicFramePr/>
          <p:nvPr/>
        </p:nvGraphicFramePr>
        <p:xfrm>
          <a:off x="457200" y="1783080"/>
          <a:ext cx="6858000" cy="438912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9" name="Text 6"/>
          <p:cNvSpPr/>
          <p:nvPr/>
        </p:nvSpPr>
        <p:spPr>
          <a:xfrm>
            <a:off x="7772400" y="1783080"/>
            <a:ext cx="3931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spc="500" kern="0" dirty="0">
                <a:solidFill>
                  <a:srgbClr val="5B7553"/>
                </a:solidFill>
                <a:latin typeface="Garamond" pitchFamily="34" charset="0"/>
                <a:ea typeface="Garamond" pitchFamily="34" charset="-122"/>
                <a:cs typeface="Garamond" pitchFamily="34" charset="-120"/>
              </a:rPr>
              <a:t>TAM</a:t>
            </a:r>
            <a:endParaRPr lang="en-US" sz="1000" dirty="0"/>
          </a:p>
        </p:txBody>
      </p:sp>
      <p:sp>
        <p:nvSpPr>
          <p:cNvPr id="10" name="Text 7"/>
          <p:cNvSpPr/>
          <p:nvPr/>
        </p:nvSpPr>
        <p:spPr>
          <a:xfrm>
            <a:off x="7772400" y="2057400"/>
            <a:ext cx="39319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722F37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12.4조</a:t>
            </a:r>
            <a:endParaRPr lang="en-US" sz="3000" dirty="0"/>
          </a:p>
        </p:txBody>
      </p:sp>
      <p:sp>
        <p:nvSpPr>
          <p:cNvPr id="11" name="Text 8"/>
          <p:cNvSpPr/>
          <p:nvPr/>
        </p:nvSpPr>
        <p:spPr>
          <a:xfrm>
            <a:off x="7772400" y="2560320"/>
            <a:ext cx="3931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6B6B6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국내 시니어 케어</a:t>
            </a:r>
            <a:endParaRPr lang="en-US" sz="1000" dirty="0"/>
          </a:p>
        </p:txBody>
      </p:sp>
      <p:sp>
        <p:nvSpPr>
          <p:cNvPr id="12" name="Text 9"/>
          <p:cNvSpPr/>
          <p:nvPr/>
        </p:nvSpPr>
        <p:spPr>
          <a:xfrm>
            <a:off x="7772400" y="2880360"/>
            <a:ext cx="3931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spc="500" kern="0" dirty="0">
                <a:solidFill>
                  <a:srgbClr val="5B7553"/>
                </a:solidFill>
                <a:latin typeface="Garamond" pitchFamily="34" charset="0"/>
                <a:ea typeface="Garamond" pitchFamily="34" charset="-122"/>
                <a:cs typeface="Garamond" pitchFamily="34" charset="-120"/>
              </a:rPr>
              <a:t>SAM</a:t>
            </a:r>
            <a:endParaRPr lang="en-US" sz="1000" dirty="0"/>
          </a:p>
        </p:txBody>
      </p:sp>
      <p:sp>
        <p:nvSpPr>
          <p:cNvPr id="13" name="Text 10"/>
          <p:cNvSpPr/>
          <p:nvPr/>
        </p:nvSpPr>
        <p:spPr>
          <a:xfrm>
            <a:off x="7772400" y="3154680"/>
            <a:ext cx="39319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722F37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1.8조</a:t>
            </a:r>
            <a:endParaRPr lang="en-US" sz="3000" dirty="0"/>
          </a:p>
        </p:txBody>
      </p:sp>
      <p:sp>
        <p:nvSpPr>
          <p:cNvPr id="14" name="Text 11"/>
          <p:cNvSpPr/>
          <p:nvPr/>
        </p:nvSpPr>
        <p:spPr>
          <a:xfrm>
            <a:off x="7772400" y="3657600"/>
            <a:ext cx="3931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6B6B6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AI 기반 케어 가능</a:t>
            </a:r>
            <a:endParaRPr lang="en-US" sz="1000" dirty="0"/>
          </a:p>
        </p:txBody>
      </p:sp>
      <p:sp>
        <p:nvSpPr>
          <p:cNvPr id="15" name="Text 12"/>
          <p:cNvSpPr/>
          <p:nvPr/>
        </p:nvSpPr>
        <p:spPr>
          <a:xfrm>
            <a:off x="7772400" y="3977640"/>
            <a:ext cx="3931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spc="500" kern="0" dirty="0">
                <a:solidFill>
                  <a:srgbClr val="5B7553"/>
                </a:solidFill>
                <a:latin typeface="Garamond" pitchFamily="34" charset="0"/>
                <a:ea typeface="Garamond" pitchFamily="34" charset="-122"/>
                <a:cs typeface="Garamond" pitchFamily="34" charset="-120"/>
              </a:rPr>
              <a:t>SOM</a:t>
            </a:r>
            <a:endParaRPr lang="en-US" sz="1000" dirty="0"/>
          </a:p>
        </p:txBody>
      </p:sp>
      <p:sp>
        <p:nvSpPr>
          <p:cNvPr id="16" name="Text 13"/>
          <p:cNvSpPr/>
          <p:nvPr/>
        </p:nvSpPr>
        <p:spPr>
          <a:xfrm>
            <a:off x="7772400" y="4251960"/>
            <a:ext cx="39319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722F37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180억</a:t>
            </a:r>
            <a:endParaRPr lang="en-US" sz="3000" dirty="0"/>
          </a:p>
        </p:txBody>
      </p:sp>
      <p:sp>
        <p:nvSpPr>
          <p:cNvPr id="17" name="Text 14"/>
          <p:cNvSpPr/>
          <p:nvPr/>
        </p:nvSpPr>
        <p:spPr>
          <a:xfrm>
            <a:off x="7772400" y="4754880"/>
            <a:ext cx="3931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6B6B6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Y3 도달 (10%)</a:t>
            </a:r>
            <a:endParaRPr lang="en-US" sz="1000" dirty="0"/>
          </a:p>
        </p:txBody>
      </p:sp>
      <p:sp>
        <p:nvSpPr>
          <p:cNvPr id="18" name="Text 15"/>
          <p:cNvSpPr/>
          <p:nvPr/>
        </p:nvSpPr>
        <p:spPr>
          <a:xfrm>
            <a:off x="7772400" y="5074920"/>
            <a:ext cx="3931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spc="500" kern="0" dirty="0">
                <a:solidFill>
                  <a:srgbClr val="5B7553"/>
                </a:solidFill>
                <a:latin typeface="Garamond" pitchFamily="34" charset="0"/>
                <a:ea typeface="Garamond" pitchFamily="34" charset="-122"/>
                <a:cs typeface="Garamond" pitchFamily="34" charset="-120"/>
              </a:rPr>
              <a:t>+14%</a:t>
            </a:r>
            <a:endParaRPr lang="en-US" sz="1000" dirty="0"/>
          </a:p>
        </p:txBody>
      </p:sp>
      <p:sp>
        <p:nvSpPr>
          <p:cNvPr id="19" name="Text 16"/>
          <p:cNvSpPr/>
          <p:nvPr/>
        </p:nvSpPr>
        <p:spPr>
          <a:xfrm>
            <a:off x="7772400" y="5349240"/>
            <a:ext cx="39319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722F37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CAGR 5년</a:t>
            </a:r>
            <a:endParaRPr lang="en-US" sz="3000" dirty="0"/>
          </a:p>
        </p:txBody>
      </p:sp>
      <p:sp>
        <p:nvSpPr>
          <p:cNvPr id="20" name="Text 17"/>
          <p:cNvSpPr/>
          <p:nvPr/>
        </p:nvSpPr>
        <p:spPr>
          <a:xfrm>
            <a:off x="7772400" y="5852160"/>
            <a:ext cx="3931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6B6B6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고령화 가속화</a:t>
            </a:r>
            <a:endParaRPr lang="en-US" sz="10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8F4E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1371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i="1" dirty="0">
                <a:solidFill>
                  <a:srgbClr val="722F37"/>
                </a:solidFill>
                <a:latin typeface="Garamond" pitchFamily="34" charset="0"/>
                <a:ea typeface="Garamond" pitchFamily="34" charset="-122"/>
                <a:cs typeface="Garamond" pitchFamily="34" charset="-120"/>
              </a:rPr>
              <a:t>08</a:t>
            </a:r>
            <a:endParaRPr lang="en-US" sz="1200" dirty="0"/>
          </a:p>
        </p:txBody>
      </p:sp>
      <p:sp>
        <p:nvSpPr>
          <p:cNvPr id="3" name="Shape 1"/>
          <p:cNvSpPr/>
          <p:nvPr/>
        </p:nvSpPr>
        <p:spPr>
          <a:xfrm>
            <a:off x="1691640" y="502920"/>
            <a:ext cx="365760" cy="0"/>
          </a:xfrm>
          <a:prstGeom prst="line">
            <a:avLst/>
          </a:prstGeom>
          <a:noFill/>
          <a:ln w="8890">
            <a:solidFill>
              <a:srgbClr val="722F37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286000" y="36576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i="1" spc="400" kern="0" dirty="0">
                <a:solidFill>
                  <a:srgbClr val="1F2937"/>
                </a:solidFill>
                <a:latin typeface="Garamond" pitchFamily="34" charset="0"/>
                <a:ea typeface="Garamond" pitchFamily="34" charset="-122"/>
                <a:cs typeface="Garamond" pitchFamily="34" charset="-120"/>
              </a:rPr>
              <a:t>UNIT ECONOMICS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10058400" y="365760"/>
            <a:ext cx="1645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i="1" dirty="0">
                <a:solidFill>
                  <a:srgbClr val="6B6B6B"/>
                </a:solidFill>
                <a:latin typeface="Garamond" pitchFamily="34" charset="0"/>
                <a:ea typeface="Garamond" pitchFamily="34" charset="-122"/>
                <a:cs typeface="Garamond" pitchFamily="34" charset="-120"/>
              </a:rPr>
              <a:t>p.09 / 18</a:t>
            </a:r>
            <a:endParaRPr lang="en-US" sz="1000" dirty="0"/>
          </a:p>
        </p:txBody>
      </p:sp>
      <p:sp>
        <p:nvSpPr>
          <p:cNvPr id="6" name="Shape 4"/>
          <p:cNvSpPr/>
          <p:nvPr/>
        </p:nvSpPr>
        <p:spPr>
          <a:xfrm>
            <a:off x="457200" y="777240"/>
            <a:ext cx="11247120" cy="0"/>
          </a:xfrm>
          <a:prstGeom prst="line">
            <a:avLst/>
          </a:prstGeom>
          <a:noFill/>
          <a:ln w="8890">
            <a:solidFill>
              <a:srgbClr val="722F37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57200" y="1005840"/>
            <a:ext cx="109728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722F3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단위 경제성. LTV/CAC 24.6배 — 페이백 3.2개월.</a:t>
            </a:r>
            <a:endParaRPr lang="en-US" sz="2200" dirty="0"/>
          </a:p>
        </p:txBody>
      </p:sp>
      <p:graphicFrame>
        <p:nvGraphicFramePr>
          <p:cNvPr id="10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783080"/>
          <a:ext cx="11247120" cy="914400"/>
        </p:xfrm>
        <a:graphic>
          <a:graphicData uri="http://schemas.openxmlformats.org/drawingml/2006/table">
            <a:tbl>
              <a:tblPr/>
              <a:tblGrid>
                <a:gridCol w="2811780"/>
                <a:gridCol w="2811780"/>
                <a:gridCol w="2811780"/>
                <a:gridCol w="2811780"/>
              </a:tblGrid>
              <a:tr h="50292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F8F4EC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지표</a:t>
                      </a:r>
                      <a:endParaRPr lang="en-US" sz="12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6CF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CF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CF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CF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722F3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F8F4EC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BASIC</a:t>
                      </a:r>
                      <a:endParaRPr lang="en-US" sz="12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6CF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CF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CF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CF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293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F8F4EC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STANDARD</a:t>
                      </a:r>
                      <a:endParaRPr lang="en-US" sz="12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6CF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CF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CF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CF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722F3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F8F4EC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PREMIUM</a:t>
                      </a:r>
                      <a:endParaRPr lang="en-US" sz="12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6CF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CF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CF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CF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2937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000000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월 ARPU</a:t>
                      </a:r>
                      <a:endParaRPr lang="en-US" sz="12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6CF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CF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CF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CF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Arial Black" pitchFamily="34" charset="0"/>
                          <a:ea typeface="Arial Black" pitchFamily="34" charset="-122"/>
                          <a:cs typeface="Arial Black" pitchFamily="34" charset="-120"/>
                        </a:rPr>
                        <a:t>39,000</a:t>
                      </a:r>
                      <a:endParaRPr lang="en-US" sz="1200" dirty="0">
                        <a:latin typeface="Arial Black" charset="0"/>
                        <a:ea typeface="Arial Black" charset="0"/>
                        <a:cs typeface="Arial Black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6CF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CF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CF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CF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Arial Black" pitchFamily="34" charset="0"/>
                          <a:ea typeface="Arial Black" pitchFamily="34" charset="-122"/>
                          <a:cs typeface="Arial Black" pitchFamily="34" charset="-120"/>
                        </a:rPr>
                        <a:t>69,000</a:t>
                      </a:r>
                      <a:endParaRPr lang="en-US" sz="1200" dirty="0">
                        <a:latin typeface="Arial Black" charset="0"/>
                        <a:ea typeface="Arial Black" charset="0"/>
                        <a:cs typeface="Arial Black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6CF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CF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CF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CF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Arial Black" pitchFamily="34" charset="0"/>
                          <a:ea typeface="Arial Black" pitchFamily="34" charset="-122"/>
                          <a:cs typeface="Arial Black" pitchFamily="34" charset="-120"/>
                        </a:rPr>
                        <a:t>119,000</a:t>
                      </a:r>
                      <a:endParaRPr lang="en-US" sz="1200" dirty="0">
                        <a:latin typeface="Arial Black" charset="0"/>
                        <a:ea typeface="Arial Black" charset="0"/>
                        <a:cs typeface="Arial Black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6CF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CF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CF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CF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000000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원가</a:t>
                      </a:r>
                      <a:endParaRPr lang="en-US" sz="12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6CF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CF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CF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CF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Arial Black" pitchFamily="34" charset="0"/>
                          <a:ea typeface="Arial Black" pitchFamily="34" charset="-122"/>
                          <a:cs typeface="Arial Black" pitchFamily="34" charset="-120"/>
                        </a:rPr>
                        <a:t>8,400</a:t>
                      </a:r>
                      <a:endParaRPr lang="en-US" sz="1200" dirty="0">
                        <a:latin typeface="Arial Black" charset="0"/>
                        <a:ea typeface="Arial Black" charset="0"/>
                        <a:cs typeface="Arial Black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6CF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CF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CF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CF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Arial Black" pitchFamily="34" charset="0"/>
                          <a:ea typeface="Arial Black" pitchFamily="34" charset="-122"/>
                          <a:cs typeface="Arial Black" pitchFamily="34" charset="-120"/>
                        </a:rPr>
                        <a:t>16,800</a:t>
                      </a:r>
                      <a:endParaRPr lang="en-US" sz="1200" dirty="0">
                        <a:latin typeface="Arial Black" charset="0"/>
                        <a:ea typeface="Arial Black" charset="0"/>
                        <a:cs typeface="Arial Black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6CF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CF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CF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CF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Arial Black" pitchFamily="34" charset="0"/>
                          <a:ea typeface="Arial Black" pitchFamily="34" charset="-122"/>
                          <a:cs typeface="Arial Black" pitchFamily="34" charset="-120"/>
                        </a:rPr>
                        <a:t>32,000</a:t>
                      </a:r>
                      <a:endParaRPr lang="en-US" sz="1200" dirty="0">
                        <a:latin typeface="Arial Black" charset="0"/>
                        <a:ea typeface="Arial Black" charset="0"/>
                        <a:cs typeface="Arial Black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6CF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CF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CF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CF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000000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월 마진</a:t>
                      </a:r>
                      <a:endParaRPr lang="en-US" sz="12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6CF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CF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CF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CF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722F37"/>
                          </a:solidFill>
                          <a:latin typeface="Arial Black" pitchFamily="34" charset="0"/>
                          <a:ea typeface="Arial Black" pitchFamily="34" charset="-122"/>
                          <a:cs typeface="Arial Black" pitchFamily="34" charset="-120"/>
                        </a:rPr>
                        <a:t>30,600</a:t>
                      </a:r>
                      <a:endParaRPr lang="en-US" sz="1200" dirty="0">
                        <a:latin typeface="Arial Black" charset="0"/>
                        <a:ea typeface="Arial Black" charset="0"/>
                        <a:cs typeface="Arial Black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6CF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CF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CF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CF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722F37"/>
                          </a:solidFill>
                          <a:latin typeface="Arial Black" pitchFamily="34" charset="0"/>
                          <a:ea typeface="Arial Black" pitchFamily="34" charset="-122"/>
                          <a:cs typeface="Arial Black" pitchFamily="34" charset="-120"/>
                        </a:rPr>
                        <a:t>52,200</a:t>
                      </a:r>
                      <a:endParaRPr lang="en-US" sz="1200" dirty="0">
                        <a:latin typeface="Arial Black" charset="0"/>
                        <a:ea typeface="Arial Black" charset="0"/>
                        <a:cs typeface="Arial Black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6CF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CF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CF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CF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722F37"/>
                          </a:solidFill>
                          <a:latin typeface="Arial Black" pitchFamily="34" charset="0"/>
                          <a:ea typeface="Arial Black" pitchFamily="34" charset="-122"/>
                          <a:cs typeface="Arial Black" pitchFamily="34" charset="-120"/>
                        </a:rPr>
                        <a:t>87,000</a:t>
                      </a:r>
                      <a:endParaRPr lang="en-US" sz="1200" dirty="0">
                        <a:latin typeface="Arial Black" charset="0"/>
                        <a:ea typeface="Arial Black" charset="0"/>
                        <a:cs typeface="Arial Black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6CF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CF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CF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CF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000000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마진율</a:t>
                      </a:r>
                      <a:endParaRPr lang="en-US" sz="12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6CF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CF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CF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CF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5B7553"/>
                          </a:solidFill>
                          <a:latin typeface="Arial Black" pitchFamily="34" charset="0"/>
                          <a:ea typeface="Arial Black" pitchFamily="34" charset="-122"/>
                          <a:cs typeface="Arial Black" pitchFamily="34" charset="-120"/>
                        </a:rPr>
                        <a:t>78%</a:t>
                      </a:r>
                      <a:endParaRPr lang="en-US" sz="1200" dirty="0">
                        <a:latin typeface="Arial Black" charset="0"/>
                        <a:ea typeface="Arial Black" charset="0"/>
                        <a:cs typeface="Arial Black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6CF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CF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CF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CF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5B7553"/>
                          </a:solidFill>
                          <a:latin typeface="Arial Black" pitchFamily="34" charset="0"/>
                          <a:ea typeface="Arial Black" pitchFamily="34" charset="-122"/>
                          <a:cs typeface="Arial Black" pitchFamily="34" charset="-120"/>
                        </a:rPr>
                        <a:t>76%</a:t>
                      </a:r>
                      <a:endParaRPr lang="en-US" sz="1200" dirty="0">
                        <a:latin typeface="Arial Black" charset="0"/>
                        <a:ea typeface="Arial Black" charset="0"/>
                        <a:cs typeface="Arial Black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6CF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CF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CF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CF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5B7553"/>
                          </a:solidFill>
                          <a:latin typeface="Arial Black" pitchFamily="34" charset="0"/>
                          <a:ea typeface="Arial Black" pitchFamily="34" charset="-122"/>
                          <a:cs typeface="Arial Black" pitchFamily="34" charset="-120"/>
                        </a:rPr>
                        <a:t>73%</a:t>
                      </a:r>
                      <a:endParaRPr lang="en-US" sz="1200" dirty="0">
                        <a:latin typeface="Arial Black" charset="0"/>
                        <a:ea typeface="Arial Black" charset="0"/>
                        <a:cs typeface="Arial Black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6CF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CF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CF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CF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000000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이탈 (월)</a:t>
                      </a:r>
                      <a:endParaRPr lang="en-US" sz="12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6CF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CF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CF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CF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Arial Black" pitchFamily="34" charset="0"/>
                          <a:ea typeface="Arial Black" pitchFamily="34" charset="-122"/>
                          <a:cs typeface="Arial Black" pitchFamily="34" charset="-120"/>
                        </a:rPr>
                        <a:t>2.4%</a:t>
                      </a:r>
                      <a:endParaRPr lang="en-US" sz="1200" dirty="0">
                        <a:latin typeface="Arial Black" charset="0"/>
                        <a:ea typeface="Arial Black" charset="0"/>
                        <a:cs typeface="Arial Black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6CF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CF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CF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CF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Arial Black" pitchFamily="34" charset="0"/>
                          <a:ea typeface="Arial Black" pitchFamily="34" charset="-122"/>
                          <a:cs typeface="Arial Black" pitchFamily="34" charset="-120"/>
                        </a:rPr>
                        <a:t>1.8%</a:t>
                      </a:r>
                      <a:endParaRPr lang="en-US" sz="1200" dirty="0">
                        <a:latin typeface="Arial Black" charset="0"/>
                        <a:ea typeface="Arial Black" charset="0"/>
                        <a:cs typeface="Arial Black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6CF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CF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CF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CF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Arial Black" pitchFamily="34" charset="0"/>
                          <a:ea typeface="Arial Black" pitchFamily="34" charset="-122"/>
                          <a:cs typeface="Arial Black" pitchFamily="34" charset="-120"/>
                        </a:rPr>
                        <a:t>0.9%</a:t>
                      </a:r>
                      <a:endParaRPr lang="en-US" sz="1200" dirty="0">
                        <a:latin typeface="Arial Black" charset="0"/>
                        <a:ea typeface="Arial Black" charset="0"/>
                        <a:cs typeface="Arial Black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6CF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CF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CF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CF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000000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LTV</a:t>
                      </a:r>
                      <a:endParaRPr lang="en-US" sz="12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6CF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CF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CF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CF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722F37"/>
                          </a:solidFill>
                          <a:latin typeface="Arial Black" pitchFamily="34" charset="0"/>
                          <a:ea typeface="Arial Black" pitchFamily="34" charset="-122"/>
                          <a:cs typeface="Arial Black" pitchFamily="34" charset="-120"/>
                        </a:rPr>
                        <a:t>1.28M</a:t>
                      </a:r>
                      <a:endParaRPr lang="en-US" sz="1200" dirty="0">
                        <a:latin typeface="Arial Black" charset="0"/>
                        <a:ea typeface="Arial Black" charset="0"/>
                        <a:cs typeface="Arial Black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6CF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CF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CF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CF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722F37"/>
                          </a:solidFill>
                          <a:latin typeface="Arial Black" pitchFamily="34" charset="0"/>
                          <a:ea typeface="Arial Black" pitchFamily="34" charset="-122"/>
                          <a:cs typeface="Arial Black" pitchFamily="34" charset="-120"/>
                        </a:rPr>
                        <a:t>2.90M</a:t>
                      </a:r>
                      <a:endParaRPr lang="en-US" sz="1200" dirty="0">
                        <a:latin typeface="Arial Black" charset="0"/>
                        <a:ea typeface="Arial Black" charset="0"/>
                        <a:cs typeface="Arial Black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6CF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CF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CF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CF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722F37"/>
                          </a:solidFill>
                          <a:latin typeface="Arial Black" pitchFamily="34" charset="0"/>
                          <a:ea typeface="Arial Black" pitchFamily="34" charset="-122"/>
                          <a:cs typeface="Arial Black" pitchFamily="34" charset="-120"/>
                        </a:rPr>
                        <a:t>9.67M</a:t>
                      </a:r>
                      <a:endParaRPr lang="en-US" sz="1200" dirty="0">
                        <a:latin typeface="Arial Black" charset="0"/>
                        <a:ea typeface="Arial Black" charset="0"/>
                        <a:cs typeface="Arial Black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6CF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CF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CF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CF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000000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CAC</a:t>
                      </a:r>
                      <a:endParaRPr lang="en-US" sz="12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6CF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CF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CF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CF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Arial Black" pitchFamily="34" charset="0"/>
                          <a:ea typeface="Arial Black" pitchFamily="34" charset="-122"/>
                          <a:cs typeface="Arial Black" pitchFamily="34" charset="-120"/>
                        </a:rPr>
                        <a:t>52,000</a:t>
                      </a:r>
                      <a:endParaRPr lang="en-US" sz="1200" dirty="0">
                        <a:latin typeface="Arial Black" charset="0"/>
                        <a:ea typeface="Arial Black" charset="0"/>
                        <a:cs typeface="Arial Black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6CF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CF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CF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CF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Arial Black" pitchFamily="34" charset="0"/>
                          <a:ea typeface="Arial Black" pitchFamily="34" charset="-122"/>
                          <a:cs typeface="Arial Black" pitchFamily="34" charset="-120"/>
                        </a:rPr>
                        <a:t>118,000</a:t>
                      </a:r>
                      <a:endParaRPr lang="en-US" sz="1200" dirty="0">
                        <a:latin typeface="Arial Black" charset="0"/>
                        <a:ea typeface="Arial Black" charset="0"/>
                        <a:cs typeface="Arial Black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6CF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CF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CF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CF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Arial Black" pitchFamily="34" charset="0"/>
                          <a:ea typeface="Arial Black" pitchFamily="34" charset="-122"/>
                          <a:cs typeface="Arial Black" pitchFamily="34" charset="-120"/>
                        </a:rPr>
                        <a:t>240,000</a:t>
                      </a:r>
                      <a:endParaRPr lang="en-US" sz="1200" dirty="0">
                        <a:latin typeface="Arial Black" charset="0"/>
                        <a:ea typeface="Arial Black" charset="0"/>
                        <a:cs typeface="Arial Black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6CF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CF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CF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CF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000000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LTV/CAC</a:t>
                      </a:r>
                      <a:endParaRPr lang="en-US" sz="12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6CF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CF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CF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CF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722F37"/>
                          </a:solidFill>
                          <a:latin typeface="Arial Black" pitchFamily="34" charset="0"/>
                          <a:ea typeface="Arial Black" pitchFamily="34" charset="-122"/>
                          <a:cs typeface="Arial Black" pitchFamily="34" charset="-120"/>
                        </a:rPr>
                        <a:t>24.6x</a:t>
                      </a:r>
                      <a:endParaRPr lang="en-US" sz="1200" dirty="0">
                        <a:latin typeface="Arial Black" charset="0"/>
                        <a:ea typeface="Arial Black" charset="0"/>
                        <a:cs typeface="Arial Black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6CF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CF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CF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CF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722F37"/>
                          </a:solidFill>
                          <a:latin typeface="Arial Black" pitchFamily="34" charset="0"/>
                          <a:ea typeface="Arial Black" pitchFamily="34" charset="-122"/>
                          <a:cs typeface="Arial Black" pitchFamily="34" charset="-120"/>
                        </a:rPr>
                        <a:t>24.6x</a:t>
                      </a:r>
                      <a:endParaRPr lang="en-US" sz="1200" dirty="0">
                        <a:latin typeface="Arial Black" charset="0"/>
                        <a:ea typeface="Arial Black" charset="0"/>
                        <a:cs typeface="Arial Black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6CF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CF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CF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CF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722F37"/>
                          </a:solidFill>
                          <a:latin typeface="Arial Black" pitchFamily="34" charset="0"/>
                          <a:ea typeface="Arial Black" pitchFamily="34" charset="-122"/>
                          <a:cs typeface="Arial Black" pitchFamily="34" charset="-120"/>
                        </a:rPr>
                        <a:t>40.3x</a:t>
                      </a:r>
                      <a:endParaRPr lang="en-US" sz="1200" dirty="0">
                        <a:latin typeface="Arial Black" charset="0"/>
                        <a:ea typeface="Arial Black" charset="0"/>
                        <a:cs typeface="Arial Black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6CF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CF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CF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CF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8F4E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1371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i="1" dirty="0">
                <a:solidFill>
                  <a:srgbClr val="722F37"/>
                </a:solidFill>
                <a:latin typeface="Garamond" pitchFamily="34" charset="0"/>
                <a:ea typeface="Garamond" pitchFamily="34" charset="-122"/>
                <a:cs typeface="Garamond" pitchFamily="34" charset="-120"/>
              </a:rPr>
              <a:t>09</a:t>
            </a:r>
            <a:endParaRPr lang="en-US" sz="1200" dirty="0"/>
          </a:p>
        </p:txBody>
      </p:sp>
      <p:sp>
        <p:nvSpPr>
          <p:cNvPr id="3" name="Shape 1"/>
          <p:cNvSpPr/>
          <p:nvPr/>
        </p:nvSpPr>
        <p:spPr>
          <a:xfrm>
            <a:off x="1691640" y="502920"/>
            <a:ext cx="365760" cy="0"/>
          </a:xfrm>
          <a:prstGeom prst="line">
            <a:avLst/>
          </a:prstGeom>
          <a:noFill/>
          <a:ln w="8890">
            <a:solidFill>
              <a:srgbClr val="722F37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286000" y="36576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i="1" spc="400" kern="0" dirty="0">
                <a:solidFill>
                  <a:srgbClr val="1F2937"/>
                </a:solidFill>
                <a:latin typeface="Garamond" pitchFamily="34" charset="0"/>
                <a:ea typeface="Garamond" pitchFamily="34" charset="-122"/>
                <a:cs typeface="Garamond" pitchFamily="34" charset="-120"/>
              </a:rPr>
              <a:t>GO-TO-MARKET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10058400" y="365760"/>
            <a:ext cx="1645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i="1" dirty="0">
                <a:solidFill>
                  <a:srgbClr val="6B6B6B"/>
                </a:solidFill>
                <a:latin typeface="Garamond" pitchFamily="34" charset="0"/>
                <a:ea typeface="Garamond" pitchFamily="34" charset="-122"/>
                <a:cs typeface="Garamond" pitchFamily="34" charset="-120"/>
              </a:rPr>
              <a:t>p.10 / 18</a:t>
            </a:r>
            <a:endParaRPr lang="en-US" sz="1000" dirty="0"/>
          </a:p>
        </p:txBody>
      </p:sp>
      <p:sp>
        <p:nvSpPr>
          <p:cNvPr id="6" name="Shape 4"/>
          <p:cNvSpPr/>
          <p:nvPr/>
        </p:nvSpPr>
        <p:spPr>
          <a:xfrm>
            <a:off x="457200" y="777240"/>
            <a:ext cx="11247120" cy="0"/>
          </a:xfrm>
          <a:prstGeom prst="line">
            <a:avLst/>
          </a:prstGeom>
          <a:noFill/>
          <a:ln w="8890">
            <a:solidFill>
              <a:srgbClr val="722F37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57200" y="1005840"/>
            <a:ext cx="109728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722F3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GTM. 자녀 타겟 + 요양 시설 협력 + 보험사 번들.</a:t>
            </a:r>
            <a:endParaRPr lang="en-US" sz="2200" dirty="0"/>
          </a:p>
        </p:txBody>
      </p:sp>
      <p:sp>
        <p:nvSpPr>
          <p:cNvPr id="8" name="Text 6"/>
          <p:cNvSpPr/>
          <p:nvPr/>
        </p:nvSpPr>
        <p:spPr>
          <a:xfrm>
            <a:off x="457200" y="1874520"/>
            <a:ext cx="7315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i="1" dirty="0">
                <a:solidFill>
                  <a:srgbClr val="722F37"/>
                </a:solidFill>
                <a:latin typeface="Palatino" pitchFamily="34" charset="0"/>
                <a:ea typeface="Palatino" pitchFamily="34" charset="-122"/>
                <a:cs typeface="Palatino" pitchFamily="34" charset="-120"/>
              </a:rPr>
              <a:t>01</a:t>
            </a:r>
            <a:endParaRPr lang="en-US" sz="2800" dirty="0"/>
          </a:p>
        </p:txBody>
      </p:sp>
      <p:sp>
        <p:nvSpPr>
          <p:cNvPr id="9" name="Text 7"/>
          <p:cNvSpPr/>
          <p:nvPr/>
        </p:nvSpPr>
        <p:spPr>
          <a:xfrm>
            <a:off x="1371600" y="1874520"/>
            <a:ext cx="5029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A1A1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자녀 타겟 (B2C)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1371600" y="2286000"/>
            <a:ext cx="5029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B6B6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유튜브·인스타·카카오 광고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6858000" y="1965960"/>
            <a:ext cx="4846320" cy="640080"/>
          </a:xfrm>
          <a:prstGeom prst="rect">
            <a:avLst/>
          </a:prstGeom>
          <a:solidFill>
            <a:srgbClr val="F8F4EC"/>
          </a:solidFill>
          <a:ln w="6350">
            <a:solidFill>
              <a:srgbClr val="722F37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6858000" y="1965960"/>
            <a:ext cx="48463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722F3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월 신규 280명 / CAC ₩38,000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457200" y="2743200"/>
            <a:ext cx="11247120" cy="0"/>
          </a:xfrm>
          <a:prstGeom prst="line">
            <a:avLst/>
          </a:prstGeom>
          <a:noFill/>
          <a:ln w="3810">
            <a:solidFill>
              <a:srgbClr val="D6CFC2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457200" y="2971800"/>
            <a:ext cx="7315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i="1" dirty="0">
                <a:solidFill>
                  <a:srgbClr val="722F37"/>
                </a:solidFill>
                <a:latin typeface="Palatino" pitchFamily="34" charset="0"/>
                <a:ea typeface="Palatino" pitchFamily="34" charset="-122"/>
                <a:cs typeface="Palatino" pitchFamily="34" charset="-120"/>
              </a:rPr>
              <a:t>02</a:t>
            </a:r>
            <a:endParaRPr lang="en-US" sz="2800" dirty="0"/>
          </a:p>
        </p:txBody>
      </p:sp>
      <p:sp>
        <p:nvSpPr>
          <p:cNvPr id="15" name="Text 13"/>
          <p:cNvSpPr/>
          <p:nvPr/>
        </p:nvSpPr>
        <p:spPr>
          <a:xfrm>
            <a:off x="1371600" y="2971800"/>
            <a:ext cx="5029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A1A1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요양 시설 협력 (B2B)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1371600" y="3383280"/>
            <a:ext cx="5029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B6B6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전국 요양 시설 + 노인 복지관 320곳 MOU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6858000" y="3063240"/>
            <a:ext cx="4846320" cy="640080"/>
          </a:xfrm>
          <a:prstGeom prst="rect">
            <a:avLst/>
          </a:prstGeom>
          <a:solidFill>
            <a:srgbClr val="F8F4EC"/>
          </a:solidFill>
          <a:ln w="6350">
            <a:solidFill>
              <a:srgbClr val="722F37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6858000" y="3063240"/>
            <a:ext cx="48463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722F3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월 신규 180명 / CAC ₩22,000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457200" y="3840480"/>
            <a:ext cx="11247120" cy="0"/>
          </a:xfrm>
          <a:prstGeom prst="line">
            <a:avLst/>
          </a:prstGeom>
          <a:noFill/>
          <a:ln w="3810">
            <a:solidFill>
              <a:srgbClr val="D6CFC2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457200" y="4069080"/>
            <a:ext cx="7315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i="1" dirty="0">
                <a:solidFill>
                  <a:srgbClr val="722F37"/>
                </a:solidFill>
                <a:latin typeface="Palatino" pitchFamily="34" charset="0"/>
                <a:ea typeface="Palatino" pitchFamily="34" charset="-122"/>
                <a:cs typeface="Palatino" pitchFamily="34" charset="-120"/>
              </a:rPr>
              <a:t>03</a:t>
            </a:r>
            <a:endParaRPr lang="en-US" sz="2800" dirty="0"/>
          </a:p>
        </p:txBody>
      </p:sp>
      <p:sp>
        <p:nvSpPr>
          <p:cNvPr id="21" name="Text 19"/>
          <p:cNvSpPr/>
          <p:nvPr/>
        </p:nvSpPr>
        <p:spPr>
          <a:xfrm>
            <a:off x="1371600" y="4069080"/>
            <a:ext cx="5029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A1A1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보험사 번들 (B2B2C)</a:t>
            </a:r>
            <a:endParaRPr lang="en-US" sz="1600" dirty="0"/>
          </a:p>
        </p:txBody>
      </p:sp>
      <p:sp>
        <p:nvSpPr>
          <p:cNvPr id="22" name="Text 20"/>
          <p:cNvSpPr/>
          <p:nvPr/>
        </p:nvSpPr>
        <p:spPr>
          <a:xfrm>
            <a:off x="1371600" y="4480560"/>
            <a:ext cx="5029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B6B6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삼성생명·교보생명 시니어 보험 번들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6858000" y="4160520"/>
            <a:ext cx="4846320" cy="640080"/>
          </a:xfrm>
          <a:prstGeom prst="rect">
            <a:avLst/>
          </a:prstGeom>
          <a:solidFill>
            <a:srgbClr val="F8F4EC"/>
          </a:solidFill>
          <a:ln w="6350">
            <a:solidFill>
              <a:srgbClr val="722F37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6858000" y="4160520"/>
            <a:ext cx="48463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722F3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월 신규 120명 / CAC ₩15,000</a:t>
            </a:r>
            <a:endParaRPr lang="en-US" sz="1200" dirty="0"/>
          </a:p>
        </p:txBody>
      </p:sp>
      <p:sp>
        <p:nvSpPr>
          <p:cNvPr id="25" name="Shape 23"/>
          <p:cNvSpPr/>
          <p:nvPr/>
        </p:nvSpPr>
        <p:spPr>
          <a:xfrm>
            <a:off x="457200" y="4937760"/>
            <a:ext cx="11247120" cy="0"/>
          </a:xfrm>
          <a:prstGeom prst="line">
            <a:avLst/>
          </a:prstGeom>
          <a:noFill/>
          <a:ln w="3810">
            <a:solidFill>
              <a:srgbClr val="D6CFC2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457200" y="5166360"/>
            <a:ext cx="7315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i="1" dirty="0">
                <a:solidFill>
                  <a:srgbClr val="722F37"/>
                </a:solidFill>
                <a:latin typeface="Palatino" pitchFamily="34" charset="0"/>
                <a:ea typeface="Palatino" pitchFamily="34" charset="-122"/>
                <a:cs typeface="Palatino" pitchFamily="34" charset="-120"/>
              </a:rPr>
              <a:t>04</a:t>
            </a:r>
            <a:endParaRPr lang="en-US" sz="2800" dirty="0"/>
          </a:p>
        </p:txBody>
      </p:sp>
      <p:sp>
        <p:nvSpPr>
          <p:cNvPr id="27" name="Text 25"/>
          <p:cNvSpPr/>
          <p:nvPr/>
        </p:nvSpPr>
        <p:spPr>
          <a:xfrm>
            <a:off x="1371600" y="5166360"/>
            <a:ext cx="5029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A1A1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병원 추천</a:t>
            </a:r>
            <a:endParaRPr lang="en-US" sz="1600" dirty="0"/>
          </a:p>
        </p:txBody>
      </p:sp>
      <p:sp>
        <p:nvSpPr>
          <p:cNvPr id="28" name="Text 26"/>
          <p:cNvSpPr/>
          <p:nvPr/>
        </p:nvSpPr>
        <p:spPr>
          <a:xfrm>
            <a:off x="1371600" y="5577840"/>
            <a:ext cx="5029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B6B6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삼성서울·서울대병원 노인의학과 추천</a:t>
            </a:r>
            <a:endParaRPr lang="en-US" sz="1100" dirty="0"/>
          </a:p>
        </p:txBody>
      </p:sp>
      <p:sp>
        <p:nvSpPr>
          <p:cNvPr id="29" name="Shape 27"/>
          <p:cNvSpPr/>
          <p:nvPr/>
        </p:nvSpPr>
        <p:spPr>
          <a:xfrm>
            <a:off x="6858000" y="5257800"/>
            <a:ext cx="4846320" cy="640080"/>
          </a:xfrm>
          <a:prstGeom prst="rect">
            <a:avLst/>
          </a:prstGeom>
          <a:solidFill>
            <a:srgbClr val="F8F4EC"/>
          </a:solidFill>
          <a:ln w="6350">
            <a:solidFill>
              <a:srgbClr val="722F37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6858000" y="5257800"/>
            <a:ext cx="48463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722F3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월 신규 80명 / CAC ₩48,000</a:t>
            </a:r>
            <a:endParaRPr lang="en-US" sz="1200" dirty="0"/>
          </a:p>
        </p:txBody>
      </p:sp>
      <p:sp>
        <p:nvSpPr>
          <p:cNvPr id="31" name="Shape 29"/>
          <p:cNvSpPr/>
          <p:nvPr/>
        </p:nvSpPr>
        <p:spPr>
          <a:xfrm>
            <a:off x="457200" y="6035040"/>
            <a:ext cx="11247120" cy="0"/>
          </a:xfrm>
          <a:prstGeom prst="line">
            <a:avLst/>
          </a:prstGeom>
          <a:noFill/>
          <a:ln w="3810">
            <a:solidFill>
              <a:srgbClr val="D6CFC2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457200" y="6263640"/>
            <a:ext cx="10972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i="1" dirty="0">
                <a:solidFill>
                  <a:srgbClr val="722F3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종합 CAC ₩30,750 / LTV ₩2.9M (STANDARD) / LTV/CAC 94x / 페이백 1.6개월</a:t>
            </a:r>
            <a:endParaRPr lang="en-US" sz="12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8F4E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1371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i="1" dirty="0">
                <a:solidFill>
                  <a:srgbClr val="722F37"/>
                </a:solidFill>
                <a:latin typeface="Garamond" pitchFamily="34" charset="0"/>
                <a:ea typeface="Garamond" pitchFamily="34" charset="-122"/>
                <a:cs typeface="Garamond" pitchFamily="34" charset="-120"/>
              </a:rPr>
              <a:t>10</a:t>
            </a:r>
            <a:endParaRPr lang="en-US" sz="1200" dirty="0"/>
          </a:p>
        </p:txBody>
      </p:sp>
      <p:sp>
        <p:nvSpPr>
          <p:cNvPr id="3" name="Shape 1"/>
          <p:cNvSpPr/>
          <p:nvPr/>
        </p:nvSpPr>
        <p:spPr>
          <a:xfrm>
            <a:off x="1691640" y="502920"/>
            <a:ext cx="365760" cy="0"/>
          </a:xfrm>
          <a:prstGeom prst="line">
            <a:avLst/>
          </a:prstGeom>
          <a:noFill/>
          <a:ln w="8890">
            <a:solidFill>
              <a:srgbClr val="722F37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286000" y="36576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i="1" spc="400" kern="0" dirty="0">
                <a:solidFill>
                  <a:srgbClr val="1F2937"/>
                </a:solidFill>
                <a:latin typeface="Garamond" pitchFamily="34" charset="0"/>
                <a:ea typeface="Garamond" pitchFamily="34" charset="-122"/>
                <a:cs typeface="Garamond" pitchFamily="34" charset="-120"/>
              </a:rPr>
              <a:t>COMPETITION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10058400" y="365760"/>
            <a:ext cx="1645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i="1" dirty="0">
                <a:solidFill>
                  <a:srgbClr val="6B6B6B"/>
                </a:solidFill>
                <a:latin typeface="Garamond" pitchFamily="34" charset="0"/>
                <a:ea typeface="Garamond" pitchFamily="34" charset="-122"/>
                <a:cs typeface="Garamond" pitchFamily="34" charset="-120"/>
              </a:rPr>
              <a:t>p.11 / 18</a:t>
            </a:r>
            <a:endParaRPr lang="en-US" sz="1000" dirty="0"/>
          </a:p>
        </p:txBody>
      </p:sp>
      <p:sp>
        <p:nvSpPr>
          <p:cNvPr id="6" name="Shape 4"/>
          <p:cNvSpPr/>
          <p:nvPr/>
        </p:nvSpPr>
        <p:spPr>
          <a:xfrm>
            <a:off x="457200" y="777240"/>
            <a:ext cx="11247120" cy="0"/>
          </a:xfrm>
          <a:prstGeom prst="line">
            <a:avLst/>
          </a:prstGeom>
          <a:noFill/>
          <a:ln w="8890">
            <a:solidFill>
              <a:srgbClr val="722F37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57200" y="1005840"/>
            <a:ext cx="109728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722F3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경쟁. 통합 케어 + 한국 시니어 특화 = 우리뿐.</a:t>
            </a:r>
            <a:endParaRPr lang="en-US" sz="2200" dirty="0"/>
          </a:p>
        </p:txBody>
      </p:sp>
      <p:graphicFrame>
        <p:nvGraphicFramePr>
          <p:cNvPr id="12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783080"/>
          <a:ext cx="11247120" cy="914400"/>
        </p:xfrm>
        <a:graphic>
          <a:graphicData uri="http://schemas.openxmlformats.org/drawingml/2006/table">
            <a:tbl>
              <a:tblPr/>
              <a:tblGrid>
                <a:gridCol w="2249424"/>
                <a:gridCol w="2249424"/>
                <a:gridCol w="2249424"/>
                <a:gridCol w="2249424"/>
                <a:gridCol w="2249424"/>
              </a:tblGrid>
              <a:tr h="54864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8F4EC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기능</a:t>
                      </a:r>
                      <a:endParaRPr lang="en-US" sz="11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6CF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CF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CF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CF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722F3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8F4EC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SilverCareLab</a:t>
                      </a:r>
                      <a:endParaRPr lang="en-US" sz="11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6CF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CF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CF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CF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5B7553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8F4EC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효돌</a:t>
                      </a:r>
                      <a:endParaRPr lang="en-US" sz="11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6CF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CF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CF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CF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293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8F4EC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스마일프렌즈</a:t>
                      </a:r>
                      <a:endParaRPr lang="en-US" sz="11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6CF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CF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CF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CF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293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8F4EC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Silvernest (US)</a:t>
                      </a:r>
                      <a:endParaRPr lang="en-US" sz="11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6CF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CF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CF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CF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2937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000000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복약 관리</a:t>
                      </a:r>
                      <a:endParaRPr lang="en-US" sz="11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6CF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CF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CF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CF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722F37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O</a:t>
                      </a:r>
                      <a:endParaRPr lang="en-US" sz="11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6CF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CF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CF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CF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X</a:t>
                      </a:r>
                      <a:endParaRPr lang="en-US" sz="11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6CF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CF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CF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CF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X</a:t>
                      </a:r>
                      <a:endParaRPr lang="en-US" sz="11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6CF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CF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CF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CF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△</a:t>
                      </a:r>
                      <a:endParaRPr lang="en-US" sz="11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6CF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CF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CF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CF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000000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낙상 감지</a:t>
                      </a:r>
                      <a:endParaRPr lang="en-US" sz="11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6CF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CF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CF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CF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722F37"/>
                          </a:solidFill>
                          <a:latin typeface="Arial Black" pitchFamily="34" charset="0"/>
                          <a:ea typeface="Arial Black" pitchFamily="34" charset="-122"/>
                          <a:cs typeface="Arial Black" pitchFamily="34" charset="-120"/>
                        </a:rPr>
                        <a:t>97.2%</a:t>
                      </a:r>
                      <a:endParaRPr lang="en-US" sz="1100" dirty="0">
                        <a:latin typeface="Arial Black" charset="0"/>
                        <a:ea typeface="Arial Black" charset="0"/>
                        <a:cs typeface="Arial Black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6CF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CF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CF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CF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X</a:t>
                      </a:r>
                      <a:endParaRPr lang="en-US" sz="11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6CF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CF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CF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CF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X</a:t>
                      </a:r>
                      <a:endParaRPr lang="en-US" sz="11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6CF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CF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CF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CF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Arial Black" pitchFamily="34" charset="0"/>
                          <a:ea typeface="Arial Black" pitchFamily="34" charset="-122"/>
                          <a:cs typeface="Arial Black" pitchFamily="34" charset="-120"/>
                        </a:rPr>
                        <a:t>92%</a:t>
                      </a:r>
                      <a:endParaRPr lang="en-US" sz="1100" dirty="0">
                        <a:latin typeface="Arial Black" charset="0"/>
                        <a:ea typeface="Arial Black" charset="0"/>
                        <a:cs typeface="Arial Black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6CF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CF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CF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CF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000000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치매 인지</a:t>
                      </a:r>
                      <a:endParaRPr lang="en-US" sz="11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6CF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CF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CF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CF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722F37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O</a:t>
                      </a:r>
                      <a:endParaRPr lang="en-US" sz="11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6CF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CF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CF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CF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△</a:t>
                      </a:r>
                      <a:endParaRPr lang="en-US" sz="11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6CF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CF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CF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CF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X</a:t>
                      </a:r>
                      <a:endParaRPr lang="en-US" sz="11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6CF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CF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CF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CF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X</a:t>
                      </a:r>
                      <a:endParaRPr lang="en-US" sz="11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6CF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CF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CF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CF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000000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의사 연결</a:t>
                      </a:r>
                      <a:endParaRPr lang="en-US" sz="11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6CF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CF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CF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CF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722F37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12명 자문</a:t>
                      </a:r>
                      <a:endParaRPr lang="en-US" sz="11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6CF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CF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CF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CF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X</a:t>
                      </a:r>
                      <a:endParaRPr lang="en-US" sz="11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6CF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CF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CF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CF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X</a:t>
                      </a:r>
                      <a:endParaRPr lang="en-US" sz="11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6CF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CF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CF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CF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O</a:t>
                      </a:r>
                      <a:endParaRPr lang="en-US" sz="11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6CF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CF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CF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CF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000000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B2G 인증</a:t>
                      </a:r>
                      <a:endParaRPr lang="en-US" sz="11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6CF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CF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CF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CF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722F37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4종</a:t>
                      </a:r>
                      <a:endParaRPr lang="en-US" sz="11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6CF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CF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CF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CF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1종</a:t>
                      </a:r>
                      <a:endParaRPr lang="en-US" sz="11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6CF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CF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CF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CF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X</a:t>
                      </a:r>
                      <a:endParaRPr lang="en-US" sz="11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6CF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CF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CF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CF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X</a:t>
                      </a:r>
                      <a:endParaRPr lang="en-US" sz="11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6CF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CF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CF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CF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000000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월 비용</a:t>
                      </a:r>
                      <a:endParaRPr lang="en-US" sz="11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6CF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CF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CF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CF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722F37"/>
                          </a:solidFill>
                          <a:latin typeface="Arial Black" pitchFamily="34" charset="0"/>
                          <a:ea typeface="Arial Black" pitchFamily="34" charset="-122"/>
                          <a:cs typeface="Arial Black" pitchFamily="34" charset="-120"/>
                        </a:rPr>
                        <a:t>₩39-119K</a:t>
                      </a:r>
                      <a:endParaRPr lang="en-US" sz="1100" dirty="0">
                        <a:latin typeface="Arial Black" charset="0"/>
                        <a:ea typeface="Arial Black" charset="0"/>
                        <a:cs typeface="Arial Black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6CF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CF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CF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CF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Arial Black" pitchFamily="34" charset="0"/>
                          <a:ea typeface="Arial Black" pitchFamily="34" charset="-122"/>
                          <a:cs typeface="Arial Black" pitchFamily="34" charset="-120"/>
                        </a:rPr>
                        <a:t>₩28K</a:t>
                      </a:r>
                      <a:endParaRPr lang="en-US" sz="1100" dirty="0">
                        <a:latin typeface="Arial Black" charset="0"/>
                        <a:ea typeface="Arial Black" charset="0"/>
                        <a:cs typeface="Arial Black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6CF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CF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CF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CF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Arial Black" pitchFamily="34" charset="0"/>
                          <a:ea typeface="Arial Black" pitchFamily="34" charset="-122"/>
                          <a:cs typeface="Arial Black" pitchFamily="34" charset="-120"/>
                        </a:rPr>
                        <a:t>₩45K</a:t>
                      </a:r>
                      <a:endParaRPr lang="en-US" sz="1100" dirty="0">
                        <a:latin typeface="Arial Black" charset="0"/>
                        <a:ea typeface="Arial Black" charset="0"/>
                        <a:cs typeface="Arial Black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6CF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CF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CF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CF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Arial Black" pitchFamily="34" charset="0"/>
                          <a:ea typeface="Arial Black" pitchFamily="34" charset="-122"/>
                          <a:cs typeface="Arial Black" pitchFamily="34" charset="-120"/>
                        </a:rPr>
                        <a:t>$200</a:t>
                      </a:r>
                      <a:endParaRPr lang="en-US" sz="1100" dirty="0">
                        <a:latin typeface="Arial Black" charset="0"/>
                        <a:ea typeface="Arial Black" charset="0"/>
                        <a:cs typeface="Arial Black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6CF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CF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CF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CF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8F4E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1371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i="1" dirty="0">
                <a:solidFill>
                  <a:srgbClr val="722F37"/>
                </a:solidFill>
                <a:latin typeface="Garamond" pitchFamily="34" charset="0"/>
                <a:ea typeface="Garamond" pitchFamily="34" charset="-122"/>
                <a:cs typeface="Garamond" pitchFamily="34" charset="-120"/>
              </a:rPr>
              <a:t>11</a:t>
            </a:r>
            <a:endParaRPr lang="en-US" sz="1200" dirty="0"/>
          </a:p>
        </p:txBody>
      </p:sp>
      <p:sp>
        <p:nvSpPr>
          <p:cNvPr id="3" name="Shape 1"/>
          <p:cNvSpPr/>
          <p:nvPr/>
        </p:nvSpPr>
        <p:spPr>
          <a:xfrm>
            <a:off x="1691640" y="502920"/>
            <a:ext cx="365760" cy="0"/>
          </a:xfrm>
          <a:prstGeom prst="line">
            <a:avLst/>
          </a:prstGeom>
          <a:noFill/>
          <a:ln w="8890">
            <a:solidFill>
              <a:srgbClr val="722F37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286000" y="36576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i="1" spc="400" kern="0" dirty="0">
                <a:solidFill>
                  <a:srgbClr val="1F2937"/>
                </a:solidFill>
                <a:latin typeface="Garamond" pitchFamily="34" charset="0"/>
                <a:ea typeface="Garamond" pitchFamily="34" charset="-122"/>
                <a:cs typeface="Garamond" pitchFamily="34" charset="-120"/>
              </a:rPr>
              <a:t>ROADMAP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10058400" y="365760"/>
            <a:ext cx="1645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i="1" dirty="0">
                <a:solidFill>
                  <a:srgbClr val="6B6B6B"/>
                </a:solidFill>
                <a:latin typeface="Garamond" pitchFamily="34" charset="0"/>
                <a:ea typeface="Garamond" pitchFamily="34" charset="-122"/>
                <a:cs typeface="Garamond" pitchFamily="34" charset="-120"/>
              </a:rPr>
              <a:t>p.12 / 18</a:t>
            </a:r>
            <a:endParaRPr lang="en-US" sz="1000" dirty="0"/>
          </a:p>
        </p:txBody>
      </p:sp>
      <p:sp>
        <p:nvSpPr>
          <p:cNvPr id="6" name="Shape 4"/>
          <p:cNvSpPr/>
          <p:nvPr/>
        </p:nvSpPr>
        <p:spPr>
          <a:xfrm>
            <a:off x="457200" y="777240"/>
            <a:ext cx="11247120" cy="0"/>
          </a:xfrm>
          <a:prstGeom prst="line">
            <a:avLst/>
          </a:prstGeom>
          <a:noFill/>
          <a:ln w="8890">
            <a:solidFill>
              <a:srgbClr val="722F37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57200" y="1005840"/>
            <a:ext cx="109728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722F3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로드맵. 18개월 → Series A 라운드까지.</a:t>
            </a:r>
            <a:endParaRPr lang="en-US" sz="2200" dirty="0"/>
          </a:p>
        </p:txBody>
      </p:sp>
      <p:sp>
        <p:nvSpPr>
          <p:cNvPr id="8" name="Shape 6"/>
          <p:cNvSpPr/>
          <p:nvPr/>
        </p:nvSpPr>
        <p:spPr>
          <a:xfrm>
            <a:off x="457200" y="1828800"/>
            <a:ext cx="1645920" cy="1188720"/>
          </a:xfrm>
          <a:prstGeom prst="rect">
            <a:avLst/>
          </a:prstGeom>
          <a:solidFill>
            <a:srgbClr val="722F37"/>
          </a:solidFill>
          <a:ln/>
        </p:spPr>
      </p:sp>
      <p:sp>
        <p:nvSpPr>
          <p:cNvPr id="9" name="Text 7"/>
          <p:cNvSpPr/>
          <p:nvPr/>
        </p:nvSpPr>
        <p:spPr>
          <a:xfrm>
            <a:off x="457200" y="1828800"/>
            <a:ext cx="164592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i="1" dirty="0">
                <a:solidFill>
                  <a:srgbClr val="F8F4EC"/>
                </a:solidFill>
                <a:latin typeface="Garamond" pitchFamily="34" charset="0"/>
                <a:ea typeface="Garamond" pitchFamily="34" charset="-122"/>
                <a:cs typeface="Garamond" pitchFamily="34" charset="-120"/>
              </a:rPr>
              <a:t>M+1~6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457200" y="2423160"/>
            <a:ext cx="164592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8F4EC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확장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2286000" y="2194560"/>
            <a:ext cx="9144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A1A1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PREMIUM 출시 / 보험사 2곳 번들 / 3,500가구</a:t>
            </a:r>
            <a:endParaRPr lang="en-US" sz="1400" dirty="0"/>
          </a:p>
        </p:txBody>
      </p:sp>
      <p:sp>
        <p:nvSpPr>
          <p:cNvPr id="12" name="Shape 10"/>
          <p:cNvSpPr/>
          <p:nvPr/>
        </p:nvSpPr>
        <p:spPr>
          <a:xfrm>
            <a:off x="457200" y="3200400"/>
            <a:ext cx="1645920" cy="1188720"/>
          </a:xfrm>
          <a:prstGeom prst="rect">
            <a:avLst/>
          </a:prstGeom>
          <a:solidFill>
            <a:srgbClr val="722F37"/>
          </a:solidFill>
          <a:ln/>
        </p:spPr>
      </p:sp>
      <p:sp>
        <p:nvSpPr>
          <p:cNvPr id="13" name="Text 11"/>
          <p:cNvSpPr/>
          <p:nvPr/>
        </p:nvSpPr>
        <p:spPr>
          <a:xfrm>
            <a:off x="457200" y="3200400"/>
            <a:ext cx="164592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i="1" dirty="0">
                <a:solidFill>
                  <a:srgbClr val="F8F4EC"/>
                </a:solidFill>
                <a:latin typeface="Garamond" pitchFamily="34" charset="0"/>
                <a:ea typeface="Garamond" pitchFamily="34" charset="-122"/>
                <a:cs typeface="Garamond" pitchFamily="34" charset="-120"/>
              </a:rPr>
              <a:t>M+7~12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457200" y="3794760"/>
            <a:ext cx="164592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8F4EC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거점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2286000" y="3566160"/>
            <a:ext cx="9144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A1A1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부산·대구 거점 확장 / 요양시설 800곳 / 6,500가구</a:t>
            </a:r>
            <a:endParaRPr lang="en-US" sz="1400" dirty="0"/>
          </a:p>
        </p:txBody>
      </p:sp>
      <p:sp>
        <p:nvSpPr>
          <p:cNvPr id="16" name="Shape 14"/>
          <p:cNvSpPr/>
          <p:nvPr/>
        </p:nvSpPr>
        <p:spPr>
          <a:xfrm>
            <a:off x="457200" y="4572000"/>
            <a:ext cx="1645920" cy="1188720"/>
          </a:xfrm>
          <a:prstGeom prst="rect">
            <a:avLst/>
          </a:prstGeom>
          <a:solidFill>
            <a:srgbClr val="722F37"/>
          </a:solidFill>
          <a:ln/>
        </p:spPr>
      </p:sp>
      <p:sp>
        <p:nvSpPr>
          <p:cNvPr id="17" name="Text 15"/>
          <p:cNvSpPr/>
          <p:nvPr/>
        </p:nvSpPr>
        <p:spPr>
          <a:xfrm>
            <a:off x="457200" y="4572000"/>
            <a:ext cx="164592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i="1" dirty="0">
                <a:solidFill>
                  <a:srgbClr val="F8F4EC"/>
                </a:solidFill>
                <a:latin typeface="Garamond" pitchFamily="34" charset="0"/>
                <a:ea typeface="Garamond" pitchFamily="34" charset="-122"/>
                <a:cs typeface="Garamond" pitchFamily="34" charset="-120"/>
              </a:rPr>
              <a:t>M+13~18</a:t>
            </a:r>
            <a:endParaRPr lang="en-US" sz="1600" dirty="0"/>
          </a:p>
        </p:txBody>
      </p:sp>
      <p:sp>
        <p:nvSpPr>
          <p:cNvPr id="18" name="Text 16"/>
          <p:cNvSpPr/>
          <p:nvPr/>
        </p:nvSpPr>
        <p:spPr>
          <a:xfrm>
            <a:off x="457200" y="5166360"/>
            <a:ext cx="164592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8F4EC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준비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2286000" y="4937760"/>
            <a:ext cx="9144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A1A1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Series A ₩4B / 12,000가구 / 일본 진출 검토</a:t>
            </a:r>
            <a:endParaRPr lang="en-US" sz="14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8F4E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1371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i="1" dirty="0">
                <a:solidFill>
                  <a:srgbClr val="722F37"/>
                </a:solidFill>
                <a:latin typeface="Garamond" pitchFamily="34" charset="0"/>
                <a:ea typeface="Garamond" pitchFamily="34" charset="-122"/>
                <a:cs typeface="Garamond" pitchFamily="34" charset="-120"/>
              </a:rPr>
              <a:t>12</a:t>
            </a:r>
            <a:endParaRPr lang="en-US" sz="1200" dirty="0"/>
          </a:p>
        </p:txBody>
      </p:sp>
      <p:sp>
        <p:nvSpPr>
          <p:cNvPr id="3" name="Shape 1"/>
          <p:cNvSpPr/>
          <p:nvPr/>
        </p:nvSpPr>
        <p:spPr>
          <a:xfrm>
            <a:off x="1691640" y="502920"/>
            <a:ext cx="365760" cy="0"/>
          </a:xfrm>
          <a:prstGeom prst="line">
            <a:avLst/>
          </a:prstGeom>
          <a:noFill/>
          <a:ln w="8890">
            <a:solidFill>
              <a:srgbClr val="722F37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286000" y="36576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i="1" spc="400" kern="0" dirty="0">
                <a:solidFill>
                  <a:srgbClr val="1F2937"/>
                </a:solidFill>
                <a:latin typeface="Garamond" pitchFamily="34" charset="0"/>
                <a:ea typeface="Garamond" pitchFamily="34" charset="-122"/>
                <a:cs typeface="Garamond" pitchFamily="34" charset="-120"/>
              </a:rPr>
              <a:t>TEAM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10058400" y="365760"/>
            <a:ext cx="1645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i="1" dirty="0">
                <a:solidFill>
                  <a:srgbClr val="6B6B6B"/>
                </a:solidFill>
                <a:latin typeface="Garamond" pitchFamily="34" charset="0"/>
                <a:ea typeface="Garamond" pitchFamily="34" charset="-122"/>
                <a:cs typeface="Garamond" pitchFamily="34" charset="-120"/>
              </a:rPr>
              <a:t>p.13 / 18</a:t>
            </a:r>
            <a:endParaRPr lang="en-US" sz="1000" dirty="0"/>
          </a:p>
        </p:txBody>
      </p:sp>
      <p:sp>
        <p:nvSpPr>
          <p:cNvPr id="6" name="Shape 4"/>
          <p:cNvSpPr/>
          <p:nvPr/>
        </p:nvSpPr>
        <p:spPr>
          <a:xfrm>
            <a:off x="457200" y="777240"/>
            <a:ext cx="11247120" cy="0"/>
          </a:xfrm>
          <a:prstGeom prst="line">
            <a:avLst/>
          </a:prstGeom>
          <a:noFill/>
          <a:ln w="8890">
            <a:solidFill>
              <a:srgbClr val="722F37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57200" y="1005840"/>
            <a:ext cx="109728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722F3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팀. 의료 + AI + 사업 — 풀스택 5명 + 자문 의사 12명.</a:t>
            </a:r>
            <a:endParaRPr lang="en-US" sz="2000" dirty="0"/>
          </a:p>
        </p:txBody>
      </p:sp>
      <p:sp>
        <p:nvSpPr>
          <p:cNvPr id="8" name="Shape 6"/>
          <p:cNvSpPr/>
          <p:nvPr/>
        </p:nvSpPr>
        <p:spPr>
          <a:xfrm>
            <a:off x="457200" y="1783080"/>
            <a:ext cx="2194560" cy="4297680"/>
          </a:xfrm>
          <a:prstGeom prst="rect">
            <a:avLst/>
          </a:prstGeom>
          <a:solidFill>
            <a:srgbClr val="FFFFFF"/>
          </a:solidFill>
          <a:ln w="6350">
            <a:solidFill>
              <a:srgbClr val="D6CFC2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457200" y="1783080"/>
            <a:ext cx="2194560" cy="137160"/>
          </a:xfrm>
          <a:prstGeom prst="rect">
            <a:avLst/>
          </a:prstGeom>
          <a:solidFill>
            <a:srgbClr val="722F37"/>
          </a:solidFill>
          <a:ln/>
        </p:spPr>
      </p:sp>
      <p:sp>
        <p:nvSpPr>
          <p:cNvPr id="10" name="Text 8"/>
          <p:cNvSpPr/>
          <p:nvPr/>
        </p:nvSpPr>
        <p:spPr>
          <a:xfrm>
            <a:off x="640080" y="2103120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spc="400" kern="0" dirty="0">
                <a:solidFill>
                  <a:srgbClr val="722F37"/>
                </a:solidFill>
                <a:latin typeface="Garamond" pitchFamily="34" charset="0"/>
                <a:ea typeface="Garamond" pitchFamily="34" charset="-122"/>
                <a:cs typeface="Garamond" pitchFamily="34" charset="-120"/>
              </a:rPr>
              <a:t>CEO</a:t>
            </a:r>
            <a:endParaRPr lang="en-US" sz="900" dirty="0"/>
          </a:p>
        </p:txBody>
      </p:sp>
      <p:sp>
        <p:nvSpPr>
          <p:cNvPr id="11" name="Text 9"/>
          <p:cNvSpPr/>
          <p:nvPr/>
        </p:nvSpPr>
        <p:spPr>
          <a:xfrm>
            <a:off x="640080" y="2377440"/>
            <a:ext cx="1828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i="1" dirty="0">
                <a:solidFill>
                  <a:srgbClr val="1A1A1A"/>
                </a:solidFill>
                <a:latin typeface="Palatino" pitchFamily="34" charset="0"/>
                <a:ea typeface="Palatino" pitchFamily="34" charset="-122"/>
                <a:cs typeface="Palatino" pitchFamily="34" charset="-120"/>
              </a:rPr>
              <a:t>Lee Soo-jin</a:t>
            </a:r>
            <a:endParaRPr lang="en-US" sz="1800" dirty="0"/>
          </a:p>
        </p:txBody>
      </p:sp>
      <p:sp>
        <p:nvSpPr>
          <p:cNvPr id="12" name="Shape 10"/>
          <p:cNvSpPr/>
          <p:nvPr/>
        </p:nvSpPr>
        <p:spPr>
          <a:xfrm>
            <a:off x="640080" y="3108960"/>
            <a:ext cx="1828800" cy="0"/>
          </a:xfrm>
          <a:prstGeom prst="line">
            <a:avLst/>
          </a:prstGeom>
          <a:noFill/>
          <a:ln w="6350">
            <a:solidFill>
              <a:srgbClr val="D6CFC2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640080" y="3246120"/>
            <a:ext cx="1828800" cy="2743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40000"/>
              </a:lnSpc>
              <a:buNone/>
            </a:pPr>
            <a:r>
              <a:rPr lang="en-US" sz="1000" dirty="0">
                <a:solidFill>
                  <a:srgbClr val="6B6B6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삼성서울병원 노인의학 7년</a:t>
            </a:r>
            <a:endParaRPr lang="en-US" sz="100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1000" dirty="0">
                <a:solidFill>
                  <a:srgbClr val="6B6B6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의사 면허 / 노인 전문의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2743200" y="1783080"/>
            <a:ext cx="2194560" cy="4297680"/>
          </a:xfrm>
          <a:prstGeom prst="rect">
            <a:avLst/>
          </a:prstGeom>
          <a:solidFill>
            <a:srgbClr val="FFFFFF"/>
          </a:solidFill>
          <a:ln w="6350">
            <a:solidFill>
              <a:srgbClr val="D6CFC2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2743200" y="1783080"/>
            <a:ext cx="2194560" cy="137160"/>
          </a:xfrm>
          <a:prstGeom prst="rect">
            <a:avLst/>
          </a:prstGeom>
          <a:solidFill>
            <a:srgbClr val="722F37"/>
          </a:solidFill>
          <a:ln/>
        </p:spPr>
      </p:sp>
      <p:sp>
        <p:nvSpPr>
          <p:cNvPr id="16" name="Text 14"/>
          <p:cNvSpPr/>
          <p:nvPr/>
        </p:nvSpPr>
        <p:spPr>
          <a:xfrm>
            <a:off x="2926080" y="2103120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spc="400" kern="0" dirty="0">
                <a:solidFill>
                  <a:srgbClr val="722F37"/>
                </a:solidFill>
                <a:latin typeface="Garamond" pitchFamily="34" charset="0"/>
                <a:ea typeface="Garamond" pitchFamily="34" charset="-122"/>
                <a:cs typeface="Garamond" pitchFamily="34" charset="-120"/>
              </a:rPr>
              <a:t>CTO</a:t>
            </a:r>
            <a:endParaRPr lang="en-US" sz="900" dirty="0"/>
          </a:p>
        </p:txBody>
      </p:sp>
      <p:sp>
        <p:nvSpPr>
          <p:cNvPr id="17" name="Text 15"/>
          <p:cNvSpPr/>
          <p:nvPr/>
        </p:nvSpPr>
        <p:spPr>
          <a:xfrm>
            <a:off x="2926080" y="2377440"/>
            <a:ext cx="1828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i="1" dirty="0">
                <a:solidFill>
                  <a:srgbClr val="1A1A1A"/>
                </a:solidFill>
                <a:latin typeface="Palatino" pitchFamily="34" charset="0"/>
                <a:ea typeface="Palatino" pitchFamily="34" charset="-122"/>
                <a:cs typeface="Palatino" pitchFamily="34" charset="-120"/>
              </a:rPr>
              <a:t>Park Min-ho</a:t>
            </a:r>
            <a:endParaRPr lang="en-US" sz="1800" dirty="0"/>
          </a:p>
        </p:txBody>
      </p:sp>
      <p:sp>
        <p:nvSpPr>
          <p:cNvPr id="18" name="Shape 16"/>
          <p:cNvSpPr/>
          <p:nvPr/>
        </p:nvSpPr>
        <p:spPr>
          <a:xfrm>
            <a:off x="2926080" y="3108960"/>
            <a:ext cx="1828800" cy="0"/>
          </a:xfrm>
          <a:prstGeom prst="line">
            <a:avLst/>
          </a:prstGeom>
          <a:noFill/>
          <a:ln w="6350">
            <a:solidFill>
              <a:srgbClr val="D6CFC2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2926080" y="3246120"/>
            <a:ext cx="1828800" cy="2743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40000"/>
              </a:lnSpc>
              <a:buNone/>
            </a:pPr>
            <a:r>
              <a:rPr lang="en-US" sz="1000" dirty="0">
                <a:solidFill>
                  <a:srgbClr val="6B6B6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네이버 AI Lab 6년</a:t>
            </a:r>
            <a:endParaRPr lang="en-US" sz="100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1000" dirty="0">
                <a:solidFill>
                  <a:srgbClr val="6B6B6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KAIST 박사 / 특허 4건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5029200" y="1783080"/>
            <a:ext cx="2194560" cy="4297680"/>
          </a:xfrm>
          <a:prstGeom prst="rect">
            <a:avLst/>
          </a:prstGeom>
          <a:solidFill>
            <a:srgbClr val="FFFFFF"/>
          </a:solidFill>
          <a:ln w="6350">
            <a:solidFill>
              <a:srgbClr val="D6CFC2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5029200" y="1783080"/>
            <a:ext cx="2194560" cy="137160"/>
          </a:xfrm>
          <a:prstGeom prst="rect">
            <a:avLst/>
          </a:prstGeom>
          <a:solidFill>
            <a:srgbClr val="722F37"/>
          </a:solidFill>
          <a:ln/>
        </p:spPr>
      </p:sp>
      <p:sp>
        <p:nvSpPr>
          <p:cNvPr id="22" name="Text 20"/>
          <p:cNvSpPr/>
          <p:nvPr/>
        </p:nvSpPr>
        <p:spPr>
          <a:xfrm>
            <a:off x="5212080" y="2103120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spc="400" kern="0" dirty="0">
                <a:solidFill>
                  <a:srgbClr val="722F37"/>
                </a:solidFill>
                <a:latin typeface="Garamond" pitchFamily="34" charset="0"/>
                <a:ea typeface="Garamond" pitchFamily="34" charset="-122"/>
                <a:cs typeface="Garamond" pitchFamily="34" charset="-120"/>
              </a:rPr>
              <a:t>CMO</a:t>
            </a:r>
            <a:endParaRPr lang="en-US" sz="900" dirty="0"/>
          </a:p>
        </p:txBody>
      </p:sp>
      <p:sp>
        <p:nvSpPr>
          <p:cNvPr id="23" name="Text 21"/>
          <p:cNvSpPr/>
          <p:nvPr/>
        </p:nvSpPr>
        <p:spPr>
          <a:xfrm>
            <a:off x="5212080" y="2377440"/>
            <a:ext cx="1828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i="1" dirty="0">
                <a:solidFill>
                  <a:srgbClr val="1A1A1A"/>
                </a:solidFill>
                <a:latin typeface="Palatino" pitchFamily="34" charset="0"/>
                <a:ea typeface="Palatino" pitchFamily="34" charset="-122"/>
                <a:cs typeface="Palatino" pitchFamily="34" charset="-120"/>
              </a:rPr>
              <a:t>Han Joo-young</a:t>
            </a:r>
            <a:endParaRPr lang="en-US" sz="1800" dirty="0"/>
          </a:p>
        </p:txBody>
      </p:sp>
      <p:sp>
        <p:nvSpPr>
          <p:cNvPr id="24" name="Shape 22"/>
          <p:cNvSpPr/>
          <p:nvPr/>
        </p:nvSpPr>
        <p:spPr>
          <a:xfrm>
            <a:off x="5212080" y="3108960"/>
            <a:ext cx="1828800" cy="0"/>
          </a:xfrm>
          <a:prstGeom prst="line">
            <a:avLst/>
          </a:prstGeom>
          <a:noFill/>
          <a:ln w="6350">
            <a:solidFill>
              <a:srgbClr val="D6CFC2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5212080" y="3246120"/>
            <a:ext cx="1828800" cy="2743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40000"/>
              </a:lnSpc>
              <a:buNone/>
            </a:pPr>
            <a:r>
              <a:rPr lang="en-US" sz="1000" dirty="0">
                <a:solidFill>
                  <a:srgbClr val="6B6B6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삼성생명 마케팅 8년</a:t>
            </a:r>
            <a:endParaRPr lang="en-US" sz="100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1000" dirty="0">
                <a:solidFill>
                  <a:srgbClr val="6B6B6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시니어 보험 전담</a:t>
            </a:r>
            <a:endParaRPr lang="en-US" sz="1000" dirty="0"/>
          </a:p>
        </p:txBody>
      </p:sp>
      <p:sp>
        <p:nvSpPr>
          <p:cNvPr id="26" name="Shape 24"/>
          <p:cNvSpPr/>
          <p:nvPr/>
        </p:nvSpPr>
        <p:spPr>
          <a:xfrm>
            <a:off x="7315200" y="1783080"/>
            <a:ext cx="2194560" cy="4297680"/>
          </a:xfrm>
          <a:prstGeom prst="rect">
            <a:avLst/>
          </a:prstGeom>
          <a:solidFill>
            <a:srgbClr val="FFFFFF"/>
          </a:solidFill>
          <a:ln w="6350">
            <a:solidFill>
              <a:srgbClr val="D6CFC2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7315200" y="1783080"/>
            <a:ext cx="2194560" cy="137160"/>
          </a:xfrm>
          <a:prstGeom prst="rect">
            <a:avLst/>
          </a:prstGeom>
          <a:solidFill>
            <a:srgbClr val="722F37"/>
          </a:solidFill>
          <a:ln/>
        </p:spPr>
      </p:sp>
      <p:sp>
        <p:nvSpPr>
          <p:cNvPr id="28" name="Text 26"/>
          <p:cNvSpPr/>
          <p:nvPr/>
        </p:nvSpPr>
        <p:spPr>
          <a:xfrm>
            <a:off x="7498080" y="2103120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spc="400" kern="0" dirty="0">
                <a:solidFill>
                  <a:srgbClr val="722F37"/>
                </a:solidFill>
                <a:latin typeface="Garamond" pitchFamily="34" charset="0"/>
                <a:ea typeface="Garamond" pitchFamily="34" charset="-122"/>
                <a:cs typeface="Garamond" pitchFamily="34" charset="-120"/>
              </a:rPr>
              <a:t>CPO</a:t>
            </a:r>
            <a:endParaRPr lang="en-US" sz="900" dirty="0"/>
          </a:p>
        </p:txBody>
      </p:sp>
      <p:sp>
        <p:nvSpPr>
          <p:cNvPr id="29" name="Text 27"/>
          <p:cNvSpPr/>
          <p:nvPr/>
        </p:nvSpPr>
        <p:spPr>
          <a:xfrm>
            <a:off x="7498080" y="2377440"/>
            <a:ext cx="1828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i="1" dirty="0">
                <a:solidFill>
                  <a:srgbClr val="1A1A1A"/>
                </a:solidFill>
                <a:latin typeface="Palatino" pitchFamily="34" charset="0"/>
                <a:ea typeface="Palatino" pitchFamily="34" charset="-122"/>
                <a:cs typeface="Palatino" pitchFamily="34" charset="-120"/>
              </a:rPr>
              <a:t>Kim Hye-rin</a:t>
            </a:r>
            <a:endParaRPr lang="en-US" sz="1800" dirty="0"/>
          </a:p>
        </p:txBody>
      </p:sp>
      <p:sp>
        <p:nvSpPr>
          <p:cNvPr id="30" name="Shape 28"/>
          <p:cNvSpPr/>
          <p:nvPr/>
        </p:nvSpPr>
        <p:spPr>
          <a:xfrm>
            <a:off x="7498080" y="3108960"/>
            <a:ext cx="1828800" cy="0"/>
          </a:xfrm>
          <a:prstGeom prst="line">
            <a:avLst/>
          </a:prstGeom>
          <a:noFill/>
          <a:ln w="6350">
            <a:solidFill>
              <a:srgbClr val="D6CFC2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7498080" y="3246120"/>
            <a:ext cx="1828800" cy="2743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40000"/>
              </a:lnSpc>
              <a:buNone/>
            </a:pPr>
            <a:r>
              <a:rPr lang="en-US" sz="1000" dirty="0">
                <a:solidFill>
                  <a:srgbClr val="6B6B6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쿠팡·토스 PM 5년</a:t>
            </a:r>
            <a:endParaRPr lang="en-US" sz="100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1000" dirty="0">
                <a:solidFill>
                  <a:srgbClr val="6B6B6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시니어 UX 리서치</a:t>
            </a:r>
            <a:endParaRPr lang="en-US" sz="1000" dirty="0"/>
          </a:p>
        </p:txBody>
      </p:sp>
      <p:sp>
        <p:nvSpPr>
          <p:cNvPr id="32" name="Shape 30"/>
          <p:cNvSpPr/>
          <p:nvPr/>
        </p:nvSpPr>
        <p:spPr>
          <a:xfrm>
            <a:off x="9601200" y="1783080"/>
            <a:ext cx="2194560" cy="4297680"/>
          </a:xfrm>
          <a:prstGeom prst="rect">
            <a:avLst/>
          </a:prstGeom>
          <a:solidFill>
            <a:srgbClr val="FFFFFF"/>
          </a:solidFill>
          <a:ln w="6350">
            <a:solidFill>
              <a:srgbClr val="D6CFC2"/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9601200" y="1783080"/>
            <a:ext cx="2194560" cy="137160"/>
          </a:xfrm>
          <a:prstGeom prst="rect">
            <a:avLst/>
          </a:prstGeom>
          <a:solidFill>
            <a:srgbClr val="722F37"/>
          </a:solidFill>
          <a:ln/>
        </p:spPr>
      </p:sp>
      <p:sp>
        <p:nvSpPr>
          <p:cNvPr id="34" name="Text 32"/>
          <p:cNvSpPr/>
          <p:nvPr/>
        </p:nvSpPr>
        <p:spPr>
          <a:xfrm>
            <a:off x="9784080" y="2103120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spc="400" kern="0" dirty="0">
                <a:solidFill>
                  <a:srgbClr val="722F37"/>
                </a:solidFill>
                <a:latin typeface="Garamond" pitchFamily="34" charset="0"/>
                <a:ea typeface="Garamond" pitchFamily="34" charset="-122"/>
                <a:cs typeface="Garamond" pitchFamily="34" charset="-120"/>
              </a:rPr>
              <a:t>Head of Care</a:t>
            </a:r>
            <a:endParaRPr lang="en-US" sz="900" dirty="0"/>
          </a:p>
        </p:txBody>
      </p:sp>
      <p:sp>
        <p:nvSpPr>
          <p:cNvPr id="35" name="Text 33"/>
          <p:cNvSpPr/>
          <p:nvPr/>
        </p:nvSpPr>
        <p:spPr>
          <a:xfrm>
            <a:off x="9784080" y="2377440"/>
            <a:ext cx="1828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i="1" dirty="0">
                <a:solidFill>
                  <a:srgbClr val="1A1A1A"/>
                </a:solidFill>
                <a:latin typeface="Palatino" pitchFamily="34" charset="0"/>
                <a:ea typeface="Palatino" pitchFamily="34" charset="-122"/>
                <a:cs typeface="Palatino" pitchFamily="34" charset="-120"/>
              </a:rPr>
              <a:t>Choi Seung-woo</a:t>
            </a:r>
            <a:endParaRPr lang="en-US" sz="1800" dirty="0"/>
          </a:p>
        </p:txBody>
      </p:sp>
      <p:sp>
        <p:nvSpPr>
          <p:cNvPr id="36" name="Shape 34"/>
          <p:cNvSpPr/>
          <p:nvPr/>
        </p:nvSpPr>
        <p:spPr>
          <a:xfrm>
            <a:off x="9784080" y="3108960"/>
            <a:ext cx="1828800" cy="0"/>
          </a:xfrm>
          <a:prstGeom prst="line">
            <a:avLst/>
          </a:prstGeom>
          <a:noFill/>
          <a:ln w="6350">
            <a:solidFill>
              <a:srgbClr val="D6CFC2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9784080" y="3246120"/>
            <a:ext cx="1828800" cy="2743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40000"/>
              </a:lnSpc>
              <a:buNone/>
            </a:pPr>
            <a:r>
              <a:rPr lang="en-US" sz="1000" dirty="0">
                <a:solidFill>
                  <a:srgbClr val="6B6B6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노인 요양원 운영 12년</a:t>
            </a:r>
            <a:endParaRPr lang="en-US" sz="100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1000" dirty="0">
                <a:solidFill>
                  <a:srgbClr val="6B6B6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사회복지사 1급</a:t>
            </a:r>
            <a:endParaRPr lang="en-US" sz="10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8F4E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1371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i="1" dirty="0">
                <a:solidFill>
                  <a:srgbClr val="722F37"/>
                </a:solidFill>
                <a:latin typeface="Garamond" pitchFamily="34" charset="0"/>
                <a:ea typeface="Garamond" pitchFamily="34" charset="-122"/>
                <a:cs typeface="Garamond" pitchFamily="34" charset="-120"/>
              </a:rPr>
              <a:t>13</a:t>
            </a:r>
            <a:endParaRPr lang="en-US" sz="1200" dirty="0"/>
          </a:p>
        </p:txBody>
      </p:sp>
      <p:sp>
        <p:nvSpPr>
          <p:cNvPr id="3" name="Shape 1"/>
          <p:cNvSpPr/>
          <p:nvPr/>
        </p:nvSpPr>
        <p:spPr>
          <a:xfrm>
            <a:off x="1691640" y="502920"/>
            <a:ext cx="365760" cy="0"/>
          </a:xfrm>
          <a:prstGeom prst="line">
            <a:avLst/>
          </a:prstGeom>
          <a:noFill/>
          <a:ln w="8890">
            <a:solidFill>
              <a:srgbClr val="722F37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286000" y="36576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i="1" spc="400" kern="0" dirty="0">
                <a:solidFill>
                  <a:srgbClr val="1F2937"/>
                </a:solidFill>
                <a:latin typeface="Garamond" pitchFamily="34" charset="0"/>
                <a:ea typeface="Garamond" pitchFamily="34" charset="-122"/>
                <a:cs typeface="Garamond" pitchFamily="34" charset="-120"/>
              </a:rPr>
              <a:t>USE OF FUNDS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10058400" y="365760"/>
            <a:ext cx="1645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i="1" dirty="0">
                <a:solidFill>
                  <a:srgbClr val="6B6B6B"/>
                </a:solidFill>
                <a:latin typeface="Garamond" pitchFamily="34" charset="0"/>
                <a:ea typeface="Garamond" pitchFamily="34" charset="-122"/>
                <a:cs typeface="Garamond" pitchFamily="34" charset="-120"/>
              </a:rPr>
              <a:t>p.14 / 18</a:t>
            </a:r>
            <a:endParaRPr lang="en-US" sz="1000" dirty="0"/>
          </a:p>
        </p:txBody>
      </p:sp>
      <p:sp>
        <p:nvSpPr>
          <p:cNvPr id="6" name="Shape 4"/>
          <p:cNvSpPr/>
          <p:nvPr/>
        </p:nvSpPr>
        <p:spPr>
          <a:xfrm>
            <a:off x="457200" y="777240"/>
            <a:ext cx="11247120" cy="0"/>
          </a:xfrm>
          <a:prstGeom prst="line">
            <a:avLst/>
          </a:prstGeom>
          <a:noFill/>
          <a:ln w="8890">
            <a:solidFill>
              <a:srgbClr val="722F37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57200" y="1005840"/>
            <a:ext cx="109728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722F3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자금. ₩1.5B — 인건비 48% / 채널 22% / R&amp;D 18% / 운영 12%.</a:t>
            </a:r>
            <a:endParaRPr lang="en-US" sz="1800" dirty="0"/>
          </a:p>
        </p:txBody>
      </p:sp>
      <p:graphicFrame>
        <p:nvGraphicFramePr>
          <p:cNvPr id="8" name="Chart 0" descr=""/>
          <p:cNvGraphicFramePr/>
          <p:nvPr/>
        </p:nvGraphicFramePr>
        <p:xfrm>
          <a:off x="457200" y="1783080"/>
          <a:ext cx="5029200" cy="411480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9" name="Text 6"/>
          <p:cNvSpPr/>
          <p:nvPr/>
        </p:nvSpPr>
        <p:spPr>
          <a:xfrm>
            <a:off x="5760720" y="1783080"/>
            <a:ext cx="1645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722F37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₩720M</a:t>
            </a:r>
            <a:endParaRPr lang="en-US" sz="2200" dirty="0"/>
          </a:p>
        </p:txBody>
      </p:sp>
      <p:sp>
        <p:nvSpPr>
          <p:cNvPr id="10" name="Text 7"/>
          <p:cNvSpPr/>
          <p:nvPr/>
        </p:nvSpPr>
        <p:spPr>
          <a:xfrm>
            <a:off x="7589520" y="1783080"/>
            <a:ext cx="4114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A1A1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인건비</a:t>
            </a:r>
            <a:endParaRPr lang="en-US" sz="1400" dirty="0"/>
          </a:p>
        </p:txBody>
      </p:sp>
      <p:sp>
        <p:nvSpPr>
          <p:cNvPr id="11" name="Text 8"/>
          <p:cNvSpPr/>
          <p:nvPr/>
        </p:nvSpPr>
        <p:spPr>
          <a:xfrm>
            <a:off x="7589520" y="2075688"/>
            <a:ext cx="41148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6B6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AI 엔지니어 4 / 케어 매니저 6 / PM 1 신규 채용</a:t>
            </a:r>
            <a:endParaRPr lang="en-US" sz="1000" dirty="0"/>
          </a:p>
        </p:txBody>
      </p:sp>
      <p:sp>
        <p:nvSpPr>
          <p:cNvPr id="12" name="Text 9"/>
          <p:cNvSpPr/>
          <p:nvPr/>
        </p:nvSpPr>
        <p:spPr>
          <a:xfrm>
            <a:off x="5760720" y="2788920"/>
            <a:ext cx="1645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722F37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₩330M</a:t>
            </a:r>
            <a:endParaRPr lang="en-US" sz="2200" dirty="0"/>
          </a:p>
        </p:txBody>
      </p:sp>
      <p:sp>
        <p:nvSpPr>
          <p:cNvPr id="13" name="Text 10"/>
          <p:cNvSpPr/>
          <p:nvPr/>
        </p:nvSpPr>
        <p:spPr>
          <a:xfrm>
            <a:off x="7589520" y="2788920"/>
            <a:ext cx="4114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A1A1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GTM 채널</a:t>
            </a:r>
            <a:endParaRPr lang="en-US" sz="1400" dirty="0"/>
          </a:p>
        </p:txBody>
      </p:sp>
      <p:sp>
        <p:nvSpPr>
          <p:cNvPr id="14" name="Text 11"/>
          <p:cNvSpPr/>
          <p:nvPr/>
        </p:nvSpPr>
        <p:spPr>
          <a:xfrm>
            <a:off x="7589520" y="3081528"/>
            <a:ext cx="41148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6B6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보험사 번들 + 요양 시설 + 인플루언서</a:t>
            </a:r>
            <a:endParaRPr lang="en-US" sz="1000" dirty="0"/>
          </a:p>
        </p:txBody>
      </p:sp>
      <p:sp>
        <p:nvSpPr>
          <p:cNvPr id="15" name="Text 12"/>
          <p:cNvSpPr/>
          <p:nvPr/>
        </p:nvSpPr>
        <p:spPr>
          <a:xfrm>
            <a:off x="5760720" y="3794760"/>
            <a:ext cx="1645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722F37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₩270M</a:t>
            </a:r>
            <a:endParaRPr lang="en-US" sz="2200" dirty="0"/>
          </a:p>
        </p:txBody>
      </p:sp>
      <p:sp>
        <p:nvSpPr>
          <p:cNvPr id="16" name="Text 13"/>
          <p:cNvSpPr/>
          <p:nvPr/>
        </p:nvSpPr>
        <p:spPr>
          <a:xfrm>
            <a:off x="7589520" y="3794760"/>
            <a:ext cx="4114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A1A1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R&amp;D</a:t>
            </a:r>
            <a:endParaRPr lang="en-US" sz="1400" dirty="0"/>
          </a:p>
        </p:txBody>
      </p:sp>
      <p:sp>
        <p:nvSpPr>
          <p:cNvPr id="17" name="Text 14"/>
          <p:cNvSpPr/>
          <p:nvPr/>
        </p:nvSpPr>
        <p:spPr>
          <a:xfrm>
            <a:off x="7589520" y="4087368"/>
            <a:ext cx="41148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6B6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낙상 정확도 97.2 → 99% / 치매 검사 모델</a:t>
            </a:r>
            <a:endParaRPr lang="en-US" sz="1000" dirty="0"/>
          </a:p>
        </p:txBody>
      </p:sp>
      <p:sp>
        <p:nvSpPr>
          <p:cNvPr id="18" name="Text 15"/>
          <p:cNvSpPr/>
          <p:nvPr/>
        </p:nvSpPr>
        <p:spPr>
          <a:xfrm>
            <a:off x="5760720" y="4800600"/>
            <a:ext cx="1645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722F37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₩180M</a:t>
            </a:r>
            <a:endParaRPr lang="en-US" sz="2200" dirty="0"/>
          </a:p>
        </p:txBody>
      </p:sp>
      <p:sp>
        <p:nvSpPr>
          <p:cNvPr id="19" name="Text 16"/>
          <p:cNvSpPr/>
          <p:nvPr/>
        </p:nvSpPr>
        <p:spPr>
          <a:xfrm>
            <a:off x="7589520" y="4800600"/>
            <a:ext cx="4114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A1A1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운영·법률</a:t>
            </a:r>
            <a:endParaRPr lang="en-US" sz="1400" dirty="0"/>
          </a:p>
        </p:txBody>
      </p:sp>
      <p:sp>
        <p:nvSpPr>
          <p:cNvPr id="20" name="Text 17"/>
          <p:cNvSpPr/>
          <p:nvPr/>
        </p:nvSpPr>
        <p:spPr>
          <a:xfrm>
            <a:off x="7589520" y="5093208"/>
            <a:ext cx="41148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6B6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B2G 인증 4건 / 의료기기 인증 / 보험</a:t>
            </a:r>
            <a:endParaRPr lang="en-US" sz="10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722F3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i="1" spc="600" kern="0" dirty="0">
                <a:solidFill>
                  <a:srgbClr val="B89263"/>
                </a:solidFill>
                <a:latin typeface="Garamond" pitchFamily="34" charset="0"/>
                <a:ea typeface="Garamond" pitchFamily="34" charset="-122"/>
                <a:cs typeface="Garamond" pitchFamily="34" charset="-120"/>
              </a:rPr>
              <a:t>ASK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10058400" y="365760"/>
            <a:ext cx="1645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i="1" dirty="0">
                <a:solidFill>
                  <a:srgbClr val="F8F4EC"/>
                </a:solidFill>
                <a:latin typeface="Garamond" pitchFamily="34" charset="0"/>
                <a:ea typeface="Garamond" pitchFamily="34" charset="-122"/>
                <a:cs typeface="Garamond" pitchFamily="34" charset="-120"/>
              </a:rPr>
              <a:t>p.15 / 18</a:t>
            </a:r>
            <a:endParaRPr lang="en-US" sz="1000" dirty="0"/>
          </a:p>
        </p:txBody>
      </p:sp>
      <p:sp>
        <p:nvSpPr>
          <p:cNvPr id="4" name="Shape 2"/>
          <p:cNvSpPr/>
          <p:nvPr/>
        </p:nvSpPr>
        <p:spPr>
          <a:xfrm>
            <a:off x="457200" y="777240"/>
            <a:ext cx="11247120" cy="0"/>
          </a:xfrm>
          <a:prstGeom prst="line">
            <a:avLst/>
          </a:prstGeom>
          <a:noFill/>
          <a:ln w="8890">
            <a:solidFill>
              <a:srgbClr val="B89263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457200" y="1371600"/>
            <a:ext cx="1097280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0" b="1" dirty="0">
                <a:solidFill>
                  <a:srgbClr val="B89263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₩1.5B</a:t>
            </a:r>
            <a:endParaRPr lang="en-US" sz="13000" dirty="0"/>
          </a:p>
        </p:txBody>
      </p:sp>
      <p:sp>
        <p:nvSpPr>
          <p:cNvPr id="6" name="Text 4"/>
          <p:cNvSpPr/>
          <p:nvPr/>
        </p:nvSpPr>
        <p:spPr>
          <a:xfrm>
            <a:off x="457200" y="2743200"/>
            <a:ext cx="10972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600" b="1" i="1" dirty="0">
                <a:solidFill>
                  <a:srgbClr val="F8F4EC"/>
                </a:solidFill>
                <a:latin typeface="Palatino" pitchFamily="34" charset="0"/>
                <a:ea typeface="Palatino" pitchFamily="34" charset="-122"/>
                <a:cs typeface="Palatino" pitchFamily="34" charset="-120"/>
              </a:rPr>
              <a:t>Pre-Series A.</a:t>
            </a:r>
            <a:endParaRPr lang="en-US" sz="3600" dirty="0"/>
          </a:p>
        </p:txBody>
      </p:sp>
      <p:sp>
        <p:nvSpPr>
          <p:cNvPr id="7" name="Shape 5"/>
          <p:cNvSpPr/>
          <p:nvPr/>
        </p:nvSpPr>
        <p:spPr>
          <a:xfrm>
            <a:off x="457200" y="3520440"/>
            <a:ext cx="11247120" cy="0"/>
          </a:xfrm>
          <a:prstGeom prst="line">
            <a:avLst/>
          </a:prstGeom>
          <a:noFill/>
          <a:ln w="6350">
            <a:solidFill>
              <a:srgbClr val="F8F4EC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57200" y="3840480"/>
            <a:ext cx="2560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i="1" spc="400" kern="0" dirty="0">
                <a:solidFill>
                  <a:srgbClr val="B89263"/>
                </a:solidFill>
                <a:latin typeface="Garamond" pitchFamily="34" charset="0"/>
                <a:ea typeface="Garamond" pitchFamily="34" charset="-122"/>
                <a:cs typeface="Garamond" pitchFamily="34" charset="-120"/>
              </a:rPr>
              <a:t>VALUATION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457200" y="4160520"/>
            <a:ext cx="25603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8F4EC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₩7.5B post-money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3291840" y="3840480"/>
            <a:ext cx="2560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i="1" spc="400" kern="0" dirty="0">
                <a:solidFill>
                  <a:srgbClr val="B89263"/>
                </a:solidFill>
                <a:latin typeface="Garamond" pitchFamily="34" charset="0"/>
                <a:ea typeface="Garamond" pitchFamily="34" charset="-122"/>
                <a:cs typeface="Garamond" pitchFamily="34" charset="-120"/>
              </a:rPr>
              <a:t>LEAD INVESTOR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3291840" y="4160520"/>
            <a:ext cx="25603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8F4EC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Lead 모집 (₩800M+)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6126480" y="3840480"/>
            <a:ext cx="2560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i="1" spc="400" kern="0" dirty="0">
                <a:solidFill>
                  <a:srgbClr val="B89263"/>
                </a:solidFill>
                <a:latin typeface="Garamond" pitchFamily="34" charset="0"/>
                <a:ea typeface="Garamond" pitchFamily="34" charset="-122"/>
                <a:cs typeface="Garamond" pitchFamily="34" charset="-120"/>
              </a:rPr>
              <a:t>RUNWAY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6126480" y="4160520"/>
            <a:ext cx="25603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8F4EC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18 개월 + 12 개월 버퍼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8961120" y="3840480"/>
            <a:ext cx="2560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i="1" spc="400" kern="0" dirty="0">
                <a:solidFill>
                  <a:srgbClr val="B89263"/>
                </a:solidFill>
                <a:latin typeface="Garamond" pitchFamily="34" charset="0"/>
                <a:ea typeface="Garamond" pitchFamily="34" charset="-122"/>
                <a:cs typeface="Garamond" pitchFamily="34" charset="-120"/>
              </a:rPr>
              <a:t>EXPECTED CLOSE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8961120" y="4160520"/>
            <a:ext cx="25603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8F4EC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2026.09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457200" y="4937760"/>
            <a:ext cx="11247120" cy="0"/>
          </a:xfrm>
          <a:prstGeom prst="line">
            <a:avLst/>
          </a:prstGeom>
          <a:noFill/>
          <a:ln w="3810">
            <a:solidFill>
              <a:srgbClr val="F8F4EC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457200" y="516636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i="1" spc="500" kern="0" dirty="0">
                <a:solidFill>
                  <a:srgbClr val="B89263"/>
                </a:solidFill>
                <a:latin typeface="Garamond" pitchFamily="34" charset="0"/>
                <a:ea typeface="Garamond" pitchFamily="34" charset="-122"/>
                <a:cs typeface="Garamond" pitchFamily="34" charset="-120"/>
              </a:rPr>
              <a:t>PRIORITIES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457200" y="5440680"/>
            <a:ext cx="109728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40000"/>
              </a:lnSpc>
              <a:buNone/>
            </a:pPr>
            <a:r>
              <a:rPr lang="en-US" sz="1300" dirty="0">
                <a:solidFill>
                  <a:srgbClr val="F8F4EC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01. 낙상 감지 정확도 97.2 → 99% (R&amp;D)</a:t>
            </a:r>
            <a:endParaRPr lang="en-US" sz="130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1300" dirty="0">
                <a:solidFill>
                  <a:srgbClr val="F8F4EC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02. 보험사 2곳 번들 + 요양시설 800곳 협력</a:t>
            </a:r>
            <a:endParaRPr lang="en-US" sz="130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1300" dirty="0">
                <a:solidFill>
                  <a:srgbClr val="F8F4EC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03. Y2 12,000가구 / Series A ₩4B 준비</a:t>
            </a:r>
            <a:endParaRPr lang="en-US" sz="13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8F4E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1371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i="1" dirty="0">
                <a:solidFill>
                  <a:srgbClr val="722F37"/>
                </a:solidFill>
                <a:latin typeface="Garamond" pitchFamily="34" charset="0"/>
                <a:ea typeface="Garamond" pitchFamily="34" charset="-122"/>
                <a:cs typeface="Garamond" pitchFamily="34" charset="-120"/>
              </a:rPr>
              <a:t>15</a:t>
            </a:r>
            <a:endParaRPr lang="en-US" sz="1200" dirty="0"/>
          </a:p>
        </p:txBody>
      </p:sp>
      <p:sp>
        <p:nvSpPr>
          <p:cNvPr id="3" name="Shape 1"/>
          <p:cNvSpPr/>
          <p:nvPr/>
        </p:nvSpPr>
        <p:spPr>
          <a:xfrm>
            <a:off x="1691640" y="502920"/>
            <a:ext cx="365760" cy="0"/>
          </a:xfrm>
          <a:prstGeom prst="line">
            <a:avLst/>
          </a:prstGeom>
          <a:noFill/>
          <a:ln w="8890">
            <a:solidFill>
              <a:srgbClr val="722F37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286000" y="36576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i="1" spc="400" kern="0" dirty="0">
                <a:solidFill>
                  <a:srgbClr val="1F2937"/>
                </a:solidFill>
                <a:latin typeface="Garamond" pitchFamily="34" charset="0"/>
                <a:ea typeface="Garamond" pitchFamily="34" charset="-122"/>
                <a:cs typeface="Garamond" pitchFamily="34" charset="-120"/>
              </a:rPr>
              <a:t>FINANCIALS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10058400" y="365760"/>
            <a:ext cx="1645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i="1" dirty="0">
                <a:solidFill>
                  <a:srgbClr val="6B6B6B"/>
                </a:solidFill>
                <a:latin typeface="Garamond" pitchFamily="34" charset="0"/>
                <a:ea typeface="Garamond" pitchFamily="34" charset="-122"/>
                <a:cs typeface="Garamond" pitchFamily="34" charset="-120"/>
              </a:rPr>
              <a:t>p.16 / 18</a:t>
            </a:r>
            <a:endParaRPr lang="en-US" sz="1000" dirty="0"/>
          </a:p>
        </p:txBody>
      </p:sp>
      <p:sp>
        <p:nvSpPr>
          <p:cNvPr id="6" name="Shape 4"/>
          <p:cNvSpPr/>
          <p:nvPr/>
        </p:nvSpPr>
        <p:spPr>
          <a:xfrm>
            <a:off x="457200" y="777240"/>
            <a:ext cx="11247120" cy="0"/>
          </a:xfrm>
          <a:prstGeom prst="line">
            <a:avLst/>
          </a:prstGeom>
          <a:noFill/>
          <a:ln w="8890">
            <a:solidFill>
              <a:srgbClr val="722F37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57200" y="1005840"/>
            <a:ext cx="109728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722F3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재무. Y3 매출 ₩28B / 영업이익 ₩4.6B (16.4%).</a:t>
            </a:r>
            <a:endParaRPr lang="en-US" sz="2200" dirty="0"/>
          </a:p>
        </p:txBody>
      </p:sp>
      <p:graphicFrame>
        <p:nvGraphicFramePr>
          <p:cNvPr id="17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783080"/>
          <a:ext cx="11247120" cy="914400"/>
        </p:xfrm>
        <a:graphic>
          <a:graphicData uri="http://schemas.openxmlformats.org/drawingml/2006/table">
            <a:tbl>
              <a:tblPr/>
              <a:tblGrid>
                <a:gridCol w="1874520"/>
                <a:gridCol w="1874520"/>
                <a:gridCol w="1874520"/>
                <a:gridCol w="1874520"/>
                <a:gridCol w="1874520"/>
                <a:gridCol w="1874520"/>
              </a:tblGrid>
              <a:tr h="50292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F8F4EC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(₩B)</a:t>
                      </a:r>
                      <a:endParaRPr lang="en-US" sz="12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6CF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CF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CF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CF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722F3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F8F4EC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Y1</a:t>
                      </a:r>
                      <a:endParaRPr lang="en-US" sz="12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6CF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CF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CF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CF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293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F8F4EC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Y2</a:t>
                      </a:r>
                      <a:endParaRPr lang="en-US" sz="12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6CF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CF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CF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CF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293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F8F4EC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Y3</a:t>
                      </a:r>
                      <a:endParaRPr lang="en-US" sz="12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6CF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CF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CF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CF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722F3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F8F4EC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Y4</a:t>
                      </a:r>
                      <a:endParaRPr lang="en-US" sz="12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6CF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CF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CF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CF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293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F8F4EC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Y5</a:t>
                      </a:r>
                      <a:endParaRPr lang="en-US" sz="12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6CF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CF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CF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CF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2937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000000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매출</a:t>
                      </a:r>
                      <a:endParaRPr lang="en-US" sz="12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6CF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CF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CF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CF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Arial Black" pitchFamily="34" charset="0"/>
                          <a:ea typeface="Arial Black" pitchFamily="34" charset="-122"/>
                          <a:cs typeface="Arial Black" pitchFamily="34" charset="-120"/>
                        </a:rPr>
                        <a:t>0.6</a:t>
                      </a:r>
                      <a:endParaRPr lang="en-US" sz="1200" dirty="0">
                        <a:latin typeface="Arial Black" charset="0"/>
                        <a:ea typeface="Arial Black" charset="0"/>
                        <a:cs typeface="Arial Black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6CF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CF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CF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CF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Arial Black" pitchFamily="34" charset="0"/>
                          <a:ea typeface="Arial Black" pitchFamily="34" charset="-122"/>
                          <a:cs typeface="Arial Black" pitchFamily="34" charset="-120"/>
                        </a:rPr>
                        <a:t>4.2</a:t>
                      </a:r>
                      <a:endParaRPr lang="en-US" sz="1200" dirty="0">
                        <a:latin typeface="Arial Black" charset="0"/>
                        <a:ea typeface="Arial Black" charset="0"/>
                        <a:cs typeface="Arial Black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6CF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CF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CF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CF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722F37"/>
                          </a:solidFill>
                          <a:latin typeface="Arial Black" pitchFamily="34" charset="0"/>
                          <a:ea typeface="Arial Black" pitchFamily="34" charset="-122"/>
                          <a:cs typeface="Arial Black" pitchFamily="34" charset="-120"/>
                        </a:rPr>
                        <a:t>28</a:t>
                      </a:r>
                      <a:endParaRPr lang="en-US" sz="1200" dirty="0">
                        <a:latin typeface="Arial Black" charset="0"/>
                        <a:ea typeface="Arial Black" charset="0"/>
                        <a:cs typeface="Arial Black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6CF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CF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CF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CF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Arial Black" pitchFamily="34" charset="0"/>
                          <a:ea typeface="Arial Black" pitchFamily="34" charset="-122"/>
                          <a:cs typeface="Arial Black" pitchFamily="34" charset="-120"/>
                        </a:rPr>
                        <a:t>82</a:t>
                      </a:r>
                      <a:endParaRPr lang="en-US" sz="1200" dirty="0">
                        <a:latin typeface="Arial Black" charset="0"/>
                        <a:ea typeface="Arial Black" charset="0"/>
                        <a:cs typeface="Arial Black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6CF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CF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CF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CF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Arial Black" pitchFamily="34" charset="0"/>
                          <a:ea typeface="Arial Black" pitchFamily="34" charset="-122"/>
                          <a:cs typeface="Arial Black" pitchFamily="34" charset="-120"/>
                        </a:rPr>
                        <a:t>180</a:t>
                      </a:r>
                      <a:endParaRPr lang="en-US" sz="1200" dirty="0">
                        <a:latin typeface="Arial Black" charset="0"/>
                        <a:ea typeface="Arial Black" charset="0"/>
                        <a:cs typeface="Arial Black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6CF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CF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CF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CF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000000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GP</a:t>
                      </a:r>
                      <a:endParaRPr lang="en-US" sz="12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6CF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CF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CF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CF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Arial Black" pitchFamily="34" charset="0"/>
                          <a:ea typeface="Arial Black" pitchFamily="34" charset="-122"/>
                          <a:cs typeface="Arial Black" pitchFamily="34" charset="-120"/>
                        </a:rPr>
                        <a:t>0.5</a:t>
                      </a:r>
                      <a:endParaRPr lang="en-US" sz="1200" dirty="0">
                        <a:latin typeface="Arial Black" charset="0"/>
                        <a:ea typeface="Arial Black" charset="0"/>
                        <a:cs typeface="Arial Black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6CF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CF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CF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CF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Arial Black" pitchFamily="34" charset="0"/>
                          <a:ea typeface="Arial Black" pitchFamily="34" charset="-122"/>
                          <a:cs typeface="Arial Black" pitchFamily="34" charset="-120"/>
                        </a:rPr>
                        <a:t>3.2</a:t>
                      </a:r>
                      <a:endParaRPr lang="en-US" sz="1200" dirty="0">
                        <a:latin typeface="Arial Black" charset="0"/>
                        <a:ea typeface="Arial Black" charset="0"/>
                        <a:cs typeface="Arial Black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6CF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CF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CF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CF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000000"/>
                          </a:solidFill>
                          <a:latin typeface="Arial Black" pitchFamily="34" charset="0"/>
                          <a:ea typeface="Arial Black" pitchFamily="34" charset="-122"/>
                          <a:cs typeface="Arial Black" pitchFamily="34" charset="-120"/>
                        </a:rPr>
                        <a:t>21.5</a:t>
                      </a:r>
                      <a:endParaRPr lang="en-US" sz="1200" dirty="0">
                        <a:latin typeface="Arial Black" charset="0"/>
                        <a:ea typeface="Arial Black" charset="0"/>
                        <a:cs typeface="Arial Black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6CF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CF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CF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CF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Arial Black" pitchFamily="34" charset="0"/>
                          <a:ea typeface="Arial Black" pitchFamily="34" charset="-122"/>
                          <a:cs typeface="Arial Black" pitchFamily="34" charset="-120"/>
                        </a:rPr>
                        <a:t>62</a:t>
                      </a:r>
                      <a:endParaRPr lang="en-US" sz="1200" dirty="0">
                        <a:latin typeface="Arial Black" charset="0"/>
                        <a:ea typeface="Arial Black" charset="0"/>
                        <a:cs typeface="Arial Black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6CF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CF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CF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CF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Arial Black" pitchFamily="34" charset="0"/>
                          <a:ea typeface="Arial Black" pitchFamily="34" charset="-122"/>
                          <a:cs typeface="Arial Black" pitchFamily="34" charset="-120"/>
                        </a:rPr>
                        <a:t>138</a:t>
                      </a:r>
                      <a:endParaRPr lang="en-US" sz="1200" dirty="0">
                        <a:latin typeface="Arial Black" charset="0"/>
                        <a:ea typeface="Arial Black" charset="0"/>
                        <a:cs typeface="Arial Black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6CF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CF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CF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CF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000000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마케팅</a:t>
                      </a:r>
                      <a:endParaRPr lang="en-US" sz="12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6CF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CF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CF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CF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Arial Black" pitchFamily="34" charset="0"/>
                          <a:ea typeface="Arial Black" pitchFamily="34" charset="-122"/>
                          <a:cs typeface="Arial Black" pitchFamily="34" charset="-120"/>
                        </a:rPr>
                        <a:t>0.5</a:t>
                      </a:r>
                      <a:endParaRPr lang="en-US" sz="1200" dirty="0">
                        <a:latin typeface="Arial Black" charset="0"/>
                        <a:ea typeface="Arial Black" charset="0"/>
                        <a:cs typeface="Arial Black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6CF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CF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CF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CF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Arial Black" pitchFamily="34" charset="0"/>
                          <a:ea typeface="Arial Black" pitchFamily="34" charset="-122"/>
                          <a:cs typeface="Arial Black" pitchFamily="34" charset="-120"/>
                        </a:rPr>
                        <a:t>1.8</a:t>
                      </a:r>
                      <a:endParaRPr lang="en-US" sz="1200" dirty="0">
                        <a:latin typeface="Arial Black" charset="0"/>
                        <a:ea typeface="Arial Black" charset="0"/>
                        <a:cs typeface="Arial Black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6CF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CF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CF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CF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Arial Black" pitchFamily="34" charset="0"/>
                          <a:ea typeface="Arial Black" pitchFamily="34" charset="-122"/>
                          <a:cs typeface="Arial Black" pitchFamily="34" charset="-120"/>
                        </a:rPr>
                        <a:t>8.4</a:t>
                      </a:r>
                      <a:endParaRPr lang="en-US" sz="1200" dirty="0">
                        <a:latin typeface="Arial Black" charset="0"/>
                        <a:ea typeface="Arial Black" charset="0"/>
                        <a:cs typeface="Arial Black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6CF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CF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CF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CF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Arial Black" pitchFamily="34" charset="0"/>
                          <a:ea typeface="Arial Black" pitchFamily="34" charset="-122"/>
                          <a:cs typeface="Arial Black" pitchFamily="34" charset="-120"/>
                        </a:rPr>
                        <a:t>16</a:t>
                      </a:r>
                      <a:endParaRPr lang="en-US" sz="1200" dirty="0">
                        <a:latin typeface="Arial Black" charset="0"/>
                        <a:ea typeface="Arial Black" charset="0"/>
                        <a:cs typeface="Arial Black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6CF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CF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CF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CF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Arial Black" pitchFamily="34" charset="0"/>
                          <a:ea typeface="Arial Black" pitchFamily="34" charset="-122"/>
                          <a:cs typeface="Arial Black" pitchFamily="34" charset="-120"/>
                        </a:rPr>
                        <a:t>28</a:t>
                      </a:r>
                      <a:endParaRPr lang="en-US" sz="1200" dirty="0">
                        <a:latin typeface="Arial Black" charset="0"/>
                        <a:ea typeface="Arial Black" charset="0"/>
                        <a:cs typeface="Arial Black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6CF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CF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CF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CF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000000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인건비</a:t>
                      </a:r>
                      <a:endParaRPr lang="en-US" sz="12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6CF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CF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CF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CF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Arial Black" pitchFamily="34" charset="0"/>
                          <a:ea typeface="Arial Black" pitchFamily="34" charset="-122"/>
                          <a:cs typeface="Arial Black" pitchFamily="34" charset="-120"/>
                        </a:rPr>
                        <a:t>0.6</a:t>
                      </a:r>
                      <a:endParaRPr lang="en-US" sz="1200" dirty="0">
                        <a:latin typeface="Arial Black" charset="0"/>
                        <a:ea typeface="Arial Black" charset="0"/>
                        <a:cs typeface="Arial Black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6CF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CF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CF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CF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Arial Black" pitchFamily="34" charset="0"/>
                          <a:ea typeface="Arial Black" pitchFamily="34" charset="-122"/>
                          <a:cs typeface="Arial Black" pitchFamily="34" charset="-120"/>
                        </a:rPr>
                        <a:t>2.6</a:t>
                      </a:r>
                      <a:endParaRPr lang="en-US" sz="1200" dirty="0">
                        <a:latin typeface="Arial Black" charset="0"/>
                        <a:ea typeface="Arial Black" charset="0"/>
                        <a:cs typeface="Arial Black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6CF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CF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CF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CF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Arial Black" pitchFamily="34" charset="0"/>
                          <a:ea typeface="Arial Black" pitchFamily="34" charset="-122"/>
                          <a:cs typeface="Arial Black" pitchFamily="34" charset="-120"/>
                        </a:rPr>
                        <a:t>8.5</a:t>
                      </a:r>
                      <a:endParaRPr lang="en-US" sz="1200" dirty="0">
                        <a:latin typeface="Arial Black" charset="0"/>
                        <a:ea typeface="Arial Black" charset="0"/>
                        <a:cs typeface="Arial Black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6CF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CF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CF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CF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Arial Black" pitchFamily="34" charset="0"/>
                          <a:ea typeface="Arial Black" pitchFamily="34" charset="-122"/>
                          <a:cs typeface="Arial Black" pitchFamily="34" charset="-120"/>
                        </a:rPr>
                        <a:t>18</a:t>
                      </a:r>
                      <a:endParaRPr lang="en-US" sz="1200" dirty="0">
                        <a:latin typeface="Arial Black" charset="0"/>
                        <a:ea typeface="Arial Black" charset="0"/>
                        <a:cs typeface="Arial Black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6CF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CF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CF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CF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Arial Black" pitchFamily="34" charset="0"/>
                          <a:ea typeface="Arial Black" pitchFamily="34" charset="-122"/>
                          <a:cs typeface="Arial Black" pitchFamily="34" charset="-120"/>
                        </a:rPr>
                        <a:t>32</a:t>
                      </a:r>
                      <a:endParaRPr lang="en-US" sz="1200" dirty="0">
                        <a:latin typeface="Arial Black" charset="0"/>
                        <a:ea typeface="Arial Black" charset="0"/>
                        <a:cs typeface="Arial Black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6CF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CF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CF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CF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722F37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OP</a:t>
                      </a:r>
                      <a:endParaRPr lang="en-US" sz="12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6CF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CF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CF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CF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722F37"/>
                          </a:solidFill>
                          <a:latin typeface="Arial Black" pitchFamily="34" charset="0"/>
                          <a:ea typeface="Arial Black" pitchFamily="34" charset="-122"/>
                          <a:cs typeface="Arial Black" pitchFamily="34" charset="-120"/>
                        </a:rPr>
                        <a:t>-0.6</a:t>
                      </a:r>
                      <a:endParaRPr lang="en-US" sz="1200" dirty="0">
                        <a:latin typeface="Arial Black" charset="0"/>
                        <a:ea typeface="Arial Black" charset="0"/>
                        <a:cs typeface="Arial Black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6CF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CF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CF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CF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722F37"/>
                          </a:solidFill>
                          <a:latin typeface="Arial Black" pitchFamily="34" charset="0"/>
                          <a:ea typeface="Arial Black" pitchFamily="34" charset="-122"/>
                          <a:cs typeface="Arial Black" pitchFamily="34" charset="-120"/>
                        </a:rPr>
                        <a:t>-1.2</a:t>
                      </a:r>
                      <a:endParaRPr lang="en-US" sz="1200" dirty="0">
                        <a:latin typeface="Arial Black" charset="0"/>
                        <a:ea typeface="Arial Black" charset="0"/>
                        <a:cs typeface="Arial Black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6CF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CF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CF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CF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722F37"/>
                          </a:solidFill>
                          <a:latin typeface="Arial Black" pitchFamily="34" charset="0"/>
                          <a:ea typeface="Arial Black" pitchFamily="34" charset="-122"/>
                          <a:cs typeface="Arial Black" pitchFamily="34" charset="-120"/>
                        </a:rPr>
                        <a:t>+4.6</a:t>
                      </a:r>
                      <a:endParaRPr lang="en-US" sz="1200" dirty="0">
                        <a:latin typeface="Arial Black" charset="0"/>
                        <a:ea typeface="Arial Black" charset="0"/>
                        <a:cs typeface="Arial Black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6CF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CF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CF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CF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722F37"/>
                          </a:solidFill>
                          <a:latin typeface="Arial Black" pitchFamily="34" charset="0"/>
                          <a:ea typeface="Arial Black" pitchFamily="34" charset="-122"/>
                          <a:cs typeface="Arial Black" pitchFamily="34" charset="-120"/>
                        </a:rPr>
                        <a:t>+28</a:t>
                      </a:r>
                      <a:endParaRPr lang="en-US" sz="1200" dirty="0">
                        <a:latin typeface="Arial Black" charset="0"/>
                        <a:ea typeface="Arial Black" charset="0"/>
                        <a:cs typeface="Arial Black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6CF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CF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CF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CF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722F37"/>
                          </a:solidFill>
                          <a:latin typeface="Arial Black" pitchFamily="34" charset="0"/>
                          <a:ea typeface="Arial Black" pitchFamily="34" charset="-122"/>
                          <a:cs typeface="Arial Black" pitchFamily="34" charset="-120"/>
                        </a:rPr>
                        <a:t>+78</a:t>
                      </a:r>
                      <a:endParaRPr lang="en-US" sz="1200" dirty="0">
                        <a:latin typeface="Arial Black" charset="0"/>
                        <a:ea typeface="Arial Black" charset="0"/>
                        <a:cs typeface="Arial Black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6CF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CF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CF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CF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000000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OP %</a:t>
                      </a:r>
                      <a:endParaRPr lang="en-US" sz="12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6CF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CF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CF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CF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Arial Black" pitchFamily="34" charset="0"/>
                          <a:ea typeface="Arial Black" pitchFamily="34" charset="-122"/>
                          <a:cs typeface="Arial Black" pitchFamily="34" charset="-120"/>
                        </a:rPr>
                        <a:t>—</a:t>
                      </a:r>
                      <a:endParaRPr lang="en-US" sz="1200" dirty="0">
                        <a:latin typeface="Arial Black" charset="0"/>
                        <a:ea typeface="Arial Black" charset="0"/>
                        <a:cs typeface="Arial Black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6CF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CF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CF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CF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Arial Black" pitchFamily="34" charset="0"/>
                          <a:ea typeface="Arial Black" pitchFamily="34" charset="-122"/>
                          <a:cs typeface="Arial Black" pitchFamily="34" charset="-120"/>
                        </a:rPr>
                        <a:t>—</a:t>
                      </a:r>
                      <a:endParaRPr lang="en-US" sz="1200" dirty="0">
                        <a:latin typeface="Arial Black" charset="0"/>
                        <a:ea typeface="Arial Black" charset="0"/>
                        <a:cs typeface="Arial Black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6CF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CF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CF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CF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722F37"/>
                          </a:solidFill>
                          <a:latin typeface="Arial Black" pitchFamily="34" charset="0"/>
                          <a:ea typeface="Arial Black" pitchFamily="34" charset="-122"/>
                          <a:cs typeface="Arial Black" pitchFamily="34" charset="-120"/>
                        </a:rPr>
                        <a:t>16.4%</a:t>
                      </a:r>
                      <a:endParaRPr lang="en-US" sz="1200" dirty="0">
                        <a:latin typeface="Arial Black" charset="0"/>
                        <a:ea typeface="Arial Black" charset="0"/>
                        <a:cs typeface="Arial Black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6CF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CF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CF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CF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722F37"/>
                          </a:solidFill>
                          <a:latin typeface="Arial Black" pitchFamily="34" charset="0"/>
                          <a:ea typeface="Arial Black" pitchFamily="34" charset="-122"/>
                          <a:cs typeface="Arial Black" pitchFamily="34" charset="-120"/>
                        </a:rPr>
                        <a:t>34.1%</a:t>
                      </a:r>
                      <a:endParaRPr lang="en-US" sz="1200" dirty="0">
                        <a:latin typeface="Arial Black" charset="0"/>
                        <a:ea typeface="Arial Black" charset="0"/>
                        <a:cs typeface="Arial Black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6CF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CF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CF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CF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722F37"/>
                          </a:solidFill>
                          <a:latin typeface="Arial Black" pitchFamily="34" charset="0"/>
                          <a:ea typeface="Arial Black" pitchFamily="34" charset="-122"/>
                          <a:cs typeface="Arial Black" pitchFamily="34" charset="-120"/>
                        </a:rPr>
                        <a:t>43.3%</a:t>
                      </a:r>
                      <a:endParaRPr lang="en-US" sz="1200" dirty="0">
                        <a:latin typeface="Arial Black" charset="0"/>
                        <a:ea typeface="Arial Black" charset="0"/>
                        <a:cs typeface="Arial Black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6CF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CF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CF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CF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8F4E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1371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i="1" dirty="0">
                <a:solidFill>
                  <a:srgbClr val="722F37"/>
                </a:solidFill>
                <a:latin typeface="Garamond" pitchFamily="34" charset="0"/>
                <a:ea typeface="Garamond" pitchFamily="34" charset="-122"/>
                <a:cs typeface="Garamond" pitchFamily="34" charset="-120"/>
              </a:rPr>
              <a:t>16</a:t>
            </a:r>
            <a:endParaRPr lang="en-US" sz="1200" dirty="0"/>
          </a:p>
        </p:txBody>
      </p:sp>
      <p:sp>
        <p:nvSpPr>
          <p:cNvPr id="3" name="Shape 1"/>
          <p:cNvSpPr/>
          <p:nvPr/>
        </p:nvSpPr>
        <p:spPr>
          <a:xfrm>
            <a:off x="1691640" y="502920"/>
            <a:ext cx="365760" cy="0"/>
          </a:xfrm>
          <a:prstGeom prst="line">
            <a:avLst/>
          </a:prstGeom>
          <a:noFill/>
          <a:ln w="8890">
            <a:solidFill>
              <a:srgbClr val="722F37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286000" y="36576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i="1" spc="400" kern="0" dirty="0">
                <a:solidFill>
                  <a:srgbClr val="1F2937"/>
                </a:solidFill>
                <a:latin typeface="Garamond" pitchFamily="34" charset="0"/>
                <a:ea typeface="Garamond" pitchFamily="34" charset="-122"/>
                <a:cs typeface="Garamond" pitchFamily="34" charset="-120"/>
              </a:rPr>
              <a:t>Q&amp;A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10058400" y="365760"/>
            <a:ext cx="1645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i="1" dirty="0">
                <a:solidFill>
                  <a:srgbClr val="6B6B6B"/>
                </a:solidFill>
                <a:latin typeface="Garamond" pitchFamily="34" charset="0"/>
                <a:ea typeface="Garamond" pitchFamily="34" charset="-122"/>
                <a:cs typeface="Garamond" pitchFamily="34" charset="-120"/>
              </a:rPr>
              <a:t>p.17 / 18</a:t>
            </a:r>
            <a:endParaRPr lang="en-US" sz="1000" dirty="0"/>
          </a:p>
        </p:txBody>
      </p:sp>
      <p:sp>
        <p:nvSpPr>
          <p:cNvPr id="6" name="Shape 4"/>
          <p:cNvSpPr/>
          <p:nvPr/>
        </p:nvSpPr>
        <p:spPr>
          <a:xfrm>
            <a:off x="457200" y="777240"/>
            <a:ext cx="11247120" cy="0"/>
          </a:xfrm>
          <a:prstGeom prst="line">
            <a:avLst/>
          </a:prstGeom>
          <a:noFill/>
          <a:ln w="8890">
            <a:solidFill>
              <a:srgbClr val="722F37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57200" y="1005840"/>
            <a:ext cx="109728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722F3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예상 Q&amp;A. VC Top 5.</a:t>
            </a:r>
            <a:endParaRPr lang="en-US" sz="2200" dirty="0"/>
          </a:p>
        </p:txBody>
      </p:sp>
      <p:sp>
        <p:nvSpPr>
          <p:cNvPr id="8" name="Text 6"/>
          <p:cNvSpPr/>
          <p:nvPr/>
        </p:nvSpPr>
        <p:spPr>
          <a:xfrm>
            <a:off x="457200" y="1691640"/>
            <a:ext cx="7315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i="1" dirty="0">
                <a:solidFill>
                  <a:srgbClr val="722F37"/>
                </a:solidFill>
                <a:latin typeface="Palatino" pitchFamily="34" charset="0"/>
                <a:ea typeface="Palatino" pitchFamily="34" charset="-122"/>
                <a:cs typeface="Palatino" pitchFamily="34" charset="-120"/>
              </a:rPr>
              <a:t>Q1</a:t>
            </a:r>
            <a:endParaRPr lang="en-US" sz="2800" dirty="0"/>
          </a:p>
        </p:txBody>
      </p:sp>
      <p:sp>
        <p:nvSpPr>
          <p:cNvPr id="9" name="Text 7"/>
          <p:cNvSpPr/>
          <p:nvPr/>
        </p:nvSpPr>
        <p:spPr>
          <a:xfrm>
            <a:off x="1371600" y="1691640"/>
            <a:ext cx="10332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A1A1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효돌·스마일프렌즈 등 기존 솔루션과 차별점?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1371600" y="2075688"/>
            <a:ext cx="103327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B6B6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효돌은 인형 / 우리는 통합 케어 (복약·낙상·치매·의사). 의사 12명 자문 + B2G 인증 4종으로 카테고리 차별화.</a:t>
            </a:r>
            <a:endParaRPr lang="en-US" sz="1050" dirty="0"/>
          </a:p>
        </p:txBody>
      </p:sp>
      <p:sp>
        <p:nvSpPr>
          <p:cNvPr id="11" name="Text 9"/>
          <p:cNvSpPr/>
          <p:nvPr/>
        </p:nvSpPr>
        <p:spPr>
          <a:xfrm>
            <a:off x="457200" y="2606040"/>
            <a:ext cx="7315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i="1" dirty="0">
                <a:solidFill>
                  <a:srgbClr val="722F37"/>
                </a:solidFill>
                <a:latin typeface="Palatino" pitchFamily="34" charset="0"/>
                <a:ea typeface="Palatino" pitchFamily="34" charset="-122"/>
                <a:cs typeface="Palatino" pitchFamily="34" charset="-120"/>
              </a:rPr>
              <a:t>Q2</a:t>
            </a:r>
            <a:endParaRPr lang="en-US" sz="2800" dirty="0"/>
          </a:p>
        </p:txBody>
      </p:sp>
      <p:sp>
        <p:nvSpPr>
          <p:cNvPr id="12" name="Text 10"/>
          <p:cNvSpPr/>
          <p:nvPr/>
        </p:nvSpPr>
        <p:spPr>
          <a:xfrm>
            <a:off x="1371600" y="2606040"/>
            <a:ext cx="10332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A1A1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낙상 감지 97.2%는 검증되었나?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1371600" y="2990088"/>
            <a:ext cx="103327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B6B6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삼성서울병원 임상 200명 6개월 데이터 (2025.10 발표). KFDA 의료기기 1단계 인증 진행 중 (Y1 완료 예정).</a:t>
            </a:r>
            <a:endParaRPr lang="en-US" sz="1050" dirty="0"/>
          </a:p>
        </p:txBody>
      </p:sp>
      <p:sp>
        <p:nvSpPr>
          <p:cNvPr id="14" name="Text 12"/>
          <p:cNvSpPr/>
          <p:nvPr/>
        </p:nvSpPr>
        <p:spPr>
          <a:xfrm>
            <a:off x="457200" y="3520440"/>
            <a:ext cx="7315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i="1" dirty="0">
                <a:solidFill>
                  <a:srgbClr val="722F37"/>
                </a:solidFill>
                <a:latin typeface="Palatino" pitchFamily="34" charset="0"/>
                <a:ea typeface="Palatino" pitchFamily="34" charset="-122"/>
                <a:cs typeface="Palatino" pitchFamily="34" charset="-120"/>
              </a:rPr>
              <a:t>Q3</a:t>
            </a:r>
            <a:endParaRPr lang="en-US" sz="2800" dirty="0"/>
          </a:p>
        </p:txBody>
      </p:sp>
      <p:sp>
        <p:nvSpPr>
          <p:cNvPr id="15" name="Text 13"/>
          <p:cNvSpPr/>
          <p:nvPr/>
        </p:nvSpPr>
        <p:spPr>
          <a:xfrm>
            <a:off x="1371600" y="3520440"/>
            <a:ext cx="10332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A1A1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M-on-M +18% 성장이 보험사 번들 의존도 너무 높지 않나?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1371600" y="3904488"/>
            <a:ext cx="103327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B6B6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현재 매출의 32%가 보험사 채널. Y2까지 자녀 직접 채널을 50% 이상으로 확장 — 다각화 진행 중.</a:t>
            </a:r>
            <a:endParaRPr lang="en-US" sz="1050" dirty="0"/>
          </a:p>
        </p:txBody>
      </p:sp>
      <p:sp>
        <p:nvSpPr>
          <p:cNvPr id="17" name="Text 15"/>
          <p:cNvSpPr/>
          <p:nvPr/>
        </p:nvSpPr>
        <p:spPr>
          <a:xfrm>
            <a:off x="457200" y="4434840"/>
            <a:ext cx="7315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i="1" dirty="0">
                <a:solidFill>
                  <a:srgbClr val="722F37"/>
                </a:solidFill>
                <a:latin typeface="Palatino" pitchFamily="34" charset="0"/>
                <a:ea typeface="Palatino" pitchFamily="34" charset="-122"/>
                <a:cs typeface="Palatino" pitchFamily="34" charset="-120"/>
              </a:rPr>
              <a:t>Q4</a:t>
            </a:r>
            <a:endParaRPr lang="en-US" sz="2800" dirty="0"/>
          </a:p>
        </p:txBody>
      </p:sp>
      <p:sp>
        <p:nvSpPr>
          <p:cNvPr id="18" name="Text 16"/>
          <p:cNvSpPr/>
          <p:nvPr/>
        </p:nvSpPr>
        <p:spPr>
          <a:xfrm>
            <a:off x="1371600" y="4434840"/>
            <a:ext cx="10332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A1A1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치매 노인이 디지털 도구를 사용 가능한가?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1371600" y="4818888"/>
            <a:ext cx="103327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B6B6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디바이스는 시니어가 직접 사용 X. 자녀가 앱으로 모니터링, 시니어는 음성·센서로 인터랙션. 사용 만족도 96%.</a:t>
            </a:r>
            <a:endParaRPr lang="en-US" sz="1050" dirty="0"/>
          </a:p>
        </p:txBody>
      </p:sp>
      <p:sp>
        <p:nvSpPr>
          <p:cNvPr id="20" name="Text 18"/>
          <p:cNvSpPr/>
          <p:nvPr/>
        </p:nvSpPr>
        <p:spPr>
          <a:xfrm>
            <a:off x="457200" y="5349240"/>
            <a:ext cx="7315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i="1" dirty="0">
                <a:solidFill>
                  <a:srgbClr val="722F37"/>
                </a:solidFill>
                <a:latin typeface="Palatino" pitchFamily="34" charset="0"/>
                <a:ea typeface="Palatino" pitchFamily="34" charset="-122"/>
                <a:cs typeface="Palatino" pitchFamily="34" charset="-120"/>
              </a:rPr>
              <a:t>Q5</a:t>
            </a:r>
            <a:endParaRPr lang="en-US" sz="2800" dirty="0"/>
          </a:p>
        </p:txBody>
      </p:sp>
      <p:sp>
        <p:nvSpPr>
          <p:cNvPr id="21" name="Text 19"/>
          <p:cNvSpPr/>
          <p:nvPr/>
        </p:nvSpPr>
        <p:spPr>
          <a:xfrm>
            <a:off x="1371600" y="5349240"/>
            <a:ext cx="10332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A1A1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₩1.5B Pre-A로 18개월 가능?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1371600" y="5733288"/>
            <a:ext cx="103327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B6B6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현재 MRR ₩52M / 마진 76% → 월 ₩39M 자체 운영. Pre-A는 보험사 번들·요양 시설 확장 가속 용도.</a:t>
            </a:r>
            <a:endParaRPr lang="en-US" sz="105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8F4E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457200"/>
            <a:ext cx="11247120" cy="0"/>
          </a:xfrm>
          <a:prstGeom prst="line">
            <a:avLst/>
          </a:prstGeom>
          <a:noFill/>
          <a:ln w="12700">
            <a:solidFill>
              <a:srgbClr val="722F37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1371600"/>
            <a:ext cx="10972800" cy="2286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0" i="1" dirty="0">
                <a:solidFill>
                  <a:srgbClr val="722F37"/>
                </a:solidFill>
                <a:latin typeface="Palatino" pitchFamily="34" charset="0"/>
                <a:ea typeface="Palatino" pitchFamily="34" charset="-122"/>
                <a:cs typeface="Palatino" pitchFamily="34" charset="-120"/>
              </a:rPr>
              <a:t>Thank you.</a:t>
            </a:r>
            <a:endParaRPr lang="en-US" sz="13000" dirty="0"/>
          </a:p>
        </p:txBody>
      </p:sp>
      <p:sp>
        <p:nvSpPr>
          <p:cNvPr id="4" name="Shape 2"/>
          <p:cNvSpPr/>
          <p:nvPr/>
        </p:nvSpPr>
        <p:spPr>
          <a:xfrm>
            <a:off x="457200" y="4023360"/>
            <a:ext cx="11247120" cy="0"/>
          </a:xfrm>
          <a:prstGeom prst="line">
            <a:avLst/>
          </a:prstGeom>
          <a:noFill/>
          <a:ln w="12700">
            <a:solidFill>
              <a:srgbClr val="722F37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457200" y="4206240"/>
            <a:ext cx="10972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722F3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실버케어랩 — 부모님의 안부를 기술이 챙기는 시대.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457200" y="4800600"/>
            <a:ext cx="10972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6B6B6B"/>
                </a:solidFill>
                <a:latin typeface="Garamond" pitchFamily="34" charset="0"/>
                <a:ea typeface="Garamond" pitchFamily="34" charset="-122"/>
                <a:cs typeface="Garamond" pitchFamily="34" charset="-120"/>
              </a:rPr>
              <a:t>이수진 · CEO  /  invest@silvercarelab.kr  /  silvercarelab.kr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457200" y="5486400"/>
            <a:ext cx="1371600" cy="0"/>
          </a:xfrm>
          <a:prstGeom prst="line">
            <a:avLst/>
          </a:prstGeom>
          <a:noFill/>
          <a:ln w="6350">
            <a:solidFill>
              <a:srgbClr val="722F37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57200" y="5669280"/>
            <a:ext cx="10972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i="1" spc="400" kern="0" dirty="0">
                <a:solidFill>
                  <a:srgbClr val="722F37"/>
                </a:solidFill>
                <a:latin typeface="Garamond" pitchFamily="34" charset="0"/>
                <a:ea typeface="Garamond" pitchFamily="34" charset="-122"/>
                <a:cs typeface="Garamond" pitchFamily="34" charset="-120"/>
              </a:rPr>
              <a:t>PRE-SERIES A · 2026.06 · CONFIDENTIAL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457200" y="6446520"/>
            <a:ext cx="11247120" cy="0"/>
          </a:xfrm>
          <a:prstGeom prst="line">
            <a:avLst/>
          </a:prstGeom>
          <a:noFill/>
          <a:ln w="12700">
            <a:solidFill>
              <a:srgbClr val="722F37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10058400" y="6537960"/>
            <a:ext cx="1645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i="1" dirty="0">
                <a:solidFill>
                  <a:srgbClr val="6B6B6B"/>
                </a:solidFill>
                <a:latin typeface="Garamond" pitchFamily="34" charset="0"/>
                <a:ea typeface="Garamond" pitchFamily="34" charset="-122"/>
                <a:cs typeface="Garamond" pitchFamily="34" charset="-120"/>
              </a:rPr>
              <a:t>p.18 / 18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18</Slides>
  <Notes>18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18</vt:i4>
      </vt:variant>
    </vt:vector>
  </HeadingPairs>
  <TitlesOfParts>
    <vt:vector size="2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2026-04-30T10:32:11Z</dcterms:created>
  <dcterms:modified xsi:type="dcterms:W3CDTF">2026-04-30T10:32:11Z</dcterms:modified>
</cp:coreProperties>
</file>