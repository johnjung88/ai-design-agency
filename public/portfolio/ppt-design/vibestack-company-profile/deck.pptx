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5B3FD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9B7BF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VIBESTACK CORP. / 2026 / V.03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C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spc="-6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i="1" spc="-600" kern="0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stack.</a:t>
            </a:r>
            <a:endParaRPr lang="en-US" sz="13000" dirty="0"/>
          </a:p>
        </p:txBody>
      </p:sp>
      <p:sp>
        <p:nvSpPr>
          <p:cNvPr id="8" name="Shape 6"/>
          <p:cNvSpPr/>
          <p:nvPr/>
        </p:nvSpPr>
        <p:spPr>
          <a:xfrm>
            <a:off x="457200" y="4297680"/>
            <a:ext cx="731520" cy="914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480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Korea's #1 AI Automation Agency.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983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C8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업무 자동화 — AI 에이전트로 32% 시간 절감.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57790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" y="6263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D4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5852160"/>
            <a:ext cx="0" cy="548640"/>
          </a:xfrm>
          <a:prstGeom prst="line">
            <a:avLst/>
          </a:prstGeom>
          <a:noFill/>
          <a:ln w="5080">
            <a:solidFill>
              <a:srgbClr val="5B3F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8980" y="57790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68980" y="6263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D4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57900" y="5852160"/>
            <a:ext cx="0" cy="548640"/>
          </a:xfrm>
          <a:prstGeom prst="line">
            <a:avLst/>
          </a:prstGeom>
          <a:noFill/>
          <a:ln w="5080">
            <a:solidFill>
              <a:srgbClr val="5B3F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57790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$8.4M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080760" y="6263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D4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869680" y="5852160"/>
            <a:ext cx="0" cy="548640"/>
          </a:xfrm>
          <a:prstGeom prst="line">
            <a:avLst/>
          </a:prstGeom>
          <a:noFill/>
          <a:ln w="5080">
            <a:solidFill>
              <a:srgbClr val="5B3F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92540" y="57790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892540" y="6263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D4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p.02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9B7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0" b="1" spc="-3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Hello, we are</a:t>
            </a:r>
            <a:endParaRPr lang="en-US" sz="8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0" b="1" spc="-3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VibeStack.</a:t>
            </a:r>
            <a:endParaRPr lang="en-US" sz="80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731520" cy="91440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703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3F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업무 자동화를 만드는 AI 에이전시.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251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 설립 / 한국 + 일본 / 120개 기업의 워크플로우를 자동화합니다.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521208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5212080"/>
            <a:ext cx="2697480" cy="91440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440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FOUNDED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5760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2024.06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268980" y="521208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8980" y="5212080"/>
            <a:ext cx="2697480" cy="91440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16" name="Text 14"/>
          <p:cNvSpPr/>
          <p:nvPr/>
        </p:nvSpPr>
        <p:spPr>
          <a:xfrm>
            <a:off x="3451860" y="5440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51860" y="5760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 명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080760" y="521208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5212080"/>
            <a:ext cx="2697480" cy="91440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5440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5760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 +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8892540" y="521208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92540" y="5212080"/>
            <a:ext cx="2697480" cy="91440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24" name="Text 22"/>
          <p:cNvSpPr/>
          <p:nvPr/>
        </p:nvSpPr>
        <p:spPr>
          <a:xfrm>
            <a:off x="9075420" y="5440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MARKETS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075420" y="5760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KR · JP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WE ARE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p.03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9B7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6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things we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-3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believe.</a:t>
            </a:r>
            <a:endParaRPr lang="en-US" sz="80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11247120" cy="0"/>
          </a:xfrm>
          <a:prstGeom prst="line">
            <a:avLst/>
          </a:prstGeom>
          <a:noFill/>
          <a:ln w="12700">
            <a:solidFill>
              <a:srgbClr val="9B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08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554480" y="3154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AUTOMATION ≠ REPLACEMENT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54480" y="34015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자동화는 대체가 아니라 확장이다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0" y="32461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사람을 대체하지 않습니다. 반복 업무를 가져가서, 사람은 더 가치있는 일을 하게 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11247120" cy="0"/>
          </a:xfrm>
          <a:prstGeom prst="line">
            <a:avLst/>
          </a:prstGeom>
          <a:noFill/>
          <a:ln w="6350">
            <a:solidFill>
              <a:srgbClr val="E2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206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554480" y="4251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DOMAIN &gt; MODEL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54480" y="44988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도메인이 모델보다 중요하다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43434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GPT-4를 누구나 부를 수 있습니다. 차이는 그 결과를 어떻게 비즈니스 워크플로우로 만드는가입니다.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5166360"/>
            <a:ext cx="11247120" cy="0"/>
          </a:xfrm>
          <a:prstGeom prst="line">
            <a:avLst/>
          </a:prstGeom>
          <a:noFill/>
          <a:ln w="6350">
            <a:solidFill>
              <a:srgbClr val="E2E0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303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554480" y="5349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MEASURABLE ROI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54480" y="55961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ROI는 측정 가능해야 한다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54406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프로젝트는 절감 시간·비용을 명시합니다. 평균 32% 시간 절감 + 18% 비용 절감.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6263640"/>
            <a:ext cx="11247120" cy="0"/>
          </a:xfrm>
          <a:prstGeom prst="line">
            <a:avLst/>
          </a:prstGeom>
          <a:noFill/>
          <a:ln w="6350">
            <a:solidFill>
              <a:srgbClr val="E2E0E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p.04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9B7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i="1" spc="-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do.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1247120" cy="0"/>
          </a:xfrm>
          <a:prstGeom prst="line">
            <a:avLst/>
          </a:prstGeom>
          <a:noFill/>
          <a:ln w="12700">
            <a:solidFill>
              <a:srgbClr val="9B7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6888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68880"/>
            <a:ext cx="137160" cy="1691640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06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28800" y="2651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Workflow Automation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ChatGPT/Claude API로 회사 내 반복 업무 자동화 — 30+ 프로젝트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46888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468880"/>
            <a:ext cx="137160" cy="16916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606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589520" y="2651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AI Agents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338328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데이터로 학습한 도메인 전용 AI — 12개 기업 도입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389120"/>
            <a:ext cx="137160" cy="1691640"/>
          </a:xfrm>
          <a:prstGeom prst="rect">
            <a:avLst/>
          </a:prstGeom>
          <a:solidFill>
            <a:srgbClr val="FF4EC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526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4E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828800" y="4572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/ Knowledge Base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53035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내부 지식 검색 시스템 — 8개 대기업 구축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438912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4389120"/>
            <a:ext cx="137160" cy="1691640"/>
          </a:xfrm>
          <a:prstGeom prst="rect">
            <a:avLst/>
          </a:prstGeom>
          <a:solidFill>
            <a:srgbClr val="10D9B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526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D9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589520" y="4572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Strategy Consulting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83680" y="53035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도입 로드맵 + ROI 분석 + PoC — 24개 기업 자문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PROCESS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p.05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9B7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i="1" spc="-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work.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 PoC → 8주 도입 → 지속 운영. 평균 12주.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11247120" cy="0"/>
          </a:xfrm>
          <a:prstGeom prst="line">
            <a:avLst/>
          </a:prstGeom>
          <a:noFill/>
          <a:ln w="12700">
            <a:solidFill>
              <a:srgbClr val="9B7B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2608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1주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2377440" cy="0"/>
          </a:xfrm>
          <a:prstGeom prst="line">
            <a:avLst/>
          </a:prstGeom>
          <a:noFill/>
          <a:ln w="6350">
            <a:solidFill>
              <a:srgbClr val="E2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5720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워크플로우 분석 + ROI 추정 + 우선순위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292608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2926080"/>
            <a:ext cx="2743200" cy="36576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20440" y="3429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3703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3주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3520440" y="4434840"/>
            <a:ext cx="2377440" cy="0"/>
          </a:xfrm>
          <a:prstGeom prst="line">
            <a:avLst/>
          </a:prstGeom>
          <a:noFill/>
          <a:ln w="6350">
            <a:solidFill>
              <a:srgbClr val="E2E0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45720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데이터로 프로토타입 제작 + 성과 검증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92608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2926080"/>
            <a:ext cx="2743200" cy="36576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3429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3703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8주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6400800" y="4434840"/>
            <a:ext cx="2377440" cy="0"/>
          </a:xfrm>
          <a:prstGeom prst="line">
            <a:avLst/>
          </a:prstGeom>
          <a:noFill/>
          <a:ln w="6350">
            <a:solidFill>
              <a:srgbClr val="E2E0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5720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프로덕션 시스템 구축 + 통합 + 보안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98280" y="292608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98280" y="2926080"/>
            <a:ext cx="2743200" cy="36576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2" name="Text 30"/>
          <p:cNvSpPr/>
          <p:nvPr/>
        </p:nvSpPr>
        <p:spPr>
          <a:xfrm>
            <a:off x="909828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281160" y="3429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281160" y="3703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지속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9281160" y="4434840"/>
            <a:ext cx="2377440" cy="0"/>
          </a:xfrm>
          <a:prstGeom prst="line">
            <a:avLst/>
          </a:prstGeom>
          <a:noFill/>
          <a:ln w="6350">
            <a:solidFill>
              <a:srgbClr val="E2E0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81160" y="45720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모니터링 + 최적화 + 분기 리뷰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p.06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9B7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spc="-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work.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1247120" cy="0"/>
          </a:xfrm>
          <a:prstGeom prst="line">
            <a:avLst/>
          </a:prstGeom>
          <a:noFill/>
          <a:ln w="12700">
            <a:solidFill>
              <a:srgbClr val="9B7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6888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06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삼성SDS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RAG 시스템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484632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474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703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시간 -68%, 사내 문의 -42%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46888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606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GS리테일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92240" y="3017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응대 AI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3383280"/>
            <a:ext cx="484632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474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3703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시간 -55%, NPS +18pt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526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LG전자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1520" y="4937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자동화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5303520"/>
            <a:ext cx="484632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394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5623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QC 인력 효율 +42%, 불량률 -28%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438912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526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토스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92240" y="4937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분석 자동화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5303520"/>
            <a:ext cx="484632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5394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92240" y="5623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리포트 시간 -78%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01 · 삼성SDS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p.07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9B7B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3657600" cy="457200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삼성SDS 사내 RAG 검색 시스템.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11247120" cy="0"/>
          </a:xfrm>
          <a:prstGeom prst="line">
            <a:avLst/>
          </a:prstGeom>
          <a:noFill/>
          <a:ln w="12700">
            <a:solidFill>
              <a:srgbClr val="9B7B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0604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97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B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시간 절감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12분 → 4분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68980" y="260604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1860" y="2697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B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45186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문의 감소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5186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800건 → 460건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0760" y="260604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697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B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+340M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26364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절감 효과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근무 시간 환산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892540" y="260604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75420" y="2697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B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12주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07542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기간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7542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PoC 4주 + Build 8주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11247120" cy="210312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4348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"기존에는 사내 위키·드라이브·노션 12개 채널을 다 뒤져야 했다. VibeStack 도입 후, 직원이 자연어로 물으면 답이 나온다. CS 문의 절반이 사라졌다."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" y="5852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300" kern="0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김OO, 삼성SDS DX 본부장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p.08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9B7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spc="-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stack.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 LLM + 검증된 인프라 = 안정적 자동화.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11247120" cy="0"/>
          </a:xfrm>
          <a:prstGeom prst="line">
            <a:avLst/>
          </a:prstGeom>
          <a:noFill/>
          <a:ln w="12700">
            <a:solidFill>
              <a:srgbClr val="9B7B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26080"/>
            <a:ext cx="5394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484632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474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OpenAI GPT-4o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3474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Anthropic Claude 4.6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Google Gemini 2.5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3886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Meta Llama 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926080"/>
            <a:ext cx="5394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VECTOR DB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3337560"/>
            <a:ext cx="484632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474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Pinecone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61120" y="3474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Weaviate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3886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Qdrant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0" y="3886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PostgreSQL pgvector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617720"/>
            <a:ext cx="5394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INFRA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5029200"/>
            <a:ext cx="484632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166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AWS Multi-region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5166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K8s + Docker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5577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LangChain · LlamaIndex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5577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Datadog · Sentry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4617720"/>
            <a:ext cx="5394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92240" y="5029200"/>
            <a:ext cx="484632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5166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React + Next.js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961120" y="5166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TypeScript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5577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Tailwind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961120" y="5577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Vercel · CloudFlare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p.09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9B7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spc="-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 people.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Engineers 24 / Consultants 12 / Designers 8 / Ops 4.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11247120" cy="0"/>
          </a:xfrm>
          <a:prstGeom prst="line">
            <a:avLst/>
          </a:prstGeom>
          <a:noFill/>
          <a:ln w="12700">
            <a:solidFill>
              <a:srgbClr val="9B7B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2608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26080"/>
            <a:ext cx="2743200" cy="164592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CEO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Park Ji-ho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228600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2976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ex-Naver Clova / KAIST CS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워크플로우 전문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292608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2926080"/>
            <a:ext cx="2743200" cy="164592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11880" y="3520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 Min-ji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611880" y="4160520"/>
            <a:ext cx="228600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42976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ex-Kakao ML / SNU Eng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NeurIPS 6 papers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92608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926080"/>
            <a:ext cx="2743200" cy="164592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CDO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92240" y="3520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Kim Sung-woo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92240" y="4160520"/>
            <a:ext cx="228600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2976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ex-Toss Backend / KAIST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Production LLM 5y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98280" y="292608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98280" y="2926080"/>
            <a:ext cx="2743200" cy="164592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29" name="Text 27"/>
          <p:cNvSpPr/>
          <p:nvPr/>
        </p:nvSpPr>
        <p:spPr>
          <a:xfrm>
            <a:off x="937260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Head of Strategy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372600" y="3520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 Hae-rin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372600" y="4160520"/>
            <a:ext cx="228600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72600" y="42976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ex-McKinsey 5y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도입 자문 28건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p.10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9B7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spc="-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120+ clients.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대기업 32 + 중견기업 48 + 스타트업 40 = 120 logos.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11247120" cy="0"/>
          </a:xfrm>
          <a:prstGeom prst="line">
            <a:avLst/>
          </a:prstGeom>
          <a:noFill/>
          <a:ln w="12700">
            <a:solidFill>
              <a:srgbClr val="9B7B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26080"/>
            <a:ext cx="269748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삼성SDS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68980" y="2926080"/>
            <a:ext cx="269748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8980" y="29260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LG전자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80760" y="2926080"/>
            <a:ext cx="269748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9260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현대모비스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92540" y="2926080"/>
            <a:ext cx="269748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0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92540" y="29260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SK하이닉스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269748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947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POSCO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68980" y="3794760"/>
            <a:ext cx="269748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8980" y="37947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GS리테일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80760" y="3794760"/>
            <a:ext cx="269748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0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37947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CJ ENM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892540" y="3794760"/>
            <a:ext cx="269748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0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92540" y="37947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269748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0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634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Naver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68980" y="4663440"/>
            <a:ext cx="269748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0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8980" y="46634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Kakao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80760" y="4663440"/>
            <a:ext cx="269748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0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46634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Coupang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892540" y="4663440"/>
            <a:ext cx="269748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0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92540" y="46634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Toss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5532120"/>
            <a:ext cx="269748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0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5321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Yanolja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268980" y="5532120"/>
            <a:ext cx="269748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0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68980" y="55321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Krafton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080760" y="5532120"/>
            <a:ext cx="269748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0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55321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Musinsa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892540" y="5532120"/>
            <a:ext cx="269748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0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92540" y="55321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Banksalad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p.11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9B7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i="1" spc="-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Pricing.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1247120" cy="0"/>
          </a:xfrm>
          <a:prstGeom prst="line">
            <a:avLst/>
          </a:prstGeom>
          <a:noFill/>
          <a:ln w="12700">
            <a:solidFill>
              <a:srgbClr val="9B7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2316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23160"/>
            <a:ext cx="3657600" cy="36576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₩48M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프로세스 자동화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320040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1개 워크플로우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937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PoC + 1개월 운영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5303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이메일 지원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2423160"/>
            <a:ext cx="3657600" cy="4114800"/>
          </a:xfrm>
          <a:prstGeom prst="rect">
            <a:avLst/>
          </a:prstGeom>
          <a:solidFill>
            <a:srgbClr val="0F0F1A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2423160"/>
            <a:ext cx="3657600" cy="365760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29260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B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₩180M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57200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12주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단위 자동화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4434840"/>
            <a:ext cx="3200400" cy="0"/>
          </a:xfrm>
          <a:prstGeom prst="line">
            <a:avLst/>
          </a:prstGeom>
          <a:noFill/>
          <a:ln w="5080">
            <a:solidFill>
              <a:srgbClr val="2A2A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3개 워크플로우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4937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RAG + 에이전트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5303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전담 PM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5669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분기 리뷰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242316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2423160"/>
            <a:ext cx="3657600" cy="36576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1" name="Text 29"/>
          <p:cNvSpPr/>
          <p:nvPr/>
        </p:nvSpPr>
        <p:spPr>
          <a:xfrm>
            <a:off x="813816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0" y="29260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841248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24주+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1248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전체 자동화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412480" y="4434840"/>
            <a:ext cx="320040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무제한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12480" y="4937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보안·SOC2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12480" y="5303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전담팀 4명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12480" y="5669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24/7 지원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12480" y="6035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SLA 99.9%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p.12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9B7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spc="-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 calculator.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1247120" cy="0"/>
          </a:xfrm>
          <a:prstGeom prst="line">
            <a:avLst/>
          </a:prstGeom>
          <a:noFill/>
          <a:ln w="12700">
            <a:solidFill>
              <a:srgbClr val="9B7BFF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11247120" cy="91440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STANDARD 도입 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0F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STANDARD 도입 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7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직원 30명 시간 (월)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5,400 hr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3FD9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3,672 hr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D9B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-32%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인건비 환산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₩270M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3FD9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₩184M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D9B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-₩86M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VibeStack 비용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3FD9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₩15M / 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4EC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+₩15M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3FD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 절감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3FD9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₩71M / 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D9B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+₩852M / 년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3FD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ROI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D9B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473% (Y1)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기준: 30인 기업 / 평균 인당 ₩9M 월급 / 도입 후 절감 시간 환산. 1년 ROI 473%.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PROMISE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p.13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9B7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spc="-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promise.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1247120" cy="0"/>
          </a:xfrm>
          <a:prstGeom prst="line">
            <a:avLst/>
          </a:prstGeom>
          <a:noFill/>
          <a:ln w="12700">
            <a:solidFill>
              <a:srgbClr val="9B7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68880"/>
            <a:ext cx="11247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060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645920" y="2606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PRICE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0" y="2651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 후 추가 비용 0원 — 모든 변경은 사전 합의.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11247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661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645920" y="3566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 GUARANTEE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3611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STANDARD 패키지 ROI 200% 미달 시 30% 환불.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11247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5262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645920" y="4526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0" y="4572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ISMS-P 인증 / 데이터 격리 / NDA 표준.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349240"/>
            <a:ext cx="11247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4864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645920" y="5486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OWNERSHIP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55321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구축한 시스템·코드·모델은 모두 고객 소유.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IN TOUCH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p.14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9B7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i="1" spc="-3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build.</a:t>
            </a:r>
            <a:endParaRPr lang="en-US" sz="90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731520" cy="91440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520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EMAIL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3520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hello@vibestack.kr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530352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3520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PHONE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63840" y="3520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+82 2 555-1234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4023360"/>
            <a:ext cx="530352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434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4434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vibestack.kr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937760"/>
            <a:ext cx="530352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4434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OFFICE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4434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Seoul Gangnam-gu Tehran-ro 152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4937760"/>
            <a:ext cx="530352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349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3120" y="5349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영업일 24h 내 회신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5852160"/>
            <a:ext cx="530352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5349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63840" y="5349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Calendly · Zoom · 직접 방문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7920" y="5852160"/>
            <a:ext cx="530352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AWARDS &amp; PRESS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p.15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9B7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spc="-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Recognized.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1247120" cy="0"/>
          </a:xfrm>
          <a:prstGeom prst="line">
            <a:avLst/>
          </a:prstGeom>
          <a:noFill/>
          <a:ln w="12700">
            <a:solidFill>
              <a:srgbClr val="9B7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2026.03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2651760"/>
            <a:ext cx="365760" cy="0"/>
          </a:xfrm>
          <a:prstGeom prst="line">
            <a:avLst/>
          </a:prstGeom>
          <a:noFill/>
          <a:ln w="12700">
            <a:solidFill>
              <a:srgbClr val="E2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468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K-AI Agency of the Year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6968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한국AI협회 / 산업부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11247120" cy="0"/>
          </a:xfrm>
          <a:prstGeom prst="line">
            <a:avLst/>
          </a:prstGeom>
          <a:noFill/>
          <a:ln w="3810">
            <a:solidFill>
              <a:srgbClr val="E2E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2025.11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20240" y="3291840"/>
            <a:ext cx="365760" cy="0"/>
          </a:xfrm>
          <a:prstGeom prst="line">
            <a:avLst/>
          </a:prstGeom>
          <a:noFill/>
          <a:ln w="12700">
            <a:solidFill>
              <a:srgbClr val="E2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3108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 10 AI Startups 2025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6968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Forbes Korea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11247120" cy="0"/>
          </a:xfrm>
          <a:prstGeom prst="line">
            <a:avLst/>
          </a:prstGeom>
          <a:noFill/>
          <a:ln w="3810">
            <a:solidFill>
              <a:srgbClr val="E2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49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2025.08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20240" y="3931920"/>
            <a:ext cx="365760" cy="0"/>
          </a:xfrm>
          <a:prstGeom prst="line">
            <a:avLst/>
          </a:prstGeom>
          <a:noFill/>
          <a:ln w="12700">
            <a:solidFill>
              <a:srgbClr val="E2E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Workflow Automation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6968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Korea Partner Awards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51960"/>
            <a:ext cx="11247120" cy="0"/>
          </a:xfrm>
          <a:prstGeom prst="line">
            <a:avLst/>
          </a:prstGeom>
          <a:noFill/>
          <a:ln w="3810">
            <a:solidFill>
              <a:srgbClr val="E2E0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2025.06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20240" y="4572000"/>
            <a:ext cx="365760" cy="0"/>
          </a:xfrm>
          <a:prstGeom prst="line">
            <a:avLst/>
          </a:prstGeom>
          <a:noFill/>
          <a:ln w="12700">
            <a:solidFill>
              <a:srgbClr val="E2E0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4389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Featured Case Study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6968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Customer Stories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892040"/>
            <a:ext cx="11247120" cy="0"/>
          </a:xfrm>
          <a:prstGeom prst="line">
            <a:avLst/>
          </a:prstGeom>
          <a:noFill/>
          <a:ln w="3810">
            <a:solidFill>
              <a:srgbClr val="E2E0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2025.04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920240" y="5212080"/>
            <a:ext cx="365760" cy="0"/>
          </a:xfrm>
          <a:prstGeom prst="line">
            <a:avLst/>
          </a:prstGeom>
          <a:noFill/>
          <a:ln w="12700">
            <a:solidFill>
              <a:srgbClr val="E2E0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68880" y="5029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 100 SaaS in Asia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86968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TechCrunch Asia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5532120"/>
            <a:ext cx="11247120" cy="0"/>
          </a:xfrm>
          <a:prstGeom prst="line">
            <a:avLst/>
          </a:prstGeom>
          <a:noFill/>
          <a:ln w="3810">
            <a:solidFill>
              <a:srgbClr val="E2E0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5669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2024.12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920240" y="5852160"/>
            <a:ext cx="365760" cy="0"/>
          </a:xfrm>
          <a:prstGeom prst="line">
            <a:avLst/>
          </a:prstGeom>
          <a:noFill/>
          <a:ln w="12700">
            <a:solidFill>
              <a:srgbClr val="E2E0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0" y="5669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Korea AI Pioneer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86968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전자신문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6172200"/>
            <a:ext cx="11247120" cy="0"/>
          </a:xfrm>
          <a:prstGeom prst="line">
            <a:avLst/>
          </a:prstGeom>
          <a:noFill/>
          <a:ln w="3810">
            <a:solidFill>
              <a:srgbClr val="E2E0EC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CULTURE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p.16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9B7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spc="-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일하는 방식.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11247120" cy="0"/>
          </a:xfrm>
          <a:prstGeom prst="line">
            <a:avLst/>
          </a:prstGeom>
          <a:noFill/>
          <a:ln w="12700">
            <a:solidFill>
              <a:srgbClr val="9B7B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26080"/>
            <a:ext cx="5394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17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182880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B3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35661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딥워크 가능한 시간 보장 — 회의 30% 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926080"/>
            <a:ext cx="5394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017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758952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B3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 FIRST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89520" y="35661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비동기 우선 — 80% 결정은 글로 진행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617720"/>
            <a:ext cx="5394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709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1828800" y="4800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B3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OWNERSHIP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52578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PM 단일 책임 — 책임 + 권한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4617720"/>
            <a:ext cx="5394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709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7589520" y="4800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B3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OUT LOUD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89520" y="52578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LT + 격주 페이퍼 클럽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 2030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p.17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9B7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spc="-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2030.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1247120" cy="0"/>
          </a:xfrm>
          <a:prstGeom prst="line">
            <a:avLst/>
          </a:prstGeom>
          <a:noFill/>
          <a:ln w="12700">
            <a:solidFill>
              <a:srgbClr val="9B7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6888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517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B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1,000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도입 (vs 120 now)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46888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6517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B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$100M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492240" y="3611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매출 (vs $8.4M now)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572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B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731520" y="5532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 (vs 48 now)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438912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572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B7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6492240" y="5532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국가 진출 (KR·JP·SG·VN·TW·US)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p.18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9B7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spc="-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Giving back.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1247120" cy="0"/>
          </a:xfrm>
          <a:prstGeom prst="line">
            <a:avLst/>
          </a:prstGeom>
          <a:noFill/>
          <a:ln w="12700">
            <a:solidFill>
              <a:srgbClr val="9B7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68880"/>
            <a:ext cx="11247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68880"/>
            <a:ext cx="1645920" cy="1097280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688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KAI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92024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무료 교육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20240" y="30632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비영리 / 시니어 / 농어촌 — 누적 2,400명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11247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749040"/>
            <a:ext cx="1645920" cy="1097280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7490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92024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오픈소스 기여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20240" y="43434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LangChain·LlamaIndex 컨트리뷰트 / 자체 OSS 4개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029200"/>
            <a:ext cx="11247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029200"/>
            <a:ext cx="1645920" cy="1097280"/>
          </a:xfrm>
          <a:prstGeom prst="rect">
            <a:avLst/>
          </a:prstGeom>
          <a:solidFill>
            <a:srgbClr val="9B7B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0292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920240" y="521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1% Pledge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920240" y="56235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1% 비영리 단체 기부 (연 ₩84M)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9202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p.19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9B7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spc="-2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when you are.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47120" cy="0"/>
          </a:xfrm>
          <a:prstGeom prst="line">
            <a:avLst/>
          </a:prstGeom>
          <a:noFill/>
          <a:ln w="12700">
            <a:solidFill>
              <a:srgbClr val="9B7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80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CALL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29718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 무료 — 우리가 도울 수 있는지 확인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1124712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57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7160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ASSESSMENT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74904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 무료 진단 — ROI 추정 + 우선순위 제안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1124712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434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7160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POC / PROJECT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452628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PoC 4주 — 실제 데이터로 검증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983480"/>
            <a:ext cx="1124712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212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371600" y="5257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0F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DEPLOYMENT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53035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8-24주 풀 도입 — STANDARD / ENTERPRISE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760720"/>
            <a:ext cx="11247120" cy="0"/>
          </a:xfrm>
          <a:prstGeom prst="line">
            <a:avLst/>
          </a:prstGeom>
          <a:noFill/>
          <a:ln w="5080">
            <a:solidFill>
              <a:srgbClr val="E2E0EC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1828800"/>
            <a:ext cx="7315200" cy="7315200"/>
          </a:xfrm>
          <a:prstGeom prst="ellipse">
            <a:avLst/>
          </a:prstGeom>
          <a:solidFill>
            <a:srgbClr val="5B3FD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9B7BF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i="1" spc="-6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vibestack.</a:t>
            </a:r>
            <a:endParaRPr lang="en-US" sz="130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731520" cy="914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hello@vibestack.kr  ·  vibestack.kr  ·  +82 2 555-1234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5943600"/>
            <a:ext cx="12188952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080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VIBESTACK CORP. · 2026 · CONFIDENTIAL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0" y="6355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0E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2026-04-30T11:46:04Z</dcterms:created>
  <dcterms:modified xsi:type="dcterms:W3CDTF">2026-04-30T11:46:04Z</dcterms:modified>
</cp:coreProperties>
</file>