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Tech 시장 ($B)</c:v>
                </c:pt>
              </c:strCache>
            </c:strRef>
          </c:tx>
          <c:spPr>
            <a:solidFill>
              <a:srgbClr val="00B8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838"/>
                    </a:solidFill>
                    <a:latin typeface="Arial Blac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2030E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28</c:v>
                </c:pt>
                <c:pt idx="2">
                  <c:v>34</c:v>
                </c:pt>
                <c:pt idx="3">
                  <c:v>41</c:v>
                </c:pt>
                <c:pt idx="4">
                  <c:v>48</c:v>
                </c:pt>
                <c:pt idx="5">
                  <c:v>110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838"/>
                  </a:solidFill>
                  <a:latin typeface="Arial Blac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Helvetic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Helvetic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spPr>
            <a:solidFill>
              <a:srgbClr val="00B8D4"/>
            </a:solidFill>
            <a:ln w="50800" cap="flat">
              <a:solidFill>
                <a:srgbClr val="00B8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838"/>
                    </a:solidFill>
                    <a:latin typeface="Arial Blac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4"/>
            <c:spPr>
              <a:solidFill>
                <a:srgbClr val="00B8D4"/>
              </a:solidFill>
              <a:ln w="9525" cap="flat">
                <a:solidFill>
                  <a:srgbClr val="00B8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Q1'25</c:v>
                  </c:pt>
                  <c:pt idx="1">
                    <c:v>Q2'25</c:v>
                  </c:pt>
                  <c:pt idx="2">
                    <c:v>Q3'25</c:v>
                  </c:pt>
                  <c:pt idx="3">
                    <c:v>Q4'25</c:v>
                  </c:pt>
                  <c:pt idx="4">
                    <c:v>Q1'26</c:v>
                  </c:pt>
                  <c:pt idx="5">
                    <c:v>Q2'26 (Now)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400</c:v>
                </c:pt>
                <c:pt idx="1">
                  <c:v>680</c:v>
                </c:pt>
                <c:pt idx="2">
                  <c:v>1080</c:v>
                </c:pt>
                <c:pt idx="3">
                  <c:v>1580</c:v>
                </c:pt>
                <c:pt idx="4">
                  <c:v>2050</c:v>
                </c:pt>
                <c:pt idx="5">
                  <c:v>2400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838"/>
                  </a:solidFill>
                  <a:latin typeface="Arial Blac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Helvetic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Helvetic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8D4"/>
              </a:solidFill>
              <a:effectLst/>
            </c:spPr>
          </c:dPt>
          <c:dPt>
            <c:idx val="1"/>
            <c:bubble3D val="0"/>
            <c:spPr>
              <a:solidFill>
                <a:srgbClr val="1B2838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10B98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Inbound (콘텐츠+SEO)</c:v>
                </c:pt>
                <c:pt idx="1">
                  <c:v>Outbound (BDR)</c:v>
                </c:pt>
                <c:pt idx="2">
                  <c:v>Partner (System Integrator)</c:v>
                </c:pt>
                <c:pt idx="3">
                  <c:v>Self-serve (PLG)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42</c:v>
                </c:pt>
                <c:pt idx="1">
                  <c:v>28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8D4"/>
              </a:solidFill>
              <a:effectLst/>
            </c:spPr>
          </c:dPt>
          <c:dPt>
            <c:idx val="1"/>
            <c:bubble3D val="0"/>
            <c:spPr>
              <a:solidFill>
                <a:srgbClr val="1B2838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Engineering · R&amp;D</c:v>
                </c:pt>
                <c:pt idx="1">
                  <c:v>Sales &amp; Marketing</c:v>
                </c:pt>
                <c:pt idx="2">
                  <c:v>Customer Success</c:v>
                </c:pt>
                <c:pt idx="3">
                  <c:v>G&amp;A · Reserve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8890">
            <a:solidFill>
              <a:srgbClr val="00B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7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6400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SERIES B  /  CONFIDENTIAL  / 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6350">
            <a:solidFill>
              <a:srgbClr val="3D4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spc="-4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FlowDesk.</a:t>
            </a:r>
            <a:endParaRPr lang="en-US" sz="130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548640" cy="9144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520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Operating System for B2B Sales Teams.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B2B 영업팀을 위한 통합 운영 OS — CRM + 자동화 + 분석.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4754880"/>
            <a:ext cx="11247120" cy="914400"/>
          </a:xfrm>
          <a:prstGeom prst="rect">
            <a:avLst/>
          </a:prstGeom>
          <a:solidFill>
            <a:srgbClr val="3D4F5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864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62E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5120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$2.4M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3246120" y="4937760"/>
            <a:ext cx="0" cy="548640"/>
          </a:xfrm>
          <a:prstGeom prst="line">
            <a:avLst/>
          </a:prstGeom>
          <a:noFill/>
          <a:ln w="5080">
            <a:solidFill>
              <a:srgbClr val="00B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8980" y="4864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62E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NRR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68980" y="5120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138%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6057900" y="4937760"/>
            <a:ext cx="0" cy="548640"/>
          </a:xfrm>
          <a:prstGeom prst="line">
            <a:avLst/>
          </a:prstGeom>
          <a:noFill/>
          <a:ln w="5080">
            <a:solidFill>
              <a:srgbClr val="00B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4864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62E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80760" y="5120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8869680" y="4937760"/>
            <a:ext cx="0" cy="548640"/>
          </a:xfrm>
          <a:prstGeom prst="line">
            <a:avLst/>
          </a:prstGeom>
          <a:noFill/>
          <a:ln w="5080">
            <a:solidFill>
              <a:srgbClr val="00B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92540" y="4864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62E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MAGIC NUMBER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92540" y="5120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1.4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457200" y="5852160"/>
            <a:ext cx="11247120" cy="0"/>
          </a:xfrm>
          <a:prstGeom prst="line">
            <a:avLst/>
          </a:prstGeom>
          <a:noFill/>
          <a:ln w="5080">
            <a:solidFill>
              <a:srgbClr val="3D4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989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FOUNDER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Park Ji-eun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68980" y="5989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RAISING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68980" y="6217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$10M Series 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80760" y="5989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VALUATION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80760" y="6217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$60M post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92540" y="5989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CLOSE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892540" y="6217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Q4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EXEC SUMMARY  /  2026 Series B Pitch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p.02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Executive Summary.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FlowDesk는 B2B 영업팀이 일하는 방식을 다시 설계합니다.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394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86000"/>
            <a:ext cx="137160" cy="192024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95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0" y="2377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→ 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2697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All-in-One Sales 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154680"/>
            <a:ext cx="4846320" cy="0"/>
          </a:xfrm>
          <a:prstGeom prst="line">
            <a:avLst/>
          </a:prstGeom>
          <a:noFill/>
          <a:ln w="5080">
            <a:solidFill>
              <a:srgbClr val="E5E9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2461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CRM + 콜 자동화 + 이메일 추적 + AI 인사이트 — 하나의 워크스페이스.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840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기존 12개 도구 → FlowDesk 1개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2286000"/>
            <a:ext cx="5394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286000"/>
            <a:ext cx="137160" cy="192024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395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875520" y="2377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$2.4M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83680" y="2697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ARR $2.4M, NRR 138%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0" y="3154680"/>
            <a:ext cx="4846320" cy="0"/>
          </a:xfrm>
          <a:prstGeom prst="line">
            <a:avLst/>
          </a:prstGeom>
          <a:noFill/>
          <a:ln w="5080">
            <a:solidFill>
              <a:srgbClr val="E5E9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2461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유료 고객 480개사. M-on-M +12%. 한국 SaaS 평균 +6% 대비 2배.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3840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 (2026.04 기준)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5394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389120"/>
            <a:ext cx="137160" cy="192024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498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$48B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22960" y="4800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Sales Tech Boom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2960" y="5257800"/>
            <a:ext cx="4846320" cy="0"/>
          </a:xfrm>
          <a:prstGeom prst="line">
            <a:avLst/>
          </a:prstGeom>
          <a:noFill/>
          <a:ln w="5080">
            <a:solidFill>
              <a:srgbClr val="E5E9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349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글로벌 Sales Tech 시장 $48B / +18% CAGR. 한국 0.4% 점유 — 진입 적기.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5943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 (2025)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4389120"/>
            <a:ext cx="5394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4389120"/>
            <a:ext cx="137160" cy="192024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4498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87552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1.4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583680" y="4800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Capital Efficiency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583680" y="5257800"/>
            <a:ext cx="4846320" cy="0"/>
          </a:xfrm>
          <a:prstGeom prst="line">
            <a:avLst/>
          </a:prstGeom>
          <a:noFill/>
          <a:ln w="5080">
            <a:solidFill>
              <a:srgbClr val="E5E9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5349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Magic Number 1.4 / Burn Multiple 0.8. Series A → ARR 6x 증가, 적자 -32%.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83680" y="5943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Magic Number (효율 우수)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PROBLEM  /  Sales Tools are Broken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p.03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B2B 영업팀은 12개 도구를 매일 옮겨다닌다.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38%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2468880" y="2057400"/>
            <a:ext cx="0" cy="640080"/>
          </a:xfrm>
          <a:prstGeom prst="line">
            <a:avLst/>
          </a:prstGeom>
          <a:noFill/>
          <a:ln w="6350">
            <a:solidFill>
              <a:srgbClr val="E5E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103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영업 시간이 도구 전환에 소비된다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Salesforce State of Sales 2025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63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$420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2468880" y="3108960"/>
            <a:ext cx="0" cy="640080"/>
          </a:xfrm>
          <a:prstGeom prst="line">
            <a:avLst/>
          </a:prstGeom>
          <a:noFill/>
          <a:ln w="6350">
            <a:solidFill>
              <a:srgbClr val="E5E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3154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한국 영업팀 1인당 월 SaaS 비용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한국SaaS협회 2025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14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12.4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2468880" y="4160520"/>
            <a:ext cx="0" cy="640080"/>
          </a:xfrm>
          <a:prstGeom prst="line">
            <a:avLst/>
          </a:prstGeom>
          <a:noFill/>
          <a:ln w="6350">
            <a:solidFill>
              <a:srgbClr val="E5E9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4206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평균 사용 SaaS 개수 (B2B 영업)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G2 2025 Annual Report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507492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66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$8B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2468880" y="5212080"/>
            <a:ext cx="0" cy="640080"/>
          </a:xfrm>
          <a:prstGeom prst="line">
            <a:avLst/>
          </a:prstGeom>
          <a:noFill/>
          <a:ln w="6350">
            <a:solidFill>
              <a:srgbClr val="E5E9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5257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도구 분산으로 인한 글로벌 손실 (연)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26880" y="5349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McKinsey 2024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SOLUTION  /  FlowDesk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p.04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Solution.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D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CRM + 자동화 + 분석을 하나의 워크스페이스로.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03120"/>
            <a:ext cx="365760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고객 관리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3154680"/>
            <a:ext cx="3200400" cy="0"/>
          </a:xfrm>
          <a:prstGeom prst="line">
            <a:avLst/>
          </a:prstGeom>
          <a:noFill/>
          <a:ln w="5080">
            <a:solidFill>
              <a:srgbClr val="E5E9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918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리드·딜·계정 통합 / 360° 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210312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103120"/>
            <a:ext cx="365760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DIALER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콜 자동화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0" y="3154680"/>
            <a:ext cx="3200400" cy="0"/>
          </a:xfrm>
          <a:prstGeom prst="line">
            <a:avLst/>
          </a:prstGeom>
          <a:noFill/>
          <a:ln w="5080">
            <a:solidFill>
              <a:srgbClr val="E5E9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2918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AI 음성 분석 / 콜 녹음 / 스크립트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210312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2103120"/>
            <a:ext cx="365760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시퀀스 + 추적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412480" y="3154680"/>
            <a:ext cx="3200400" cy="0"/>
          </a:xfrm>
          <a:prstGeom prst="line">
            <a:avLst/>
          </a:prstGeom>
          <a:noFill/>
          <a:ln w="5080">
            <a:solidFill>
              <a:srgbClr val="E5E9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2918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자동 시퀀스 / 오픈·클릭 추적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97680"/>
            <a:ext cx="365760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297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LINKEDIN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4800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소셜 셀링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31520" y="5349240"/>
            <a:ext cx="3200400" cy="0"/>
          </a:xfrm>
          <a:prstGeom prst="line">
            <a:avLst/>
          </a:prstGeom>
          <a:noFill/>
          <a:ln w="5080">
            <a:solidFill>
              <a:srgbClr val="E5E9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486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메시지 자동 / 인사이트 / DB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97680" y="429768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97680" y="4297680"/>
            <a:ext cx="365760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0" y="4297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INSIGHT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0" y="4800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AI 분석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572000" y="5349240"/>
            <a:ext cx="3200400" cy="0"/>
          </a:xfrm>
          <a:prstGeom prst="line">
            <a:avLst/>
          </a:prstGeom>
          <a:noFill/>
          <a:ln w="5080">
            <a:solidFill>
              <a:srgbClr val="E5E9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5486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딜 점수 / 코칭 추천 / 예측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138160" y="429768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8160" y="4297680"/>
            <a:ext cx="365760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42" name="Text 40"/>
          <p:cNvSpPr/>
          <p:nvPr/>
        </p:nvSpPr>
        <p:spPr>
          <a:xfrm>
            <a:off x="8412480" y="4297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MEETING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412480" y="4800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미팅 + 메모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412480" y="5349240"/>
            <a:ext cx="3200400" cy="0"/>
          </a:xfrm>
          <a:prstGeom prst="line">
            <a:avLst/>
          </a:prstGeom>
          <a:noFill/>
          <a:ln w="5080">
            <a:solidFill>
              <a:srgbClr val="E5E9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0" y="5486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캘린더 / 자동 메모 / 액션 아이템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PRODUCT  /  Live Dashboard Demo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p.05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 Demo.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실제 영업 대시보드 — 한 화면에 모든 정보.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11680"/>
            <a:ext cx="11247120" cy="420624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solidFill>
            <a:srgbClr val="3D4F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14884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214884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2148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21488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flowdesk.io / dashboard / Pipeline-Q4-2026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651760"/>
            <a:ext cx="2606040" cy="914400"/>
          </a:xfrm>
          <a:prstGeom prst="rect">
            <a:avLst/>
          </a:prstGeom>
          <a:solidFill>
            <a:srgbClr val="3D4F5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7432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PIPELINE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724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$1.8M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108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+24%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2651760"/>
            <a:ext cx="2606040" cy="914400"/>
          </a:xfrm>
          <a:prstGeom prst="rect">
            <a:avLst/>
          </a:prstGeom>
          <a:solidFill>
            <a:srgbClr val="3D4F5E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27432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WIN RATE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2044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0" y="3108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+8pp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651760"/>
            <a:ext cx="2606040" cy="914400"/>
          </a:xfrm>
          <a:prstGeom prst="rect">
            <a:avLst/>
          </a:prstGeom>
          <a:solidFill>
            <a:srgbClr val="3D4F5E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27432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AVG DEAL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6364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$48K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772400" y="3108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+12%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869680" y="2651760"/>
            <a:ext cx="2606040" cy="914400"/>
          </a:xfrm>
          <a:prstGeom prst="rect">
            <a:avLst/>
          </a:prstGeom>
          <a:solidFill>
            <a:srgbClr val="3D4F5E"/>
          </a:solidFill>
          <a:ln/>
        </p:spPr>
      </p:sp>
      <p:sp>
        <p:nvSpPr>
          <p:cNvPr id="29" name="Text 27"/>
          <p:cNvSpPr/>
          <p:nvPr/>
        </p:nvSpPr>
        <p:spPr>
          <a:xfrm>
            <a:off x="9006840" y="27432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CYCLE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00684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 days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515600" y="3108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-18%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3703320"/>
            <a:ext cx="5486400" cy="2377440"/>
          </a:xfrm>
          <a:prstGeom prst="rect">
            <a:avLst/>
          </a:prstGeom>
          <a:solidFill>
            <a:srgbClr val="3D4F5E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3794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PIPELINE BY STAGE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97280" y="4160520"/>
            <a:ext cx="4572000" cy="22860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114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60720" y="4114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$420K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97280" y="4526280"/>
            <a:ext cx="3840480" cy="22860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4480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Qualified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0" y="4480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$320K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97280" y="4892040"/>
            <a:ext cx="3108960" cy="22860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Proposal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9768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$240K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97280" y="5257800"/>
            <a:ext cx="2377440" cy="22860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" y="5212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Negotiation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566160" y="5212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$180K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97280" y="5623560"/>
            <a:ext cx="164592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5577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Closed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834640" y="5577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$80K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00800" y="3703320"/>
            <a:ext cx="5212080" cy="2377440"/>
          </a:xfrm>
          <a:prstGeom prst="rect">
            <a:avLst/>
          </a:prstGeom>
          <a:solidFill>
            <a:srgbClr val="3D4F5E"/>
          </a:solidFill>
          <a:ln/>
        </p:spPr>
      </p:sp>
      <p:sp>
        <p:nvSpPr>
          <p:cNvPr id="50" name="Text 48"/>
          <p:cNvSpPr/>
          <p:nvPr/>
        </p:nvSpPr>
        <p:spPr>
          <a:xfrm>
            <a:off x="6537960" y="3794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5 OPEN DEALS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8368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Acme Corp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869680" y="4160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2E0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$120K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058400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78%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583680" y="4526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Globex Inc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869680" y="4526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2E0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$84K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058400" y="4526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65%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583680" y="4892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Initech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869680" y="4892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2E0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$72K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058400" y="4892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52%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58368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Hooli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869680" y="5257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2E0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$48K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05840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42%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583680" y="5623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Pied Piper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869680" y="5623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2E0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$32K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0058400" y="5623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38%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실제 FlowDesk 화면 캡처 (2026.04). 영업팀 평균 사용 시간: 5.4시간/일.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MARKET  /  Sales Tech $48B Market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p.06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Market.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D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글로벌 Sales Tech $48B / +18% CAGR / 한국 0.4% → 7%.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457200" y="2103120"/>
          <a:ext cx="71323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7772400" y="2103120"/>
            <a:ext cx="39319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0" y="2194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955280" y="2468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$48B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509760" y="2377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Sales Tech Global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772400" y="3108960"/>
            <a:ext cx="39319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55280" y="3200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955280" y="3474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$420M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509760" y="33832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한국 + APAC SMB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772400" y="4114800"/>
            <a:ext cx="39319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5528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955280" y="4480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$28M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509760" y="4389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Y3 도달 (6.7%)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772400" y="5120640"/>
            <a:ext cx="393192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55280" y="5212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WEDGE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955280" y="5486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Korean B2B SaaS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509760" y="53949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선점 후 APAC 확장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BUSINESS MODEL  /  SaaS Subscription Tiers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p.07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Model.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36576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365760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3317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$24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/user/mo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73152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5-20 users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3200400" cy="0"/>
          </a:xfrm>
          <a:prstGeom prst="line">
            <a:avLst/>
          </a:prstGeom>
          <a:noFill/>
          <a:ln w="5080">
            <a:solidFill>
              <a:srgbClr val="E5E9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977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✓  CRM 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343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✓  Email 시퀀스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✓  Dialer 무제한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5074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✓  기본 인사이트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440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✓  이메일 지원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1691640"/>
            <a:ext cx="36576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1691640"/>
            <a:ext cx="3657600" cy="36576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23317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$58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/user/mo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457200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20-100 users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3840480"/>
            <a:ext cx="3200400" cy="0"/>
          </a:xfrm>
          <a:prstGeom prst="line">
            <a:avLst/>
          </a:prstGeom>
          <a:noFill/>
          <a:ln w="5080">
            <a:solidFill>
              <a:srgbClr val="E5E9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977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✓  TEAM 전체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4343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✓  AI 코칭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✓  LinkedIn 통합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5074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✓  API 액세스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5440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✓  Slack 지원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5806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✓  전담 매니저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1691640"/>
            <a:ext cx="36576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1691640"/>
            <a:ext cx="365760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4" name="Text 32"/>
          <p:cNvSpPr/>
          <p:nvPr/>
        </p:nvSpPr>
        <p:spPr>
          <a:xfrm>
            <a:off x="813816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0" y="23317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$120+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/user/mo</a:t>
            </a:r>
            <a:endParaRPr lang="en-US" sz="5600" dirty="0"/>
          </a:p>
        </p:txBody>
      </p:sp>
      <p:sp>
        <p:nvSpPr>
          <p:cNvPr id="36" name="Text 34"/>
          <p:cNvSpPr/>
          <p:nvPr/>
        </p:nvSpPr>
        <p:spPr>
          <a:xfrm>
            <a:off x="841248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100+ users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412480" y="3840480"/>
            <a:ext cx="3200400" cy="0"/>
          </a:xfrm>
          <a:prstGeom prst="line">
            <a:avLst/>
          </a:prstGeom>
          <a:noFill/>
          <a:ln w="5080">
            <a:solidFill>
              <a:srgbClr val="E5E9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0" y="3977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✓  BUSINESS 전체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0" y="4343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✓  SSO/SAML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1248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✓  SOC2/HIPAA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412480" y="5074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✓  Custom workflow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412480" y="5440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✓  24/7 지원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412480" y="5806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✓  Dedicated CSM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TRACTION  /  ARR Growth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p.08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Traction · ARR.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D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Series A 이후 ARR 6배 성장 — $400K → $2.4M.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457200" y="2103120"/>
          <a:ext cx="11247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5897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+12%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57200" y="626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M-on-M Growth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68980" y="5897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480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268980" y="626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Customer Logos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80760" y="5897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$5K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080760" y="626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Avg ACV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892540" y="5897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892540" y="626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Magic Number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METRICS  /  SaaS KPI Snapshot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p.09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SaaS Metrics.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37360"/>
            <a:ext cx="3657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74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NRR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138%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decile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1737360"/>
            <a:ext cx="3657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874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21488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480560" y="2788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Industry avg 89%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138160" y="1737360"/>
            <a:ext cx="3657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874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21040" y="21488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321040" y="2788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SaaS benchmark 75%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3657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LTV/CAC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6576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8.4x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40080" y="4297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Healthy &gt;3x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97680" y="3246120"/>
            <a:ext cx="3657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CAC Payback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80560" y="36576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mo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4480560" y="4297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Healthy &lt;18 mo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38160" y="3246120"/>
            <a:ext cx="3657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Burn Multiple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0" y="36576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8321040" y="4297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Best &lt;1.0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754880"/>
            <a:ext cx="3657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892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Magic Number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51663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1.4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640080" y="5806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Healthy &gt;1.0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97680" y="4754880"/>
            <a:ext cx="3657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4892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Churn (annual)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80560" y="51663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6%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4480560" y="5806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Industry avg 11%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138160" y="4754880"/>
            <a:ext cx="3657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1040" y="4892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Quick Ratio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321040" y="51663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4.2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8321040" y="5806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Best &gt;4.0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COHORT  /  Net Retention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p.10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Cohort Analysis.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1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Cohort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M+0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M+3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M+6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M+12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M+18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M+24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2024 Q1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100%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108%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118%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132%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142%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138%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2024 Q2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100%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112%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122%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138%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148%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2024 Q3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100%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115%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128%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142%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2024 Q4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100%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120%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135%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2025 Q1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100%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124%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138%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2025 Q2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100%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128%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0B8D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최근 코호트 NRR이 142%까지 상승 — 신규 고객보다 기존 고객 확장이 더 큰 수익원.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GTM  /  Go-to-Market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p.11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GTM Strategy.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10972800" cy="77724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65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2E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965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월 12,000 방문 → 콘텐츠 / 인플루언서 / SEO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697480"/>
            <a:ext cx="9875520" cy="77724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834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2E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8346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월 1,800 가입 → Free trial / 데모 신청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5840" y="3566160"/>
            <a:ext cx="8778240" cy="77724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703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2E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370332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월 480 활성 → 14일 trial / 온보딩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280160" y="4434840"/>
            <a:ext cx="7680960" cy="77724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9" name="Text 17"/>
          <p:cNvSpPr/>
          <p:nvPr/>
        </p:nvSpPr>
        <p:spPr>
          <a:xfrm>
            <a:off x="1463040" y="4572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2E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45720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월 96 전환 (20%) → 자동 결제 / Sales call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554480" y="5303520"/>
            <a:ext cx="6583680" cy="77724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22" name="Text 20"/>
          <p:cNvSpPr/>
          <p:nvPr/>
        </p:nvSpPr>
        <p:spPr>
          <a:xfrm>
            <a:off x="1737360" y="5440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2E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EXPAND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66160" y="54406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월 24 확장 (NRR 138%) → 시니어 매니저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GTM  /  Channel Mix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p.12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Channel Mix.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457200" y="169164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76072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INBOUND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0" y="1783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68680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월 ARR $84K / CAC $480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60720" y="2423160"/>
            <a:ext cx="5943600" cy="0"/>
          </a:xfrm>
          <a:prstGeom prst="line">
            <a:avLst/>
          </a:prstGeom>
          <a:noFill/>
          <a:ln w="5080">
            <a:solidFill>
              <a:srgbClr val="E5E9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OUTBOUND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68680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BDR 4명 / CAC $1,200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760720" y="3383280"/>
            <a:ext cx="5943600" cy="0"/>
          </a:xfrm>
          <a:prstGeom prst="line">
            <a:avLst/>
          </a:prstGeom>
          <a:noFill/>
          <a:ln w="5080">
            <a:solidFill>
              <a:srgbClr val="E5E9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PARTNER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0" y="3703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18%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8686800" y="3794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SI 12개 / CAC $320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760720" y="4343400"/>
            <a:ext cx="5943600" cy="0"/>
          </a:xfrm>
          <a:prstGeom prst="line">
            <a:avLst/>
          </a:prstGeom>
          <a:noFill/>
          <a:ln w="5080">
            <a:solidFill>
              <a:srgbClr val="E5E9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6072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PLG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315200" y="4663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12%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8686800" y="4754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Self-serve / CAC $80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760720" y="5303520"/>
            <a:ext cx="5943600" cy="0"/>
          </a:xfrm>
          <a:prstGeom prst="line">
            <a:avLst/>
          </a:prstGeom>
          <a:noFill/>
          <a:ln w="5080">
            <a:solidFill>
              <a:srgbClr val="E5E9EE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COMPETITION  /  vs Salesforce / HubSpot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p.13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Competition.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기능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FlowDesk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Salesforce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HubSpot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Pipedrive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Setup 기간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B8D4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 hrs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8-12 wk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2-4 wk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 wk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Dialer 내장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B8D4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✓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Add-on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Add-on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✗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AI Coaching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B8D4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✓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Einstein 별도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Beta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✗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한국 지원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B8D4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전담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이메일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이메일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이메일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$/user/mo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B8D4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$24-120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$165+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$45-150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$15-99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B8D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WHY WE WIN: 빠른 Setup + Dialer/AI 내장 + 한국어 + 가격 = 미들마켓 카테고리 우위.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ROADMAP  /  24-Month Plan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p.14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Roadmap.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37160" cy="91440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Q3-Q4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240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Series B Close + Hiring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$10M close / 30명 → 60명 채용 / Enterprise 트랙 출시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784080" y="2057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$3.6M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37160" cy="91440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H1 2027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337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APAC Expansion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일본·싱가포르 진입 / 글로벌 SI 4개 / Multilingual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784080" y="3154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$6.0M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023360"/>
            <a:ext cx="137160" cy="91440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H2 2027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434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Enterprise GTM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4297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1,000+ user 고객 12곳 / SOC2 / FedRAMP 준비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784080" y="4251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$10M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57200" y="512064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120640"/>
            <a:ext cx="137160" cy="91440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5532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Series C Ready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0" y="5394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$24M ARR / 글로벌 1,500 고객 / Series C $30M+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84080" y="5349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$24M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TEAM  /  Leadership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p.15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Leadership.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27432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274320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40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Park Ji-eun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2286000" cy="0"/>
          </a:xfrm>
          <a:prstGeom prst="line">
            <a:avLst/>
          </a:prstGeom>
          <a:noFill/>
          <a:ln w="5080">
            <a:solidFill>
              <a:srgbClr val="00B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175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ex-Salesforce APAC 5y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ex-Toss Sales 4y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KAIST MBA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1691640"/>
            <a:ext cx="27432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691640"/>
            <a:ext cx="274320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2240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Lee Ho-jin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611880" y="2834640"/>
            <a:ext cx="2286000" cy="0"/>
          </a:xfrm>
          <a:prstGeom prst="line">
            <a:avLst/>
          </a:prstGeom>
          <a:noFill/>
          <a:ln w="5080">
            <a:solidFill>
              <a:srgbClr val="00B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30175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ex-AWS 6y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ex-Naver 4y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KAIST CS 박사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691640"/>
            <a:ext cx="27432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691640"/>
            <a:ext cx="274320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2240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Choi Min-soo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492240" y="2834640"/>
            <a:ext cx="2286000" cy="0"/>
          </a:xfrm>
          <a:prstGeom prst="line">
            <a:avLst/>
          </a:prstGeom>
          <a:noFill/>
          <a:ln w="5080">
            <a:solidFill>
              <a:srgbClr val="00B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0175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ex-Zoom Korea Head 4y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ex-Microsoft 6y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Quota $24M attain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98280" y="1691640"/>
            <a:ext cx="27432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98280" y="1691640"/>
            <a:ext cx="274320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9" name="Text 27"/>
          <p:cNvSpPr/>
          <p:nvPr/>
        </p:nvSpPr>
        <p:spPr>
          <a:xfrm>
            <a:off x="909828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CMO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72600" y="2240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Kim Hye-rin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9372600" y="2834640"/>
            <a:ext cx="2286000" cy="0"/>
          </a:xfrm>
          <a:prstGeom prst="line">
            <a:avLst/>
          </a:prstGeom>
          <a:noFill/>
          <a:ln w="5080">
            <a:solidFill>
              <a:srgbClr val="00B8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72600" y="30175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ex-Notion APAC 3y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ex-Asana 4y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Growth 전문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TEAM  /  Headcount Plan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p.16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Org &amp; Hiring.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D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30명 → 60명 (24개월) — 채용은 가속, 효율은 유지.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1124712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Now: 12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Y2: 24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0" y="2240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1124712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Sales (BDR + AE)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Now: 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Y2: 16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Customer Success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Now: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Y2: 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0" y="3520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1124712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Now: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4160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6656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Y2: 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0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4663440"/>
            <a:ext cx="1124712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Product / Design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Now: 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4800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6656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Y2: 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05840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440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G&amp;A (Finance · HR)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0" y="5440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Now: 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5440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766560" y="5440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Y2: 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058400" y="5440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8D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Total Headcount: 30 → 60 / Engineering 40% / Sales 27%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 FINANCIALS  /  P&amp;L (3-yr)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p.17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P&amp;L.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D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Y2 EBITDA 흑자 전환 (+$2.4M, 마진 24%).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47120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$M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Y0 (2025)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Y1 (2026)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Y2 (2027)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Y3 (2028)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ARR (end)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0.4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B8D4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2.4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Revenue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0.3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1.6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6.8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16.5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GP (82%)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0.25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1.31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5.58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13.5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S&amp;M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0.4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1.6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2.6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4.5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R&amp;D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0.5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1.4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2.2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3.8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G&amp;A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0.2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0.5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0.9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1.4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B8D4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EBITDA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-0.85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-2.19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+2.4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+8.2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EBITDA %</a:t>
                      </a:r>
                      <a:endParaRPr lang="en-US" sz="12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24%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33%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 USE  /  Use of Series 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p.18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 of Funds.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457200" y="169164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76072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$4.0M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589520" y="1828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Engineering · R&amp;D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89520" y="212140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엔지니어 12명 / AI Lab / 글로벌 인프라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60720" y="2788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$3.5M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58952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Sales &amp; Marketing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89520" y="308152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Sales 10명 / Marketing 4명 / 글로벌 캠페인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76072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$1.5M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589520" y="3749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Customer Success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89520" y="40416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CSM 4명 / Onboarding / Solution 엔지니어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60720" y="4709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$1.0M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589520" y="4709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G&amp;A · Reserve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89520" y="50017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Finance / Legal / 18개월 Runway 버퍼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 / 30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0" y="640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p.19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6350">
            <a:solidFill>
              <a:srgbClr val="3D4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$10M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Series B.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11247120" cy="0"/>
          </a:xfrm>
          <a:prstGeom prst="line">
            <a:avLst/>
          </a:prstGeom>
          <a:noFill/>
          <a:ln w="8890">
            <a:solidFill>
              <a:srgbClr val="00B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VALUATION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$60M post-money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6898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LEAD INVESTOR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6898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Lead 모집 ($5M+)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076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RUNWAY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8076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24 개월 + EBITDA 흑자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9254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EXPECTED CLOSE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9254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Q4 2026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29200"/>
            <a:ext cx="11247120" cy="0"/>
          </a:xfrm>
          <a:prstGeom prst="line">
            <a:avLst/>
          </a:prstGeom>
          <a:noFill/>
          <a:ln w="5080">
            <a:solidFill>
              <a:srgbClr val="3D4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212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OUTCOMES (24개월)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01. ARR $24M (10x)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02. EBITDA 흑자 +$8.2M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03. APAC 4개국 진출 (Y3)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04. Series C 30M+ Ready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 RISK  /  Risk Matrix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p.20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 Matrix.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Risk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P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I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Mitigation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Macro 둔화 (B2B 예산 컷)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다중 가격대 + 2년 계약 인센티브 + Outbound 전환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Salesforce / HubSpot 가격 인하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L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Setup·UX·한국어 지원으로 차별화 유지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엔지니어 채용 부족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원격 채용 (베트남·인도) + 스톡옵션 +30%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환율 변동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L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USD 청구 + 환헤지 라운드 종료 후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보안 사고 (SaaS 특성)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L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H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SOC2 / ISO 27001 / 보험 + 인시던트 PR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고객 집중 (Top 10 = 32%)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에스코어 드림" pitchFamily="34" charset="0"/>
                          <a:ea typeface="에스코어 드림" pitchFamily="34" charset="-122"/>
                          <a:cs typeface="에스코어 드림" pitchFamily="34" charset="-120"/>
                        </a:rPr>
                        <a:t>Y2 SMB 100→ 800 확대 → 분산</a:t>
                      </a:r>
                      <a:endParaRPr lang="en-US" sz="1100" dirty="0">
                        <a:latin typeface="에스코어 드림" charset="0"/>
                        <a:ea typeface="에스코어 드림" charset="0"/>
                        <a:cs typeface="에스코어 드림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 INVESTORS  /  Cap Table &amp; Backers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p.21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Existing Backers.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11247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Series A (2025)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965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$3.0M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Lead: ABC Ventures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11247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Seed (2024)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880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$0.8M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Lead: XYZ Capital + Y Combinator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11247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Angels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794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$0.4M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4088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12 operators (ex-Salesforce, Zoom, Toss)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11247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709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Total Raised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4709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$4.2M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4088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Series B $10M = $14.2M total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0B8D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Pro-rata: 60% participation rate from existing investors confirmed.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 CUSTOMERS  /  Logos &amp; Quotes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p.22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Customers.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480개사 — 한국 / 일본 / 싱가포르.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269748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0312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LG U+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68980" y="2103120"/>
            <a:ext cx="269748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8980" y="210312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Hyundai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2103120"/>
            <a:ext cx="269748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10312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KB Bank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92540" y="2103120"/>
            <a:ext cx="269748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92540" y="210312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SAMSUNG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9748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718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Naver Cloud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68980" y="2971800"/>
            <a:ext cx="269748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8980" y="29718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KAKAO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80760" y="2971800"/>
            <a:ext cx="269748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29718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TOSS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892540" y="2971800"/>
            <a:ext cx="269748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92540" y="29718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Coupang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269748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404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GMARKET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68980" y="3840480"/>
            <a:ext cx="269748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8980" y="38404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Yanolja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80760" y="3840480"/>
            <a:ext cx="269748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38404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Watcha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892540" y="3840480"/>
            <a:ext cx="269748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92540" y="38404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Musinsa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5029200"/>
            <a:ext cx="11247120" cy="15544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"FlowDesk 이전에는 영업팀이 도구 12개를 옮겨다녔다. 이제는 한 화면. 영업 시간 +38%, 클로즈 +24%."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300" kern="0" dirty="0">
                <a:solidFill>
                  <a:srgbClr val="62E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Sales Director, Hyundai Motor (Enterprise / 220 users)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 TECH  /  Security &amp;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p.23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 &amp; Security.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5486400" cy="45720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CERTIFICATIONS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5120640" cy="0"/>
          </a:xfrm>
          <a:prstGeom prst="line">
            <a:avLst/>
          </a:prstGeom>
          <a:noFill/>
          <a:ln w="5080">
            <a:solidFill>
              <a:srgbClr val="E5E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ISO 27001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취득 (2025.06)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SOC 2 Type II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취득 (2025.10)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GDPR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HIPAA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준비 (2026.Q4)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709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FedRAMP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4709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Y3 목표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303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Korea ISMS-P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5303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취득 (2024.11)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691640"/>
            <a:ext cx="5486400" cy="45720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2194560"/>
            <a:ext cx="512064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INFRA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AWS Multi-region (Seoul + Tokyo + SG)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2926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DB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PostgreSQL Aurora + Redis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API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Node.js + Go (microservices 24)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4114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 AI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OpenAI + Claude + 자체 finetune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4709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 FRONT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4709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React + Next.js + WebSocket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5303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 SEC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5303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OAuth + SSO + Vault + Audit log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 GLOBAL  /  Korea → APAC → Global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p.24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Global Expansion.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D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Korea 검증 완료 → APAC 확장 → 글로벌 (3단계).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11247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03120"/>
            <a:ext cx="137160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0" y="2240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560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2024-2026 · Korea (검증)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2971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B2B SaaS 검증 / ARR $2.4M / 480 logos / NRR 138%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11247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74720"/>
            <a:ext cx="137160" cy="118872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0" y="3611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ACTIVE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2027 · Japan + Singapore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43434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현지 BD 4명 / 일본 SaaS 시장 진입 / SG = APAC HQ 거점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112471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846320"/>
            <a:ext cx="137160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983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0" y="4983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2028+ · Global (US·EU)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" y="57150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US Sales Hub (NY) / EU Compliance / SOC2·FedRAMP 활용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 Q&amp;A  /  Top Investor Questions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p.25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Q&amp;A.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D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Investor Top 5 Questions.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21031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Salesforce / HubSpot가 한국 시장에 본격 진입하면?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44144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글로벌 솔루션은 한국어·로컬 BD 부재. 중소·중견 기업 시장은 Setup 8~12주 한계로 진입 어려움. 우리는 2시간 Setup.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294436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NRR 138%가 지속 가능한가?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328269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Best 코호트 NRR 148%. Enterprise 트랙 출시로 Y2 NRR 145% 목표. 기존 SMB → Mid-market 확장이 핵심.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785616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3785616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Magic Number 1.4가 글로벌 확장 시 유지 가능?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412394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확장 시 효율 일시 하락 가능 (예상 1.0-1.2). 대신 ARR 절대 규모 증가. Series B 자금 활용 효율 우선.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626864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71600" y="4626864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$10M으로 24개월 가능?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496519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Y1 burn -$2.2M / Y2 EBITDA +$2.4M. 자금 24개월 + 흑자 전환 후 6개월 추가 버퍼 = 30개월 안정.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546811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71600" y="54681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Series C 시점·규모는?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71600" y="5806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2028 Q3-Q4 / $30M+ 라운드 / Valuation $200M+ 목표 (ARR $24M × 8x).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8890">
            <a:solidFill>
              <a:srgbClr val="00B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 / 30 VISION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6350">
            <a:solidFill>
              <a:srgbClr val="3D4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the Operating System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spc="-2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 Every B2B Sales Team in Asia.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11247120" cy="0"/>
          </a:xfrm>
          <a:prstGeom prst="line">
            <a:avLst/>
          </a:prstGeom>
          <a:noFill/>
          <a:ln w="6350">
            <a:solidFill>
              <a:srgbClr val="00B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160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2E0F2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APAC 1.4M B2B 영업팀 / TAM $9.6B / Korea Wedge 검증.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By 2030: 50,000 customers · $200M ARR · #1 in APAC.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 MILESTONES  /  Track Record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p.27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Track Record.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2697480" cy="21031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269748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916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2024.01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Founded · Y Combinator W24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68980" y="1691640"/>
            <a:ext cx="2697480" cy="21031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8980" y="1691640"/>
            <a:ext cx="269748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5" name="Text 13"/>
          <p:cNvSpPr/>
          <p:nvPr/>
        </p:nvSpPr>
        <p:spPr>
          <a:xfrm>
            <a:off x="3268980" y="16916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2024.06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51860" y="219456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Seed $0.8M (XYZ Capital)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1691640"/>
            <a:ext cx="2697480" cy="21031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691640"/>
            <a:ext cx="269748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16916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2024.10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219456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First 10 customers / ARR $80K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92540" y="1691640"/>
            <a:ext cx="2697480" cy="21031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92540" y="1691640"/>
            <a:ext cx="269748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3" name="Text 21"/>
          <p:cNvSpPr/>
          <p:nvPr/>
        </p:nvSpPr>
        <p:spPr>
          <a:xfrm>
            <a:off x="8892540" y="16916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2025.02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75420" y="219456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ISMS-P 인증 / NRR 118%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2697480" cy="21031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977640"/>
            <a:ext cx="269748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9776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2025.05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48056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Series A $3M (ABC Ventures) / 100 logos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68980" y="3977640"/>
            <a:ext cx="2697480" cy="21031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68980" y="3977640"/>
            <a:ext cx="269748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1" name="Text 29"/>
          <p:cNvSpPr/>
          <p:nvPr/>
        </p:nvSpPr>
        <p:spPr>
          <a:xfrm>
            <a:off x="3268980" y="39776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2025.10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51860" y="448056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SOC2 Type II / ARR $1M / 시장 1위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80760" y="3977640"/>
            <a:ext cx="2697480" cy="21031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80760" y="3977640"/>
            <a:ext cx="269748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5" name="Text 33"/>
          <p:cNvSpPr/>
          <p:nvPr/>
        </p:nvSpPr>
        <p:spPr>
          <a:xfrm>
            <a:off x="6080760" y="39776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2026.02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448056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Japan 진입 (12 logos) / ARR $2M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892540" y="3977640"/>
            <a:ext cx="2697480" cy="2103120"/>
          </a:xfrm>
          <a:prstGeom prst="rect">
            <a:avLst/>
          </a:prstGeom>
          <a:solidFill>
            <a:srgbClr val="FFFFFF"/>
          </a:solidFill>
          <a:ln w="5080">
            <a:solidFill>
              <a:srgbClr val="E5E9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92540" y="3977640"/>
            <a:ext cx="2697480" cy="3657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9" name="Text 37"/>
          <p:cNvSpPr/>
          <p:nvPr/>
        </p:nvSpPr>
        <p:spPr>
          <a:xfrm>
            <a:off x="8892540" y="39776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2026.04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075420" y="448056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ARR $2.4M / 480 logos / NRR 138%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27 ADVISORS  /  Advisors &amp; Network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p.28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Advisors.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D4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Sales tech 글로벌 8명 + 한국 임원 6명 자문.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36576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03120"/>
            <a:ext cx="3657600" cy="36576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GLOBAL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6060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ex-VP Sales Salesforce APAC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2103120"/>
            <a:ext cx="36576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2103120"/>
            <a:ext cx="3657600" cy="36576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GLOBAL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6060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ex-CTO Zoom (Series B-IPO)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2103120"/>
            <a:ext cx="36576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2103120"/>
            <a:ext cx="3657600" cy="36576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GLOBAL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26060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ex-CRO Datadog APAC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36576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06240"/>
            <a:ext cx="36576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KOREA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7091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삼성SDS Sales Director (15y)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297680" y="4206240"/>
            <a:ext cx="36576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4206240"/>
            <a:ext cx="36576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KOREA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47091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현대카드 CDO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38160" y="4206240"/>
            <a:ext cx="36576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4206240"/>
            <a:ext cx="36576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813816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KOREA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0" y="47091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토스 B2B Head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CC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Series B  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 SUMMARY  /  The Investment Thesis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91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p.29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Now. Why Us. Why FlowDesk.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00B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11247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83080"/>
            <a:ext cx="2286000" cy="96012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8308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NOW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19659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Sales Tech $48B → $110B (CAGR +18%) / Korea 0.4% → 7%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1247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26080"/>
            <a:ext cx="2286000" cy="96012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2608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US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31089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Magic 1.4 / NRR 138% / Burn 0.8 — 한국 SaaS 최상위 효율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11247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69080"/>
            <a:ext cx="2286000" cy="96012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6908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FLOWDESK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42519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통합 OS + 한국 BD + 글로벌 IP — 카테고리 정의 가능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5212080"/>
            <a:ext cx="11247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5212080"/>
            <a:ext cx="2286000" cy="96012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521208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WE NEED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0" y="53949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838"/>
                </a:solidFill>
                <a:latin typeface="에스코어 드림" pitchFamily="34" charset="0"/>
                <a:ea typeface="에스코어 드림" pitchFamily="34" charset="-122"/>
                <a:cs typeface="에스코어 드림" pitchFamily="34" charset="-120"/>
              </a:rPr>
              <a:t>$10M Series B → 24개월 ARR 10x → Series C 준비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8890">
            <a:solidFill>
              <a:srgbClr val="00B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spc="-4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Thank you.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457200" y="4206240"/>
            <a:ext cx="11247120" cy="0"/>
          </a:xfrm>
          <a:prstGeom prst="line">
            <a:avLst/>
          </a:prstGeom>
          <a:noFill/>
          <a:ln w="19050">
            <a:solidFill>
              <a:srgbClr val="00B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434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FlowDesk — The OS for B2B Sales.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5074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5CCD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Park Ji-eun · CEO  /  invest@flowdesk.io  /  flowdesk.io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5760720"/>
            <a:ext cx="1371600" cy="0"/>
          </a:xfrm>
          <a:prstGeom prst="line">
            <a:avLst/>
          </a:prstGeom>
          <a:noFill/>
          <a:ln w="8890">
            <a:solidFill>
              <a:srgbClr val="00B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2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SERIES B · 2026.06 · CONFIDENTIAL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2026-04-30T11:38:57Z</dcterms:created>
  <dcterms:modified xsi:type="dcterms:W3CDTF">2026-04-30T11:38:57Z</dcterms:modified>
</cp:coreProperties>
</file>