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VN</c:v>
                </c:pt>
              </c:strCache>
            </c:strRef>
          </c:tx>
          <c:spPr>
            <a:solidFill>
              <a:srgbClr val="BC40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</c:v>
                </c:pt>
                <c:pt idx="1">
                  <c:v>14000</c:v>
                </c:pt>
                <c:pt idx="2">
                  <c:v>28000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</c:v>
                </c:pt>
              </c:strCache>
            </c:strRef>
          </c:tx>
          <c:spPr>
            <a:solidFill>
              <a:srgbClr val="C9A2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2200</c:v>
                </c:pt>
                <c:pt idx="1">
                  <c:v>9500</c:v>
                </c:pt>
                <c:pt idx="2">
                  <c:v>21000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</c:v>
                </c:pt>
              </c:strCache>
            </c:strRef>
          </c:tx>
          <c:spPr>
            <a:solidFill>
              <a:srgbClr val="2C5A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1800</c:v>
                </c:pt>
                <c:pt idx="1">
                  <c:v>8000</c:v>
                </c:pt>
                <c:pt idx="2">
                  <c:v>22000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MY</c:v>
                </c:pt>
              </c:strCache>
            </c:strRef>
          </c:tx>
          <c:spPr>
            <a:solidFill>
              <a:srgbClr val="1F3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500</c:v>
                </c:pt>
                <c:pt idx="1">
                  <c:v>3500</c:v>
                </c:pt>
                <c:pt idx="2">
                  <c:v>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Trebuchet MS"/>
              <a:cs typeface="Trebuchet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(억원)</c:v>
                </c:pt>
              </c:strCache>
            </c:strRef>
          </c:tx>
          <c:spPr>
            <a:solidFill>
              <a:srgbClr val="BC4035"/>
            </a:solidFill>
            <a:ln w="50800" cap="flat">
              <a:solidFill>
                <a:srgbClr val="BC40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1F44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4"/>
            <c:spPr>
              <a:solidFill>
                <a:srgbClr val="BC4035"/>
              </a:solidFill>
              <a:ln w="9525" cap="flat">
                <a:solidFill>
                  <a:srgbClr val="BC40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</c:v>
                </c:pt>
                <c:pt idx="1">
                  <c:v>18</c:v>
                </c:pt>
                <c:pt idx="2">
                  <c:v>48</c:v>
                </c:pt>
                <c:pt idx="3">
                  <c:v>108</c:v>
                </c:pt>
                <c:pt idx="4">
                  <c:v>192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A1F44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F44"/>
              </a:solidFill>
              <a:effectLst/>
            </c:spPr>
          </c:dPt>
          <c:dPt>
            <c:idx val="1"/>
            <c:bubble3D val="0"/>
            <c:spPr>
              <a:solidFill>
                <a:srgbClr val="BC4035"/>
              </a:solidFill>
              <a:effectLst/>
            </c:spPr>
          </c:dPt>
          <c:dPt>
            <c:idx val="2"/>
            <c:bubble3D val="0"/>
            <c:spPr>
              <a:solidFill>
                <a:srgbClr val="C9A24A"/>
              </a:solidFill>
              <a:effectLst/>
            </c:spPr>
          </c:dPt>
          <c:dPt>
            <c:idx val="3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5F2EA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5F2EA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5F2EA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5F2EA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인증·법규 (SNI·SIRIM·법률)</c:v>
                </c:pt>
                <c:pt idx="1">
                  <c:v>글로벌 마케팅 (4개국)</c:v>
                </c:pt>
                <c:pt idx="2">
                  <c:v>현지 채용 (BD 4명)</c:v>
                </c:pt>
                <c:pt idx="3">
                  <c:v>운영·물류·기타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28</c:v>
                </c:pt>
                <c:pt idx="2">
                  <c:v>22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K-STARTUP · GLOBAL TRACK ·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5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02 / 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C9A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600" kern="0" dirty="0">
                <a:solidFill>
                  <a:srgbClr val="F5F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LUMINEX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AI 기반 스마트 조명 — 동남아 4개국 동시 진출.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11247120" cy="0"/>
          </a:xfrm>
          <a:prstGeom prst="line">
            <a:avLst/>
          </a:prstGeom>
          <a:noFill/>
          <a:ln w="6350">
            <a:solidFill>
              <a:srgbClr val="E5C9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023360"/>
            <a:ext cx="2103120" cy="1463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본사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2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Seoul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0" y="4023360"/>
            <a:ext cx="2103120" cy="1463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74320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지사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2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 Chi Minh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5212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0" y="4023360"/>
            <a:ext cx="2103120" cy="1463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지사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2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Bangkok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5212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0" y="4023360"/>
            <a:ext cx="2103120" cy="1463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31520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파트너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2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Jakarta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5212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01200" y="4023360"/>
            <a:ext cx="2103120" cy="1463040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60120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신규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2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Kuala Lumpur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84080" y="5212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47120" cy="0"/>
          </a:xfrm>
          <a:prstGeom prst="line">
            <a:avLst/>
          </a:prstGeom>
          <a:noFill/>
          <a:ln w="6350">
            <a:solidFill>
              <a:srgbClr val="E5C9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035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Yoon Tae-hyun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6035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9184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2억 원 (G2M)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6035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4개국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61120" y="6035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6112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12개월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LUMINEX —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스마트 홈 시장에 한국 IoT 조명을 심는다.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7.2조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스마트홈 (2025)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연평균 성장률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48억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Y3 매출 목표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9828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4국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982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동시 진출 (Y1)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53035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스마트홈 7.2조 시장. 한국 프리미엄 IoT 인지도 상승 — 진입 적기.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950208"/>
            <a:ext cx="53035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023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AI 자동 조명 학습 + 헬스케어 연동. 기존 필립스 휴 대비 60% 저렴.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029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321808"/>
            <a:ext cx="53035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394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 6개월 베타 1,200가구 / NPS 72 / 재구매율 84%.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5029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5321808"/>
            <a:ext cx="53035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5394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필립스 IoT 8년 + 삼성 동남아 유통 5년 + 현지인 BD 4명.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 · K-Startup 평가 매핑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K-Startup 글로벌 트랙 — 4개 평가 영역.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471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READINESS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글로벌 진출 준비도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현지화 · 인증 · 파트너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p.04 - 09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11247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544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FIT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 시장 적합성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고객 검증 · NPS · 가격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p.10 - 14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11247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5544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EXECUTION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실행 역량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유통 · 마케팅 · KPI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4709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p.15 - 19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257800"/>
            <a:ext cx="11247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349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55448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재무 건전성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5577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매출 · 손익 · 자금 운용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5577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p.20 - 23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3931920"/>
            <a:ext cx="11247120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READINESS · 25%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글로벌 진출 준비도.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현지화·인증·파트너십 검증.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G-1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· 시장 진출 전략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4개국 동시 진출 — 단계별 진입 + 현지 파트너 4사.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2743200" cy="64008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1874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Vietnam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지사 운영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9,800만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스마트홈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1.4조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성장률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5448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+22%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파트너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54480" y="4937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FPT Smart Home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0352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1783080"/>
            <a:ext cx="27432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337560" y="1783080"/>
            <a:ext cx="2743200" cy="64008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434840" y="1874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태국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3484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Thailand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지사 운영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2044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인구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7,200만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520440" y="338328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스마트홈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3484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0.9조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520440" y="402336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성장률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3484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+15%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520440" y="466344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파트너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34840" y="4937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AIS Smart Living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520440" y="530352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1783080"/>
            <a:ext cx="27432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1783080"/>
            <a:ext cx="2743200" cy="64008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315200" y="1874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인도네시아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31520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Indonesia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파트너십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인구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1520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2.7억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0" y="338328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스마트홈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1520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2.8조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400800" y="402336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성장률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1520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+25%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00800" y="466344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파트너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315200" y="4937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Tokopedia × Grab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400800" y="530352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98280" y="1783080"/>
            <a:ext cx="27432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9098280" y="1783080"/>
            <a:ext cx="2743200" cy="64008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64" name="Text 62"/>
          <p:cNvSpPr/>
          <p:nvPr/>
        </p:nvSpPr>
        <p:spPr>
          <a:xfrm>
            <a:off x="928116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10195560" y="1874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말레이시아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19556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Malaysia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28116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Y1 신규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28116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인구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9556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3,400만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9281160" y="338328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8116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스마트홈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019556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0.6조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9281160" y="402336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8116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성장률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019556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+18%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9281160" y="466344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8116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파트너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195560" y="4937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TM ONE (검토)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9281160" y="5303520"/>
            <a:ext cx="2468880" cy="0"/>
          </a:xfrm>
          <a:prstGeom prst="line">
            <a:avLst/>
          </a:prstGeom>
          <a:noFill/>
          <a:ln w="508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G-2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· 인증·규제 대응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인증. 한국 + 4개국 7개 인증 — 6개 취득 / 1개 진행.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국가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인증·규제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상태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취득 일자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KR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KC 인증 (전기 안전)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취득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2024.08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VN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MIC (정보통신부 형식 등록)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취득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2025.04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NBTC (방송통신위)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취득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2025.07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TIS 1561 (전기 안전)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취득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2025.09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ID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POSTEL (정보통신청)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F44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취득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2026.01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ID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SNI (인도네시아 표준)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A24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진행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2026.06 (예정)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MY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SIRIM (말레이 표준)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필수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A24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신청 예정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2026.09 (예정)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* G2M 자금으로 SNI / SIRIM 2건 진행 — Y1 4개국 풀 인증 완료 목표.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G-3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· 현지 파트너십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파트너십. 4개국 핵심 유통 + 통신사 + 플랫폼 = 8개 LOI.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FPT Smart Home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유통+설치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독점 LOI 체결 (2025.06)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783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VinHomes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고급 아파트 입주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3063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150동 시범 (2025.10)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AIS Smart Living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통신 번들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3063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MOU + 베타 200가구 (2025.08)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98280" y="1783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116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PowerBuy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8116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오프라인 매장 32개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81160" y="3063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벤더 등록 완료 (2025.09)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4617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Tokopedia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이커머스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5349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440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공식 스토어 오픈 (2026.02)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4069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52044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20440" y="4617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Grab Mart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52044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퀵커머스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20440" y="5349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5440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MOU (2025.12)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4069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0" y="4617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TM ONE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기업 IoT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0" y="5349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5440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검토 (2026.05)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98280" y="4069080"/>
            <a:ext cx="27432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928116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81160" y="4617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삼성 SDS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28116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설치 협력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281160" y="5349240"/>
            <a:ext cx="24688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81160" y="5440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MOU 갱신 (2025.11)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G-4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· 현지화 전략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현지화. 언어 + 법규 + 디자인 + 가격 — 4축 동시 적용.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0116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언어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앱·매뉴얼 4개 국어 (베트남어/태국어/인도네시아어/영어). 음성 명령 4개 국어 학습 완료.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201168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법규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3200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전기 인증 6개 + 데이터 보호법 (베트남 PDPL / 인도네시아 PDP) 준수. 현지 변호사 자문 4개국.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112471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201168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디자인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4343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베트남: 미니멀 화이트 / 태국: 오리엔탈 골드 / 인도네시아: 컬러풀 / 말레이시아: 럭셔리 블랙. 4종 스킨.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257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201168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5623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가격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0" y="5486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한국 ₩89,000 → 베트남 89만 동 (₩48,000) / 태국 1,290밧 (₩52,000) — 구매력 평가 PPP 기반.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G-5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· 팀 구성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팀. 한국 5명 + 현지 9명 = 14명. 4개국 BD 풀커버리지.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KOREA HQ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Yoon Tae-hyun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필립스 IoT 8년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Bae Hyun-jae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삼성전자 가전 6년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Jang Min-ah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LG글로벌 5년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Kim Su-bin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PwC + 동남아 IPO 경험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 Lead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Park Joon-young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삼성 동남아 5년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TEAMS · 4 COUNTRIES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688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Country Mgr 1 / BD 1 / CS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Tran Van Minh (前 FPT 6년)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46888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BD 1 / CS 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709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Somsak Wong (前 AIS 4년)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1600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2명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6888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BD 1 / Marketing 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5303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Andi Wijaya (前 Tokopedia 3년)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5852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" y="5852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2명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468880" y="5897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BD 1 / Sales 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5897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Tan Wei Ming (Y1 채용 예정)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3931920"/>
            <a:ext cx="11247120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FIT · 25%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 시장 적합성.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고객 검증·NPS·가격.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P-1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· 제품 구성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제품. 3개 라인 — 베이직·프로·헬스케어 IoT 통합.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5760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3657600" cy="164592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₩48K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출시 가격 (베트남 기준)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원룸·소형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3200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AI 자동 밝기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음성 명령 4개국어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앱 제어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에너지 절감 30%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783080"/>
            <a:ext cx="365760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1783080"/>
            <a:ext cx="3657600" cy="164592"/>
          </a:xfrm>
          <a:prstGeom prst="rect">
            <a:avLst/>
          </a:prstGeom>
          <a:solidFill>
            <a:srgbClr val="BC403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₩72K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5720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출시 가격 (베트남 기준)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아파트·다실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3931920"/>
            <a:ext cx="3200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멀티존 12개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씬 모드 (영화/수면/요리)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스피커 내장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5303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4 통신사 연동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1783080"/>
            <a:ext cx="365760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1783080"/>
            <a:ext cx="3657600" cy="164592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₩98K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841248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출시 가격 (베트남 기준)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고급 가정·시니어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12480" y="3931920"/>
            <a:ext cx="32004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수면 분석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낙상 감지 (적외선)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약 복용 알림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5303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— 병원 연동 API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P-2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· 베트남 베타 결과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 베타 6개월. 1,200가구 — NPS 72, 재구매율 84%.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베타 가구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호치민 + 하노이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7432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920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NPS 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업계 평균 41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7432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84%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재구매 의향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프로 라인 전환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783080"/>
            <a:ext cx="27432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920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4.6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28116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App Store 별점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1,100건 리뷰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365760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 &amp; Nguyen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하노이 30대 부부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029200"/>
            <a:ext cx="32918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20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"전기료 38% 절감 + 아이 수면 개선. 한국 IoT 신뢰도 높음."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97680" y="4297680"/>
            <a:ext cx="365760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Van Hoang (62)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호치민 시니어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5029200"/>
            <a:ext cx="32918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5120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"낙상 감지로 안심. 음성 명령 베트남어 완벽 지원."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4297680"/>
            <a:ext cx="365760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Pham Minh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2104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하노이 IT 직장인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21040" y="5029200"/>
            <a:ext cx="32918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51206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"필립스 휴 대비 60% 저렴, 기능은 비슷."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P-3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· 시장 적합성 비교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경쟁. 동남아 4개국 가격 + 기능 + 채널 — 모두 우위.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항목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Luminex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4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Philips Hue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Xiaomi Mi Light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현지 브랜드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가격 (베트남)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₩48K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₩120K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₩28K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₩22K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AI 학습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△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현지어 음성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4개국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영어만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중국어 위주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현지어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헬스케어 연동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통신사 번들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AIS·FPT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X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일부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현지 인증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6/7 취득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전수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전수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전수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* 가격은 베트남 시장 기준. 가격·기능·채널 3축에서 우위 — 미드프리미엄 카테고리 독점.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3931920"/>
            <a:ext cx="11247120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EXECUTION · 25%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실행 역량.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유통·마케팅·KPI.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G-1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· 채널 전략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채널. 4개국 × 4개 채널 = 16 라인 — Y1 12, Y2 16 도달.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3716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1168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B2C E-Commerce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Tokopedia · Lazada · Shopee · 자사몰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Y1 매출 비중 45%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3716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01168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B2B 통신사 번들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AIS · FPT · TM 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Y1 매출 비중 25%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13716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86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0116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B2B 부동산·건설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VinHomes · Sansiri · Lippo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Y1 매출 비중 18%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1371600" cy="9144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37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01168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오프라인 매장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11680" y="5440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PowerBuy · Best Buy · 자체 매장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Y1 매출 비중 12%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종합 CAC 평균 28,000원 · LTV 380,000원 · LTV/CAC 13.5배 · 페이백 4.8개월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G-2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· 마케팅 KPI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마케팅. Y1 가구 8,000 → Y3 78,000 (+875%).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* 단위: 가구. 베트남이 Y3 28,000가구로 최대 — 1,200 베타 → +2,233% 확장.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G-3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· 12개월 마일스톤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실행. M1 → M12 — 인증 → 유통 → 매출 → 손익.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274320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M1-M3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4035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인증 마무리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2286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46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SNI / SIRIM 2건 인증 완료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783080"/>
            <a:ext cx="274320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M4-M6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4035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ID·MY 진입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11880" y="3108960"/>
            <a:ext cx="2286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246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Tokopedia·Grab 정식 / TM ONE LOI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783080"/>
            <a:ext cx="274320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M7-M9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4035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캠페인 런칭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108960"/>
            <a:ext cx="2286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246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4개국 통합 마케팅 / 인플루언서 24명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828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098280" y="1783080"/>
            <a:ext cx="274320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909828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M10-M12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7260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4035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Y1 매출 도달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72600" y="3108960"/>
            <a:ext cx="22860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72600" y="3246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8,000가구 / 4.8억 매출 / Y2 자금 라운드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G-4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· 리스크·대응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리스크. 6개 시나리오 — 모두 대응 플랜 보유.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3949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0" cy="1188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환율 변동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720" y="2286000"/>
            <a:ext cx="4480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377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 동·태국 밧 변동 ±15% 가정 / 분기 가격 조정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53949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783080"/>
            <a:ext cx="548640" cy="11887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인증 지연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49440" y="2286000"/>
            <a:ext cx="4480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377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 변호사·인증 컨설팅 4개사 동시 진행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53949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54680"/>
            <a:ext cx="548640" cy="1188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경쟁사 가격 인하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657600"/>
            <a:ext cx="4480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7490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헬스케어·통신사 번들 차별화 유지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154680"/>
            <a:ext cx="53949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3154680"/>
            <a:ext cx="548640" cy="11887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물류 차질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49440" y="3657600"/>
            <a:ext cx="4480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7490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다중 창고 (HCM·BKK·JKT) + 현지 OEM 옵션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53949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526280"/>
            <a:ext cx="548640" cy="1188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34" name="Text 32"/>
          <p:cNvSpPr/>
          <p:nvPr/>
        </p:nvSpPr>
        <p:spPr>
          <a:xfrm>
            <a:off x="118872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환경·관세 정책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4617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88720" y="5029200"/>
            <a:ext cx="4480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5120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FTA 활용 / 베트남 0% 관세 적용 (2026)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526280"/>
            <a:ext cx="53949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4526280"/>
            <a:ext cx="548640" cy="11887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 채용 어려움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789920" y="4617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949440" y="5029200"/>
            <a:ext cx="44805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5120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Y1 BD 4명 인터뷰 완료 / Y2 12명 파이프라인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G-5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· 실행 KPI 트래킹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KPI. 7개 지표 — 분기마다 G2M 사업단 보고.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가구 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Y1 목표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7432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매출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4.8억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2044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Y1 목표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7432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 베타 72 검증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783080"/>
            <a:ext cx="27432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재구매율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81160" y="2240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8116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 84% 검증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27432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30K↓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4008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현재 28,000원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3977640"/>
            <a:ext cx="27432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LTV/CAC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20440" y="4434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10x↑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352044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현재 13.5x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977640"/>
            <a:ext cx="27432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인증 취득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434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7/7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640080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현재 5/7 (Y1 100% 목표)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3931920"/>
            <a:ext cx="11247120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 · 25%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재무 건전성.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매출·손익·자금.</a:t>
            </a:r>
            <a:endParaRPr lang="en-US" sz="3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F-1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 · 매출 추정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매출. Y3 48억 — Y1 4.8 → Y3 48억 (10x 성장).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Y3 21억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최대 시장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2651760"/>
            <a:ext cx="3931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68680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Y3 13억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51560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0" y="3383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통신사 번들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9040"/>
            <a:ext cx="3931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3977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6868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Y3 11억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51560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이커머스 중심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72400" y="4846320"/>
            <a:ext cx="3931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5074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68680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Y3 3억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515600" y="5120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772400" y="5577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Y3 본격 진입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72400" y="5943600"/>
            <a:ext cx="3931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F-2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 · 손익 추정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손익. Y3 영업이익 +5.8억 (영업이익률 12.1%).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항목 (억원)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Y1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Y2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Y3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4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Y4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Y5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매출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192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원가 (52%)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매출총이익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2.3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23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마케팅·BD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인건비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영업이익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-4.0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-3.6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+5.8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+24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+50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영업이익률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12.1%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22.2%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C403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26%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F-3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 · 자금 운용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자금. 2억 — 인증 30% / 마케팅 28% / 현지 채용 22% / 운영 20%.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76072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6,000만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8952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인증·법규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0" y="20756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SNI / SIRIM 인증 + 법률 자문 4개국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5,600만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8952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글로벌 마케팅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89520" y="30358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4개국 통합 캠페인 / 인플루언서 24명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4,400만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58952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 채용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89520" y="3995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BD 4명 (VN·TH·ID·MY) 12개월 인건비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4663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4,000만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58952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운영·물류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89520" y="49560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 창고 3개 + 콜센터 + 보험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C40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A-1 /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274320" cy="0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Q&amp;A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0A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예상 Q&amp;A. K-Startup 평가단 Top 5.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샤오미가 압도적인 동남아에서 어떻게 경쟁하나?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075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샤오미는 ₩28K 저가 위주, 현지어 음성·헬스케어 부재. 우리는 미드프리미엄 ₩48-98K — 카테고리 다름. 베트남 베타 NPS 72로 검증.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4개국 동시 진출은 너무 욕심 아닌가?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9900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베트남·태국은 이미 지사 운영 / 인도네시아·말레이시아는 파트너 LOI 8건. Y1은 베트남·태국 매출 70%, ID·MY는 시드 단계.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환율 변동성은 어떻게 헷지하나?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9044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분기 가격 조정 + 현지 통화 결제 + 현지 OEM 옵션 (베트남 OEM 검토 중). 환차손 최대 8% 가정.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필립스가 들어오면 어떻게 대응?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8188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필립스는 ₩120K 프리미엄 / 우리는 ₩48K — 가격 격차 60%. 통신사 번들·헬스케어로 차별화 유지.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5349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한국 R&amp;D는 유지되나?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57332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한국 본사 5명 R&amp;D 유지 — 현지는 BD·CS·마케팅. 기술 IP 한국 보유.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300" kern="0" dirty="0">
                <a:solidFill>
                  <a:srgbClr val="F5F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457200" y="4297680"/>
            <a:ext cx="11247120" cy="0"/>
          </a:xfrm>
          <a:prstGeom prst="line">
            <a:avLst/>
          </a:prstGeom>
          <a:noFill/>
          <a:ln w="19050">
            <a:solidFill>
              <a:srgbClr val="C9A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C9A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LUMINEX — Light Beyond Borders.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2EA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동남아 4개국 스마트 조명 — 한국에서 시작한 글로벌 IoT 브랜드.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0"/>
            <a:ext cx="1371600" cy="0"/>
          </a:xfrm>
          <a:prstGeom prst="line">
            <a:avLst/>
          </a:prstGeom>
          <a:noFill/>
          <a:ln w="8890">
            <a:solidFill>
              <a:srgbClr val="C9A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Yoon Tae-hyun · CEO  /  global@luminex.kr  /  luminex.kr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2026-04-30T10:03:14Z</dcterms:created>
  <dcterms:modified xsi:type="dcterms:W3CDTF">2026-04-30T10:03:14Z</dcterms:modified>
</cp:coreProperties>
</file>