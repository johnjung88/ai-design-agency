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1인 기업 (만 명)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0A0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110</c:v>
                </c:pt>
                <c:pt idx="1">
                  <c:v>130</c:v>
                </c:pt>
                <c:pt idx="2">
                  <c:v>148</c:v>
                </c:pt>
                <c:pt idx="3">
                  <c:v>162</c:v>
                </c:pt>
                <c:pt idx="4">
                  <c:v>174</c:v>
                </c:pt>
                <c:pt idx="5">
                  <c:v>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A0A0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분류 정확도 (%)</c:v>
                </c:pt>
              </c:strCache>
            </c:strRef>
          </c:tx>
          <c:spPr>
            <a:solidFill>
              <a:srgbClr val="E8503D"/>
            </a:solidFill>
            <a:ln w="38100" cap="flat">
              <a:solidFill>
                <a:srgbClr val="E850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A0A0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E8503D"/>
              </a:solidFill>
              <a:ln w="9525" cap="flat">
                <a:solidFill>
                  <a:srgbClr val="E850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M0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96.4</c:v>
                </c:pt>
                <c:pt idx="1">
                  <c:v>97.2</c:v>
                </c:pt>
                <c:pt idx="2">
                  <c:v>97.9</c:v>
                </c:pt>
                <c:pt idx="3">
                  <c:v>98.5</c:v>
                </c:pt>
                <c:pt idx="4">
                  <c:v>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A0A0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(억 원)</c:v>
                </c:pt>
              </c:strCache>
            </c:strRef>
          </c:tx>
          <c:spPr>
            <a:solidFill>
              <a:srgbClr val="E850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9.8</c:v>
                </c:pt>
                <c:pt idx="2">
                  <c:v>42</c:v>
                </c:pt>
                <c:pt idx="3">
                  <c:v>96</c:v>
                </c:pt>
                <c:pt idx="4">
                  <c:v>168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 운용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503D"/>
              </a:solidFill>
              <a:effectLst/>
            </c:spPr>
          </c:dPt>
          <c:dPt>
            <c:idx val="1"/>
            <c:bubble3D val="0"/>
            <c:spPr>
              <a:solidFill>
                <a:srgbClr val="D4A017"/>
              </a:solidFill>
              <a:effectLst/>
            </c:spPr>
          </c:dPt>
          <c:dPt>
            <c:idx val="2"/>
            <c:bubble3D val="0"/>
            <c:spPr>
              <a:solidFill>
                <a:srgbClr val="5BE3D5"/>
              </a:solidFill>
              <a:effectLst/>
            </c:spPr>
          </c:dPt>
          <c:dPt>
            <c:idx val="3"/>
            <c:bubble3D val="0"/>
            <c:spPr>
              <a:solidFill>
                <a:srgbClr val="40455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2EFE9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2EFE9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2EFE9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2EFE9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인건비 (개발 4명)</c:v>
                </c:pt>
                <c:pt idx="1">
                  <c:v>인프라·OCR API</c:v>
                </c:pt>
                <c:pt idx="2">
                  <c:v>마케팅·채널</c:v>
                </c:pt>
                <c:pt idx="3">
                  <c:v>특허·법률·기타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56</c:v>
                </c:pt>
                <c:pt idx="1">
                  <c:v>22</c:v>
                </c:pt>
                <c:pt idx="2">
                  <c:v>14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VIBESTACK · TIPS R&amp;D · 2026 · CONFIDENTIAL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R&amp;D 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5000"/>
              </a:lnSpc>
              <a:buNone/>
            </a:pPr>
            <a:r>
              <a:rPr lang="en-US" sz="22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Tax
</a:t>
            </a:r>
            <a:pPr indent="0" marL="0">
              <a:lnSpc>
                <a:spcPct val="85000"/>
              </a:lnSpc>
              <a:buNone/>
            </a:pPr>
            <a:r>
              <a:rPr lang="en-US" sz="10000" i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Solo.</a:t>
            </a:r>
            <a:endParaRPr lang="en-US" sz="22000" dirty="0"/>
          </a:p>
        </p:txBody>
      </p:sp>
      <p:sp>
        <p:nvSpPr>
          <p:cNvPr id="6" name="Text 4"/>
          <p:cNvSpPr/>
          <p:nvPr/>
        </p:nvSpPr>
        <p:spPr>
          <a:xfrm>
            <a:off x="45720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세무 자동화 — AI 회계 어시스턴트.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6190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Park Ji-ho /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0" y="6190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TIPS R&amp;D 신청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26480" y="6190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5억 원 (R&amp;D 5억)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0" y="5943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961120" y="6190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SaaS · AI Tax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30 —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장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0"/>
          </a:xfrm>
          <a:prstGeom prst="line">
            <a:avLst/>
          </a:prstGeom>
          <a:noFill/>
          <a:ln w="1905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1인 기업 (2025)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3756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375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직접 처리 부담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3.2시간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21792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평균 회계 처리 시간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98280" y="16459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42억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0982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Y3 매출 목표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3035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23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89%가 세무·회계를 직접 처리하나, 평균 3.2시간/월 소요. 세무사 의뢰 시 월 30만 원 부담.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3657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035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0233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회계 어시스턴트 — 영수증 자동 인식·분류, 세금 신고 자동화, 24h 챗봇 상담. 월 9,900원.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03520"/>
            <a:ext cx="53035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949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1,000명 → Y3 50,000명. ARPU 12만 원/연. Y3 매출 42억 (월 3.5억).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5029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5303520"/>
            <a:ext cx="53035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53949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세무 5년 + 카카오 ML 4년 + 토스 Backend 3년. 보유 특허 출원 2건.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0" y="6583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02 / 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TIPS 평가 매핑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Index.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TIPS 평가 4영역 100점 + 가점 5점.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기술성 40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031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AI·문제·차별화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p.04 - 09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사업성 40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1031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BM·시장·재무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0" y="3566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p.10 - 17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기타 20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1031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팀·리스크·실행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p.18 - 23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가점 +5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10312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특허·정책·ESG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p.24 - 26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486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부록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103120" y="5532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로드맵·Q&amp;A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0" y="5623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p.27 - 30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60807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40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기술성 — AI 회계 자동화 엔진.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T-01 / TECHNOLOGY · 문제 인식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문제. 1인 기업 세무 처리는 시간·비용·리스크를 모두 부담한다.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3.2h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평균 회계 시간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60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분류·정산·신고에만 월 3.2시간. 매출 시간 손실 환산 평균 22만 원/월.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한국세무사회 2025 1인 기업 실태조사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30만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 의뢰 부담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402336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160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30만 원 (연 360만) 대안. 1인 기업 매출 평균 3,200만 원 대비 11.2% 비중.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국세청·중기부 합동 통계 2025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22860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27%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841248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누락·오류율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0" y="402336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4160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종합소득세 신고 오류·누락률 27% (전체 평균 9% 대비 3배).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12480" y="5760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국세청 신고 분석 2024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T-02 / TECHNOLOGY · 시장 규모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p.06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시장. 1인 기업 자영업자 시장은 매년 +14% 확대.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1인 기업 (단위: 만 명)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20116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+14%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77240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연평균 성장률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2021-2025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 2.1조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772400" y="3520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세무·회계 시장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37947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한국세무사회 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 8,400억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7772400" y="4526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가능 세그먼트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48006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 추정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 420억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772400" y="5532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Y3 도달 목표 (5%)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5806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 사업계획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T-03 / TECHNOLOGY · 솔루션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솔루션. AI 회계 어시스턴트 — 5개 모듈로 회계 풀 자동화.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7315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자동 인식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965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GPT-4 Vision + 자체 finetune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06040"/>
            <a:ext cx="7315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비목 자동 분류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834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8.4만 건 학습 — 정확도 96.4%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7315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37160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복식부기 자동 작성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703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부가세법 룰 엔진 내장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343400"/>
            <a:ext cx="7315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43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3716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신고 자동화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45720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홈택스 API 연동 — 1-Click 신고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2064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212080"/>
            <a:ext cx="731520" cy="7315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1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37160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24h 세무 상담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5440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+ 국세청 판례 12만 건 인덱싱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T-04 / TECHNOLOGY · 경쟁 비교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차별화. 자영업 특화 AI + 1인 기업 가격으로 경쟁사 대비 76% 저렴.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11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VibeStack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삼쩜삼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더존 ERP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세무사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비용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9,900원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4.5만 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30만 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자동 분류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96.4%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70%대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홈택스 신고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1-Click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환급만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위임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기업 특화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24h 챗봇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(RAG)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X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보안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0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ISMS-P 진행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ISMS-P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ISMS-P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AI 자동 분류 정확도는 자체 테스트셋 8,400건 기준 (2026.04 측정).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T-05 / TECHNOLOGY · 기술 로드맵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p.09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KPI. 12개월 내 정확도 96 → 99%, 모듈 5 → 9.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11247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+2.6pp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개선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M0 → M12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 모듈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29768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기능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0" y="6217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외화·해외매출·환산·관세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3816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3건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138160" y="5989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특허 출원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8160" y="6217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비목 분류 / RAG 챗봇 / OCR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40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사업성 — BM·시장·재무.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B-01 / BUSINESS · BM Canvas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BM. 구독 9,900원 + 프로 19,900원 + 엔터프라이즈 49,900원.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7548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365760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9,900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/ 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54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/ 프리랜서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월 영수증 200건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종합소득세 자동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608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챗봇 무제한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901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엑셀 export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737360"/>
            <a:ext cx="3657600" cy="47548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737360"/>
            <a:ext cx="3657600" cy="13716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19,900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45720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/ 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54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 1인 / 소규모팀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88620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월 1,000건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부가세 신고 자동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4608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외화 매출 처리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0" y="4901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전담 매니저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5193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Slack/노션 연동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1737360"/>
            <a:ext cx="3657600" cy="47548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0" y="1737360"/>
            <a:ext cx="3657600" cy="137160"/>
          </a:xfrm>
          <a:prstGeom prst="rect">
            <a:avLst/>
          </a:prstGeom>
          <a:solidFill>
            <a:srgbClr val="5BE3D5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5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49,900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841248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/ 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54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 / 5인 이하 팀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12480" y="388620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무제한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법인세 자동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0" y="46085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다중 사용자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2480" y="4901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API 제공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51937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ISMS 보안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12480" y="5486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전담 세무사 1명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B-02 / BUSINESS · 매출 추정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매출. Y3 42억 — 누적 5만 명 × ARPU 12만 원/연.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0" y="2286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유료 가입자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2560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GTM 6개월 채널 4개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2880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77240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Y2 유료 가입자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프로/엔터프라이즈 추가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023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50,000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772400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Y3 유료 가입자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0" y="4846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TAM의 0.7%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5166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120억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7772400" y="5715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Y3 누적 매출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772400" y="5989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Y4 손익 분기 도달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B-03 / BUSINESS · Go-to-Market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GTM. 4개 채널 — Y1 1,000명 확보 마케팅 ROI 320%.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64008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K-Startup·창업진흥원 입주 협업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파트너십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신규 320명 / CAC 9,200원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64008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유튜브·블로그 콘텐츠 마케팅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오가닉 / 세무사 인플루언서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3063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280명 / CAC 12,000원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64008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커뮤니티 (디스콰이엇·해방)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씨딩 + 추천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220명 / CAC 7,500원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64008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029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280160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광고 (네이버·구글)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퍼포먼스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180명 / CAC 18,000원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CAC 평균 11,675원 · LTV 432,000원 · LTV/CAC 37배 · 페이백 1.2개월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B-04 / BUSINESS · Unit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경제성. 사용자 1명당 월 마진 7,800원 (78%).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11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BASIC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11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PRO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0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11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ENTERPRISE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E3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ARPU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9,900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19,900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49,900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원가 (서버·OCR API)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1,800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3,600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8,500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마케팅 분담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마진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7,800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16,000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41,100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마진율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78%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80%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82%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 (36개월)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281K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576K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1.48M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단위: 원 / K = 천 원, M = 백만 원. 원가는 OCR API + 클라우드 + DB. 마케팅은 종합 CAC를 LTV에 분산 분담.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B-05 / BUSINESS · 손익 추정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손익. Y3 흑자 전환 — 영업이익 7억 (영업이익률 16.7%).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 (억 원)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11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Y5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원가 (22%)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0.3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37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매출총이익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32.8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마케팅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5.4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12.6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인건비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7.2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-4.3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-5.0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+7.0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+29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+55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영업이익률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16.7%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30.2%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503D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32.7%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가정: 평균 ARPU 12만 원/연 / 이탈률 월 2.5% / 마케팅 ROI 3.2x / 인건비 평균 7,200만 원.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B-06 / BUSINESS · 자금 운용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자금. 5억 — 인건비 56% / 인프라 22% / 마케팅 14% / 기타 8%.</a:t>
            </a:r>
            <a:endParaRPr lang="en-US" sz="2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3736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2.8억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4980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0" y="21031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엔지니어 2 / 백엔드 1 / PM 1, 14개월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1.1억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49808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0" y="3108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GPT-4 Vision 720만 콜 / 클라우드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3749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0.7억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49808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0" y="4114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유튜브 콘텐츠 / 검색 광고 / 커뮤니티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0.4억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7498080" y="4754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특허·기타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9808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특허 출원 3건 / 변호사 자문 / ISMS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5.0억 원 — 14개월 R&amp;D 운영 (M0–M14) / 정부지원 4.5억 + 자체 5,000만 원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B-07 / BUSINESS · 일자리·사회적 가치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성과. 직접 일자리 12명 + 1인 기업 비용 절감 14.4억/연.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94960" cy="20116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pPr indent="0" marL="0">
              <a:buNone/>
            </a:pPr>
            <a:r>
              <a:rPr lang="en-US" sz="28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고용 (Y3)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 4 / Backend 3 / PM 2 / Sales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20116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</a:t>
            </a:r>
            <a:pPr indent="0" marL="0">
              <a:buNone/>
            </a:pPr>
            <a:r>
              <a:rPr lang="en-US" sz="28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명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간접 고용 (협력사)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 12 / 컨설턴트 22 / 디자이너 8 / 기타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5394960" cy="20116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14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14.4</a:t>
            </a:r>
            <a:pPr indent="0" marL="0">
              <a:buNone/>
            </a:pPr>
            <a:r>
              <a:rPr lang="en-US" sz="28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억</a:t>
            </a:r>
            <a:endParaRPr lang="en-US" sz="92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비용 절감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5만 명 × 28.8만 원 절감 (세무사 대비)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4023360"/>
            <a:ext cx="5394960" cy="201168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1148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232</a:t>
            </a:r>
            <a:pPr indent="0" marL="0">
              <a:buNone/>
            </a:pPr>
            <a:r>
              <a:rPr lang="en-US" sz="28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시간</a:t>
            </a:r>
            <a:endParaRPr lang="en-US" sz="9200" dirty="0"/>
          </a:p>
        </p:txBody>
      </p:sp>
      <p:sp>
        <p:nvSpPr>
          <p:cNvPr id="20" name="Text 18"/>
          <p:cNvSpPr/>
          <p:nvPr/>
        </p:nvSpPr>
        <p:spPr>
          <a:xfrm>
            <a:off x="6492240" y="5303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회계 처리 시간 절감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5만 명 × 월 3.2h × 12개월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· 20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기타 — 팀·리스크·실행.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O-01 / OTHER · 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팀. 세무 + ML + 백엔드 — 도메인 × 기술 풀스택.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7432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274320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Tax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Ji-ho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22860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2608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5년 — 1인 기업 세무 200건+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공인회계사 / 세무사 자격증 보유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737360"/>
            <a:ext cx="27432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737360"/>
            <a:ext cx="274320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Lee Min-ji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611880" y="2788920"/>
            <a:ext cx="22860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92608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 ML 4년 — 비목 자동분류 모델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 컴공 석사 / 논문 4편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7432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1737360"/>
            <a:ext cx="274320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Lead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 Sung-woo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92240" y="2788920"/>
            <a:ext cx="22860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92608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토스 Backend 3년 — 결제·정산 시스템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KAIST 학사 / 5년 경력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98280" y="1737360"/>
            <a:ext cx="27432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98280" y="1737360"/>
            <a:ext cx="2743200" cy="137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PM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7260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Choi Hae-rin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372600" y="2788920"/>
            <a:ext cx="22860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72600" y="2926080"/>
            <a:ext cx="2286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네이버 클로바 3년 — AI 프로덕트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연세대 경영 / 1인 기업 운영 경험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O-02 / OTHER · 자문·협력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자문. 세무·법률·AI 3개 영역 자문위원 6명 + 파트너 4사.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16459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한국세무사회 자문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 ○○ 세무사 (회장단)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657600" cy="16459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법무법인 율촌 자문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 ○○ 변호사 (스타트업 전담)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57600" cy="16459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 AI연구소 자문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○○ 교수 (NLP)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11247120" cy="0"/>
          </a:xfrm>
          <a:prstGeom prst="line">
            <a:avLst/>
          </a:prstGeom>
          <a:noFill/>
          <a:ln w="12700">
            <a:solidFill>
              <a:srgbClr val="0A0A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삼쩜삼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 / 환급 데이터 협력 (2026.03)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국민은행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사업자 통장 연동 (2026.06 예정)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디스콰이엇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커뮤니티 콘텐츠 파트너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715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스파크랩스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엑셀러레이팅 (BA 4기)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O-03 / OTHER · 리스크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리스크. 4개 카테고리 × 12개 시나리오 — 모두 대응 플랜 보유.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2EFE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1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OCR 정확도 95% 미달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자체 finetune 데이터 1.2만 건 추가 학습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API 의존도 (GPT-4)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Claude·Gemini 멀티 벤더 / 자체 모델 연구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삼쩜삼 가격 인하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프로/엔터프라이즈 차별화 + 24h 챗봇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기업 성장 둔화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프리랜서·소상공인 세그먼트 확장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세법 개정 (전자세금계산서)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세무사회 자문 즉시 룰 업데이트 (48h)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개인정보 유출 사고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ISMS-P 인증 / 망분리 / 보험 가입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유료 전환율 5% 미달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프리미엄 무료 7일 + 첫 신고 무료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이탈률 월 5% 초과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5BE3D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5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온보딩 프로세스 / NPS 추적 / CS 강화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H/M/L = High/Medium/Low. 대응 플랜은 모두 12개월 내 실행 가능.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O-04 / OTHER · 실행 KPI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KPI. 3개월·6개월·12개월 마일스톤.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베타 + 1인 기업 100명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OCR 정확도 96%+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베타 NPS 40+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MAU 100명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M06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전환 + 종합소득세 시즌 대응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유료 가입 300명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5월 신고 자동화 가동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CAC 12,000원 이하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1248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1,000명 + Series A 준비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12480" y="3291840"/>
            <a:ext cx="320040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MAU 5,000 / 유료 1,000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ARR 1.4억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ISMS-P 인증 완료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O-05 / OTHER · 정책 부합성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정책. K-디지털·DX·1인 기업 육성 — TIPS 핵심 가치 3개 충족.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1247120" cy="128016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8288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K-디지털 뉴딜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디지털 전환 — 회계 자동화로 디지털 격차 해소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0" y="2240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중기부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1247120" cy="128016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375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1828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DX 인덱스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AI·자동화 기반 SaaS — DX 부문 직접 기여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산업부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128016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182880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육성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5166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1.7M 1인 기업 비용·시간 절감 → 생존율·매출 향상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0" y="5074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중기부 종합대책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· +5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 — 특허·정책·ESG.</a:t>
            </a:r>
            <a:endParaRPr 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/ 가점 5점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p.25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가점. 특허 2건 + 청년 창업 + 여성 임원 = +5점.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28016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특허 출원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비목 자동분류 (출원 완료) / RAG 챗봇 (출원 진행)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28016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88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92024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청년 창업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만 32세 — 청년 창업 우대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0" y="3291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평가 기준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28016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404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92024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임원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CTO Lee Min-ji 여성 — 여성 임원 가점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평가 기준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280160" cy="914400"/>
          </a:xfrm>
          <a:prstGeom prst="rect">
            <a:avLst/>
          </a:prstGeom>
          <a:solidFill>
            <a:srgbClr val="E8503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920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19202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지방 창업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024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부산 (블루부산 입주) — 지방 창업 가점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평가 기준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+5점 — TIPS 만점 105점 도전 가능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/ ESG · 사회적 가치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ESG. 1인 기업 디지털 격차 해소 — 연 232만 시간 환원.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영수증 디지털화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98만 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5만 명 × 월 16장 종이 영수증 자동 디지털화 → 종이 사용 절감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기업 시간·비용 환원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14.4억 + 232만h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5만 명 비용 절감 14.4억 + 회계 시간 232만 시간 절감 (창의 활동 환원)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20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5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운영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ISMS-P + 외부 감사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0" y="4526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8FA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ISMS-P 인증 / Y2 외부 회계 감사 / 분기 IR 공개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1124712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F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부록 — 로드맵·Q&amp;A·소스.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24개월 로드맵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로드맵. M0 → M24 — 베타 → 손익분기 도달.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463040" cy="7772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M0-M3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베타 100명 / OCR 96% / iOS·Android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06040"/>
            <a:ext cx="1463040" cy="7772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060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M4-M6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유료 런칭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7889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BASIC 9,900원 출시 / 종합소득세 자동 / 유료 300명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1463040" cy="7772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M7-M12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Y1 확장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57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 19,900원 / Y1 1,000명 / Series A 준비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43400"/>
            <a:ext cx="1463040" cy="7772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434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M13-M18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Y2 성장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0" y="45262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/ 5,000명 / 부산 거점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212080"/>
            <a:ext cx="1463040" cy="777240"/>
          </a:xfrm>
          <a:prstGeom prst="rect">
            <a:avLst/>
          </a:prstGeom>
          <a:solidFill>
            <a:srgbClr val="0F111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212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M19-M24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0312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Y2 후반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0" y="53949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10,000명 / Series A 마감 / 손익 흑자 전환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2EF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404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p.29 / 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0"/>
          </a:xfrm>
          <a:prstGeom prst="line">
            <a:avLst/>
          </a:prstGeom>
          <a:noFill/>
          <a:ln w="6350">
            <a:solidFill>
              <a:srgbClr val="2A2D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Q&amp;A. 평가위원 Top 5.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삼쩜삼이 무료인데 왜 이걸 9,900원 내고 쓰나?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삼쩜삼은 환급 신고만 — 우린 종합소득세·부가세·법인세 풀 자동화 + 24h 챗봇. 비교 불가 카테고리.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OCR 정확도 96%면 4%는 사람이 잡아야 하나?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8529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맞다. 단 4%는 'AI 자신없음' 표시 되어 사용자에게 컨펌 요청 → 사용자 5초 클릭으로 끝. 실제 사용 부담은 0.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이탈률 월 2.5%는 너무 낙관적 아닌가?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7673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삼쩜삼 4.1% / 더존 ERP 1.8% — 우리는 중간값. 종합소득세 시즌 락인 효과 + 챗봇 의존도로 검증.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297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팀이 4명인데 R&amp;D 5억으로 14개월 가능?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6817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2.8억 = 4명 × 평균 5,000만 × 14개월. 추가 채용 없이 베타·유료 런칭까지 도달 가능 (실측).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50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5212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세법 개정 시 대응은?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59612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5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세무사회 자문위원 즉시 알림 → 룰 엔진 48시간 내 업데이트. 2025 전자세금계산서 개정 시 검증 완료.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5000"/>
              </a:lnSpc>
              <a:buNone/>
            </a:pPr>
            <a:r>
              <a:rPr lang="en-US" sz="22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2200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22000" b="1" dirty="0">
                <a:solidFill>
                  <a:srgbClr val="F2EF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you.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0"/>
            <a:ext cx="112471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VibeStack — 1인 기업 세무 자동화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 Ji-ho · CEO  /  jiho@vibestack.kr  /  vibestack.kr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6583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B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30 / 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2026-04-30T09:52:25Z</dcterms:created>
  <dcterms:modified xsi:type="dcterms:W3CDTF">2026-04-30T09:52:25Z</dcterms:modified>
</cp:coreProperties>
</file>