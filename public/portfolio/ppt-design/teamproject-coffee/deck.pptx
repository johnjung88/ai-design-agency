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주문 비중 (%)</c:v>
                </c:pt>
              </c:strCache>
            </c:strRef>
          </c:tx>
          <c:spPr>
            <a:solidFill>
              <a:srgbClr val="E85D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F1F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아메리카노</c:v>
                  </c:pt>
                  <c:pt idx="1">
                    <c:v>라테</c:v>
                  </c:pt>
                  <c:pt idx="2">
                    <c:v>시그니처</c:v>
                  </c:pt>
                  <c:pt idx="3">
                    <c:v>에이드</c:v>
                  </c:pt>
                  <c:pt idx="4">
                    <c:v>차/티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18</c:v>
                </c:pt>
                <c:pt idx="2">
                  <c:v>38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F1F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에스코어 드림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시간대별 방문 (%)</c:v>
                </c:pt>
              </c:strCache>
            </c:strRef>
          </c:tx>
          <c:spPr>
            <a:solidFill>
              <a:srgbClr val="E85D4C"/>
            </a:solidFill>
            <a:ln w="38100" cap="flat">
              <a:solidFill>
                <a:srgbClr val="E85D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E85D4C"/>
              </a:solidFill>
              <a:ln w="9525" cap="flat">
                <a:solidFill>
                  <a:srgbClr val="E85D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8시</c:v>
                  </c:pt>
                  <c:pt idx="1">
                    <c:v>10시</c:v>
                  </c:pt>
                  <c:pt idx="2">
                    <c:v>12시</c:v>
                  </c:pt>
                  <c:pt idx="3">
                    <c:v>14시</c:v>
                  </c:pt>
                  <c:pt idx="4">
                    <c:v>16시</c:v>
                  </c:pt>
                  <c:pt idx="5">
                    <c:v>18시</c:v>
                  </c:pt>
                  <c:pt idx="6">
                    <c:v>20시</c:v>
                  </c:pt>
                  <c:pt idx="7">
                    <c:v>22시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12</c:v>
                </c:pt>
                <c:pt idx="2">
                  <c:v>8</c:v>
                </c:pt>
                <c:pt idx="3">
                  <c:v>18</c:v>
                </c:pt>
                <c:pt idx="4">
                  <c:v>14</c:v>
                </c:pt>
                <c:pt idx="5">
                  <c:v>22</c:v>
                </c:pt>
                <c:pt idx="6">
                  <c:v>16</c:v>
                </c:pt>
                <c:pt idx="7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·  TEAM 04  ·  FALL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김OO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Gen Z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Drinks Coffee.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914400" cy="137160"/>
          </a:xfrm>
          <a:prstGeom prst="rect">
            <a:avLst/>
          </a:prstGeom>
          <a:solidFill>
            <a:srgbClr val="1AB7C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51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대학가 카페 소비 패턴 — 144명 설문 + 3개 매장 관찰.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Insights / 4-week capstone / Team-04 final presentation.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8890">
            <a:solidFill>
              <a:srgbClr val="E8E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이지윤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898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898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박민준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김도훈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9254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254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최아라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연세대 경영학과 / 마케팅 전공 4학년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·  RESEARCH QUESTION  ·  p.02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Q. 대학가 카페는 왜 매출이 +28% 늘었나?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1247120" cy="0"/>
          </a:xfrm>
          <a:prstGeom prst="line">
            <a:avLst/>
          </a:prstGeom>
          <a:noFill/>
          <a:ln w="6350">
            <a:solidFill>
              <a:srgbClr val="E8E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어떤 메뉴가 가장 잘 팔리나?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840480"/>
            <a:ext cx="5120640" cy="36576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F2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기존: 아메리카노 / 가설: 시그니처 음료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방문 시간대 변화는?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4709160"/>
            <a:ext cx="5120640" cy="36576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F2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기존: 오전 / 가설: 오후 + 저녁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32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구매 결정 요인은?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5577840"/>
            <a:ext cx="5120640" cy="36576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5577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F2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기존: 가격 / 가설: 인스타·분위기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·  METHODOLOGY  ·  p.03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did it.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2743200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 명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2377440" cy="0"/>
          </a:xfrm>
          <a:prstGeom prst="line">
            <a:avLst/>
          </a:prstGeom>
          <a:noFill/>
          <a:ln w="5080">
            <a:solidFill>
              <a:srgbClr val="E8E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구글폼 / 다중선택 + 자유서술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6060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606040"/>
            <a:ext cx="2743200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매장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20440" y="4206240"/>
            <a:ext cx="2377440" cy="0"/>
          </a:xfrm>
          <a:prstGeom prst="line">
            <a:avLst/>
          </a:prstGeom>
          <a:noFill/>
          <a:ln w="5080">
            <a:solidFill>
              <a:srgbClr val="E8E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신촌·안암·홍대 / 각 8시간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6060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606040"/>
            <a:ext cx="2743200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명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00800" y="4206240"/>
            <a:ext cx="2377440" cy="0"/>
          </a:xfrm>
          <a:prstGeom prst="line">
            <a:avLst/>
          </a:prstGeom>
          <a:noFill/>
          <a:ln w="5080">
            <a:solidFill>
              <a:srgbClr val="E8E1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심층 1:1 / 평균 28분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6060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606040"/>
            <a:ext cx="2743200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811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8116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2,400 건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281160" y="4206240"/>
            <a:ext cx="2377440" cy="0"/>
          </a:xfrm>
          <a:prstGeom prst="line">
            <a:avLst/>
          </a:prstGeom>
          <a:noFill/>
          <a:ln w="5080">
            <a:solidFill>
              <a:srgbClr val="E8E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4343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협력 카페 4주 매출 데이터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·  FINDING 01 · MENU  ·  p.04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spc="5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01.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시그니처가 아메리카노를 이겼다.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301752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3017520"/>
            <a:ext cx="39319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108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시그니처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아메리카노 22% 대비 +16pp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0" y="4160520"/>
            <a:ext cx="39319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4251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0120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에이드·티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0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전년 대비 카테고리 신설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0" y="5303520"/>
            <a:ext cx="39319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5394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커스터마이징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60120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선택률 84%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0" y="5760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샷·시럽·우유 옵션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·  FINDING 02 · TIME  ·  p.05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spc="5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저녁이 카페의 새 황금 시간이다.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3017520"/>
          <a:ext cx="11247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18시 피크 22% — 점심 14시 18%보다 +4pp. 저녁 "공부 카페" 트렌드.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·  FINDING 03 · DECISION  ·  p.06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spc="5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03.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가격은 4위였다. 1위는 "인스타 가능한 사진".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solidFill>
            <a:srgbClr val="E85D4C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인스타 가능한 사진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공간 분위기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시그니처 메뉴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0" y="4160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가격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0" y="4709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57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5257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위치 접근성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0" y="5257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06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5806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친구 추천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0" y="5806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* 응답자 144명 / 복수응답 (top 3 선택) / 144 × 3 = 432 응답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·  PERSONA  ·  p.07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persona.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"인스타 카페족".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7180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"민지" / 22 / 대학생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120640" cy="0"/>
          </a:xfrm>
          <a:prstGeom prst="line">
            <a:avLst/>
          </a:prstGeom>
          <a:noFill/>
          <a:ln w="5080">
            <a:solidFill>
              <a:srgbClr val="E8E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주 방문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3-4회 / 카페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1회 지출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₩7,500-12,000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주 시간대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16-20시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303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함께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5303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친구 1-2명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사진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5715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방문당 평균 6장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971800"/>
            <a:ext cx="5486400" cy="338328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429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"맛있는 곳"이 아니라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"보여주고 싶은 곳"을 갑니다.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0" y="4937760"/>
            <a:ext cx="5120640" cy="0"/>
          </a:xfrm>
          <a:prstGeom prst="line">
            <a:avLst/>
          </a:prstGeom>
          <a:noFill/>
          <a:ln w="5080">
            <a:solidFill>
              <a:srgbClr val="FAF7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50292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AF7F2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• 사진을 위해 음료를 시킨다 (시그니처 +38%)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AF7F2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• 일행은 같은 메뉴 절대 안 시킨다 (다양성)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AF7F2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• 조명은 백색 + 자연광이 포인트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·  RECOMMENDATIONS  ·  p.08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대학가 카페 매출 +38% — 우리의 제안.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7180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71800"/>
            <a:ext cx="914400" cy="7772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718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시그니처 메뉴 확장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3154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2종 신메뉴 / SNS 발표 / 시즌별 변화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914400" cy="7772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404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조명 + 인스타 스팟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자연광 위치 + 백색 LED + "포토존" 마련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09160"/>
            <a:ext cx="914400" cy="7772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4800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저녁 시간 전용 캠페인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892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18-22시 "공부카페" 음료 +1 무료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577840"/>
            <a:ext cx="914400" cy="7772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5778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554480" y="5669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친구 인증 할인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5760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함께 사진 인스타 → 음료 1잔 무료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·  IMPACT  ·  p.09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impact.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4가지 제안 12주 적용 시 — 협력 카페 추정.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7180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08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매출 증가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97180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108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Gen Z 방문 증가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920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+1.4시간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731520" y="5897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1인당 체류 시간 증가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7548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8920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+8.2K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6492240" y="5897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인스타 노출 (해시태그)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·  LIMITATIONS  ·  p.10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couldn't do.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표본 한계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144명 — 신촌 위주. 다른 지역 검증 필요.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611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시즌 한계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가을 4주 데이터. 연중 변화 미반영.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POS 한계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526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협력 매장 4개. 산업 전체 추정 한계.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49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349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원인 vs 상관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인스타 = 매출 증가는 상관. 인과는 추가 검증.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401  /  TEAM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·  NEXT STEPS  ·  p.11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the project.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914400" cy="1371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연구 확장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788920"/>
            <a:ext cx="0" cy="457200"/>
          </a:xfrm>
          <a:prstGeom prst="line">
            <a:avLst/>
          </a:prstGeom>
          <a:noFill/>
          <a:ln w="6350">
            <a:solidFill>
              <a:srgbClr val="E8E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강남·홍대·이태원 3곳 추가 조사 (3개월)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사업 적용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3657600"/>
            <a:ext cx="0" cy="457200"/>
          </a:xfrm>
          <a:prstGeom prst="line">
            <a:avLst/>
          </a:prstGeom>
          <a:noFill/>
          <a:ln w="6350">
            <a:solidFill>
              <a:srgbClr val="E8E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협력 카페 1곳 6개월 베타 운영 + 효과 검증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논문화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4526280"/>
            <a:ext cx="0" cy="457200"/>
          </a:xfrm>
          <a:prstGeom prst="line">
            <a:avLst/>
          </a:prstGeom>
          <a:noFill/>
          <a:ln w="6350">
            <a:solidFill>
              <a:srgbClr val="E8E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480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한국마케팅학회 학생 논문상 도전 (2027.03)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8E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창업 검토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5394960"/>
            <a:ext cx="0" cy="457200"/>
          </a:xfrm>
          <a:prstGeom prst="line">
            <a:avLst/>
          </a:prstGeom>
          <a:noFill/>
          <a:ln w="6350">
            <a:solidFill>
              <a:srgbClr val="E8E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5349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"인스타 카페 메뉴 분석 SaaS" 사업화 가능성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88952" cy="5486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i="1" dirty="0">
                <a:solidFill>
                  <a:srgbClr val="E85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914400" cy="137160"/>
          </a:xfrm>
          <a:prstGeom prst="rect">
            <a:avLst/>
          </a:prstGeom>
          <a:solidFill>
            <a:srgbClr val="1AB7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Team-04 / Marketing 401 / Fall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이지윤 · 박민준 · 김도훈 · 최아라  /  team04.coffee@gmail.com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6350">
            <a:solidFill>
              <a:srgbClr val="E8E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F1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질문은 환영합니다. 데이터 / 코드 / 설문지 모두 공개되어 있습니다.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263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2026-04-30T12:20:54Z</dcterms:created>
  <dcterms:modified xsi:type="dcterms:W3CDTF">2026-04-30T12:20:54Z</dcterms:modified>
</cp:coreProperties>
</file>