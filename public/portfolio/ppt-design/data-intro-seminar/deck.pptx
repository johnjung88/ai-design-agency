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월매출 (백만원)</c:v>
                </c:pt>
              </c:strCache>
            </c:strRef>
          </c:tx>
          <c:spPr>
            <a:solidFill>
              <a:srgbClr val="0E5E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A1F1B"/>
                    </a:solidFill>
                    <a:latin typeface="Arial Blac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18</c:v>
                </c:pt>
                <c:pt idx="2">
                  <c:v>24</c:v>
                </c:pt>
                <c:pt idx="3">
                  <c:v>22</c:v>
                </c:pt>
                <c:pt idx="4">
                  <c:v>32</c:v>
                </c:pt>
                <c:pt idx="5">
                  <c:v>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A1F1B"/>
                  </a:solidFill>
                  <a:latin typeface="Arial Blac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5E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F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101  /  INTERNAL TRAINING  /  Q2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058400" y="457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C9F2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i="1" spc="-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Data, simply.</a:t>
            </a:r>
            <a:endParaRPr lang="en-US" sz="110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914400" cy="137160"/>
          </a:xfrm>
          <a:prstGeom prst="rect">
            <a:avLst/>
          </a:prstGeom>
          <a:solidFill>
            <a:srgbClr val="C9F25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383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F2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"숫자가 무서운 사람"을 위한 데이터 분석 입문 — 12장.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D2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3시간 / 사내 세미나 / 노트 + 실습 포함.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5029200"/>
            <a:ext cx="11247120" cy="1554480"/>
          </a:xfrm>
          <a:prstGeom prst="rect">
            <a:avLst/>
          </a:prstGeom>
          <a:solidFill>
            <a:srgbClr val="0A3D3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166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F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54406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정민수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Sr. Data Analyst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5166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F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54406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hours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(이론 1.5h + 실습 1.5h)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5166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F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7920" y="54406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Beginner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(엑셀 사용 가능 수준)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006840" y="5166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F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006840" y="54406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Sheets +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Looker Studio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5E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F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101 / VIBESTACK INTERNAL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11887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·  AGENDA  ·  p.02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0E5E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Today's agenda.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914400" cy="1371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C8D2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86000"/>
            <a:ext cx="914400" cy="640080"/>
          </a:xfrm>
          <a:prstGeom prst="rect">
            <a:avLst/>
          </a:prstGeom>
          <a:solidFill>
            <a:srgbClr val="0E5E5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860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C9F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데이터란 무엇인가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데이터의 정의·종류·예시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24160" y="2468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1124712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C8D2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63240"/>
            <a:ext cx="914400" cy="640080"/>
          </a:xfrm>
          <a:prstGeom prst="rect">
            <a:avLst/>
          </a:prstGeom>
          <a:solidFill>
            <a:srgbClr val="0E5E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632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C9F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분석하는가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0" y="3246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데이터로 답하는 진짜 질문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424160" y="32461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1124712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C8D2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840480"/>
            <a:ext cx="914400" cy="640080"/>
          </a:xfrm>
          <a:prstGeom prst="rect">
            <a:avLst/>
          </a:prstGeom>
          <a:solidFill>
            <a:srgbClr val="0E5E55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404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C9F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5448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4단계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4023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 → 정제 → 분석 → 시각화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24160" y="40233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617720"/>
            <a:ext cx="1124712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C8D2C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617720"/>
            <a:ext cx="914400" cy="640080"/>
          </a:xfrm>
          <a:prstGeom prst="rect">
            <a:avLst/>
          </a:prstGeom>
          <a:solidFill>
            <a:srgbClr val="0E5E5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6177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C9F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55448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[실습] 매출 분석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03520" y="4800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매출 CSV로 차트 만들기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24160" y="4800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5394960"/>
            <a:ext cx="1124712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C8D2C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5394960"/>
            <a:ext cx="914400" cy="640080"/>
          </a:xfrm>
          <a:prstGeom prst="rect">
            <a:avLst/>
          </a:prstGeom>
          <a:solidFill>
            <a:srgbClr val="0E5E55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53949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C9F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554480" y="5532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Q&amp;A + 다음 단계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5577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도구·강의·책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424160" y="5577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20분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5E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F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101 / VIBESTACK INTERNAL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11887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·  WHAT IS DATA  ·  p.03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0E5E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=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9F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기록된 사실.</a:t>
            </a:r>
            <a:endParaRPr lang="en-US" sz="110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914400" cy="1371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657600"/>
            <a:ext cx="36576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657600"/>
            <a:ext cx="3657600" cy="365760"/>
          </a:xfrm>
          <a:prstGeom prst="rect">
            <a:avLst/>
          </a:prstGeom>
          <a:solidFill>
            <a:srgbClr val="0E5E5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C9F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NUMERIC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31520" y="4800600"/>
            <a:ext cx="3200400" cy="0"/>
          </a:xfrm>
          <a:prstGeom prst="line">
            <a:avLst/>
          </a:prstGeom>
          <a:noFill/>
          <a:ln w="5080">
            <a:solidFill>
              <a:srgbClr val="C8D2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9834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매출, 가격, 인원, 시간...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3657600"/>
            <a:ext cx="36576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C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3657600"/>
            <a:ext cx="3657600" cy="365760"/>
          </a:xfrm>
          <a:prstGeom prst="rect">
            <a:avLst/>
          </a:prstGeom>
          <a:solidFill>
            <a:srgbClr val="0E5E55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C9F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4160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범주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572000" y="4800600"/>
            <a:ext cx="3200400" cy="0"/>
          </a:xfrm>
          <a:prstGeom prst="line">
            <a:avLst/>
          </a:prstGeom>
          <a:noFill/>
          <a:ln w="5080">
            <a:solidFill>
              <a:srgbClr val="C8D2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49834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성별, 지역, 제품군...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3657600"/>
            <a:ext cx="36576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3657600"/>
            <a:ext cx="3657600" cy="365760"/>
          </a:xfrm>
          <a:prstGeom prst="rect">
            <a:avLst/>
          </a:prstGeom>
          <a:solidFill>
            <a:srgbClr val="0E5E55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C9F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4160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8412480" y="4800600"/>
            <a:ext cx="3200400" cy="0"/>
          </a:xfrm>
          <a:prstGeom prst="line">
            <a:avLst/>
          </a:prstGeom>
          <a:noFill/>
          <a:ln w="5080">
            <a:solidFill>
              <a:srgbClr val="C8D2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49834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리뷰, 메시지, 제목...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5E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F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101 / VIBESTACK INTERNAL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11887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·  WHY ANALYZE  ·  p.04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0E5E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analyze.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6B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"감"이 아니라 "근거"로 결정하기 위해.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914400" cy="1371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743200"/>
            <a:ext cx="112471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0"/>
            <a:ext cx="137160" cy="10058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어떤 제품이 더 잘 팔리나?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246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감: A 제품 / 데이터: 사실 B가 +28%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112471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931920"/>
            <a:ext cx="137160" cy="10058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69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광고는 효과가 있나?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434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감: 효과 있어 보여 / 데이터: ROAS 2.4x (있음)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5120640"/>
            <a:ext cx="112471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5120640"/>
            <a:ext cx="137160" cy="10058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257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이번 달 트래픽 왜 떨어졌지?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감: 모름 / 데이터: 인스타 3건 광고 종료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5E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F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101 / VIBESTACK INTERNAL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11887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·  ANALYSIS PROCESS  ·  p.05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0E5E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steps.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914400" cy="1371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468880"/>
            <a:ext cx="27432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68880"/>
            <a:ext cx="2743200" cy="457200"/>
          </a:xfrm>
          <a:prstGeom prst="rect">
            <a:avLst/>
          </a:prstGeom>
          <a:solidFill>
            <a:srgbClr val="0A3D3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9F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2377440" cy="0"/>
          </a:xfrm>
          <a:prstGeom prst="line">
            <a:avLst/>
          </a:prstGeom>
          <a:noFill/>
          <a:ln w="5080">
            <a:solidFill>
              <a:srgbClr val="C8D2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4348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어디서? Google Sheets / DB / API / 영수증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2468880"/>
            <a:ext cx="27432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C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2468880"/>
            <a:ext cx="2743200" cy="457200"/>
          </a:xfrm>
          <a:prstGeom prst="rect">
            <a:avLst/>
          </a:prstGeom>
          <a:solidFill>
            <a:srgbClr val="0A3D38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9F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2044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20440" y="3474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정제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3520440" y="4251960"/>
            <a:ext cx="2377440" cy="0"/>
          </a:xfrm>
          <a:prstGeom prst="line">
            <a:avLst/>
          </a:prstGeom>
          <a:noFill/>
          <a:ln w="5080">
            <a:solidFill>
              <a:srgbClr val="C8D2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44348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오타·누락·중복 제거. 80% 시간이 여기에.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468880"/>
            <a:ext cx="27432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468880"/>
            <a:ext cx="2743200" cy="457200"/>
          </a:xfrm>
          <a:prstGeom prst="rect">
            <a:avLst/>
          </a:prstGeom>
          <a:solidFill>
            <a:srgbClr val="0A3D38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9F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3474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6400800" y="4251960"/>
            <a:ext cx="2377440" cy="0"/>
          </a:xfrm>
          <a:prstGeom prst="line">
            <a:avLst/>
          </a:prstGeom>
          <a:noFill/>
          <a:ln w="5080">
            <a:solidFill>
              <a:srgbClr val="C8D2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4348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합계·평균·증감률·비교. 그리고 "왜?" 질문.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98280" y="2468880"/>
            <a:ext cx="27432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C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98280" y="2468880"/>
            <a:ext cx="2743200" cy="457200"/>
          </a:xfrm>
          <a:prstGeom prst="rect">
            <a:avLst/>
          </a:prstGeom>
          <a:solidFill>
            <a:srgbClr val="0A3D38"/>
          </a:solidFill>
          <a:ln/>
        </p:spPr>
      </p:sp>
      <p:sp>
        <p:nvSpPr>
          <p:cNvPr id="30" name="Text 28"/>
          <p:cNvSpPr/>
          <p:nvPr/>
        </p:nvSpPr>
        <p:spPr>
          <a:xfrm>
            <a:off x="909828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9F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28116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281160" y="3474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시각화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9281160" y="4251960"/>
            <a:ext cx="2377440" cy="0"/>
          </a:xfrm>
          <a:prstGeom prst="line">
            <a:avLst/>
          </a:prstGeom>
          <a:noFill/>
          <a:ln w="5080">
            <a:solidFill>
              <a:srgbClr val="C8D2C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81160" y="44348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차트로 만들어 사람이 이해하게.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3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C9F2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3D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PRACTICE  /  실습 시작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0" y="1188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A3D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0" b="1" dirty="0">
                <a:solidFill>
                  <a:srgbClr val="C9F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LIVE.</a:t>
            </a:r>
            <a:endParaRPr lang="en-US" sz="280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914400" cy="16459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931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60분 실습 — 매출 데이터 1,200줄로 차트까지.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F2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준비물: Chrome / Google Sheets 권한 / 실습 파일 다운로드.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5212080"/>
            <a:ext cx="11247120" cy="1371600"/>
          </a:xfrm>
          <a:prstGeom prst="rect">
            <a:avLst/>
          </a:prstGeom>
          <a:solidFill>
            <a:srgbClr val="0E5E5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349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F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PRACTICE.STEPS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571500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CSV 열기 ② 합계·평균 ③ 월별 그룹화 ④ 차트 ⑤ Looker Studio 옮기기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5E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F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101 / VIBESTACK INTERNAL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11887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·  KEY FORMULAS  ·  p.07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0E5E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5 functions.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6B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5개만 알면 80% 분석 가능.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914400" cy="1371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697480"/>
            <a:ext cx="1124712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8D2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2788920"/>
            <a:ext cx="4114800" cy="411480"/>
          </a:xfrm>
          <a:prstGeom prst="rect">
            <a:avLst/>
          </a:prstGeom>
          <a:solidFill>
            <a:srgbClr val="0A3D3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7889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F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=SUM(B2:B100)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5528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열 모두 더하기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10712"/>
            <a:ext cx="1124712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8D2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478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35478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0" y="3502152"/>
            <a:ext cx="4114800" cy="411480"/>
          </a:xfrm>
          <a:prstGeom prst="rect">
            <a:avLst/>
          </a:prstGeom>
          <a:solidFill>
            <a:srgbClr val="0A3D3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350215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F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=AVERAGE(B2:B100)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55280" y="35478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값들의 평균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23944"/>
            <a:ext cx="1124712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8D2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6110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86000" y="42611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개수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0" y="4215384"/>
            <a:ext cx="4114800" cy="411480"/>
          </a:xfrm>
          <a:prstGeom prst="rect">
            <a:avLst/>
          </a:prstGeom>
          <a:solidFill>
            <a:srgbClr val="0A3D38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0" y="421538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F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=COUNT(B2:B100)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55280" y="426110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값이 있는 셀 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837176"/>
            <a:ext cx="1124712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8D2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97433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286000" y="497433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0" y="4928616"/>
            <a:ext cx="4114800" cy="411480"/>
          </a:xfrm>
          <a:prstGeom prst="rect">
            <a:avLst/>
          </a:prstGeom>
          <a:solidFill>
            <a:srgbClr val="0A3D38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0" y="492861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F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=IF(A2&gt;100,"O","X")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55280" y="49743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조건에 따라 다른 값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5550408"/>
            <a:ext cx="1124712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8D2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6875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VLOOKUP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286000" y="56875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조회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57600" y="5641848"/>
            <a:ext cx="4114800" cy="411480"/>
          </a:xfrm>
          <a:prstGeom prst="rect">
            <a:avLst/>
          </a:prstGeom>
          <a:solidFill>
            <a:srgbClr val="0A3D38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0" y="564184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F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=VLOOKUP(A2,B:D,3,0)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955280" y="56875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표에서 값 가져오기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5E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F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101 / VIBESTACK INTERNAL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11887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·  CHART TYPES  ·  p.08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0E5E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the right chart.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914400" cy="1371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286000"/>
            <a:ext cx="53949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688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9F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▮▮▮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210312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500" kern="0" dirty="0">
                <a:solidFill>
                  <a:srgbClr val="0E5E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103120" y="3063240"/>
            <a:ext cx="3474720" cy="0"/>
          </a:xfrm>
          <a:prstGeom prst="line">
            <a:avLst/>
          </a:prstGeom>
          <a:noFill/>
          <a:ln w="5080">
            <a:solidFill>
              <a:srgbClr val="C8D2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3200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(제품별·지역별)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53949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4688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9F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↗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786384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500" kern="0" dirty="0">
                <a:solidFill>
                  <a:srgbClr val="0E5E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863840" y="3063240"/>
            <a:ext cx="3474720" cy="0"/>
          </a:xfrm>
          <a:prstGeom prst="line">
            <a:avLst/>
          </a:prstGeom>
          <a:noFill/>
          <a:ln w="5080">
            <a:solidFill>
              <a:srgbClr val="C8D2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3200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 (시간 흐름)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53949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4805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9F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◐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2103120" y="4572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500" kern="0" dirty="0">
                <a:solidFill>
                  <a:srgbClr val="0E5E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PIE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2103120" y="5074920"/>
            <a:ext cx="3474720" cy="0"/>
          </a:xfrm>
          <a:prstGeom prst="line">
            <a:avLst/>
          </a:prstGeom>
          <a:noFill/>
          <a:ln w="5080">
            <a:solidFill>
              <a:srgbClr val="C8D2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5212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비중 (전체 100%)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4297680"/>
            <a:ext cx="53949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4805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9F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··:</a:t>
            </a:r>
            <a:endParaRPr lang="en-US" sz="6400" dirty="0"/>
          </a:p>
        </p:txBody>
      </p:sp>
      <p:sp>
        <p:nvSpPr>
          <p:cNvPr id="24" name="Text 22"/>
          <p:cNvSpPr/>
          <p:nvPr/>
        </p:nvSpPr>
        <p:spPr>
          <a:xfrm>
            <a:off x="7863840" y="4572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500" kern="0" dirty="0">
                <a:solidFill>
                  <a:srgbClr val="0E5E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SCATTER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863840" y="5074920"/>
            <a:ext cx="3474720" cy="0"/>
          </a:xfrm>
          <a:prstGeom prst="line">
            <a:avLst/>
          </a:prstGeom>
          <a:noFill/>
          <a:ln w="5080">
            <a:solidFill>
              <a:srgbClr val="C8D2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5212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상관 (두 변수 관계)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5E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F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101 / VIBESTACK INTERNAL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11887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 ·  REAL EXAMPLE  ·  p.09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0E5E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example.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6B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VibeStack 6개월 매출 — 어떤 인사이트?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914400" cy="137160"/>
          </a:xfrm>
          <a:prstGeom prst="rect">
            <a:avLst/>
          </a:prstGeom>
          <a:solidFill>
            <a:srgbClr val="FF6B6B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457200" y="2697480"/>
          <a:ext cx="7315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955280" y="2697480"/>
            <a:ext cx="3657600" cy="1097280"/>
          </a:xfrm>
          <a:prstGeom prst="rect">
            <a:avLst/>
          </a:prstGeom>
          <a:solidFill>
            <a:srgbClr val="FFFFFF"/>
          </a:solidFill>
          <a:ln w="5080">
            <a:solidFill>
              <a:srgbClr val="C8D2C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955280" y="2697480"/>
            <a:ext cx="137160" cy="10972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1" name="Text 8"/>
          <p:cNvSpPr/>
          <p:nvPr/>
        </p:nvSpPr>
        <p:spPr>
          <a:xfrm>
            <a:off x="8183880" y="2788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 01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183880" y="3063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5월 → 6월 +50% 점프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8388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신제품 런칭 효과 추정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955280" y="3931920"/>
            <a:ext cx="3657600" cy="1097280"/>
          </a:xfrm>
          <a:prstGeom prst="rect">
            <a:avLst/>
          </a:prstGeom>
          <a:solidFill>
            <a:srgbClr val="FFFFFF"/>
          </a:solidFill>
          <a:ln w="5080">
            <a:solidFill>
              <a:srgbClr val="C8D2C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55280" y="3931920"/>
            <a:ext cx="137160" cy="10972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6" name="Text 13"/>
          <p:cNvSpPr/>
          <p:nvPr/>
        </p:nvSpPr>
        <p:spPr>
          <a:xfrm>
            <a:off x="8183880" y="4023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 02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183880" y="4297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4월 -8% 감소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83880" y="4617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분석 필요 (인플루언서 1명 종료)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955280" y="5166360"/>
            <a:ext cx="3657600" cy="1097280"/>
          </a:xfrm>
          <a:prstGeom prst="rect">
            <a:avLst/>
          </a:prstGeom>
          <a:solidFill>
            <a:srgbClr val="FFFFFF"/>
          </a:solidFill>
          <a:ln w="5080">
            <a:solidFill>
              <a:srgbClr val="C8D2C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955280" y="5166360"/>
            <a:ext cx="137160" cy="10972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1" name="Text 18"/>
          <p:cNvSpPr/>
          <p:nvPr/>
        </p:nvSpPr>
        <p:spPr>
          <a:xfrm>
            <a:off x="8183880" y="5257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 03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183880" y="5532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+300%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183880" y="5852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Q1 → Q2 구간 4배 성장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5E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F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101 / VIBESTACK INTERNAL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11887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·  COMMON MISTAKES  ·  p.10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0E5E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common pitfalls.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914400" cy="1371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286000"/>
            <a:ext cx="112471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2316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1554480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 평균에만 의존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554480" y="2926080"/>
            <a:ext cx="9601200" cy="0"/>
          </a:xfrm>
          <a:prstGeom prst="line">
            <a:avLst/>
          </a:prstGeom>
          <a:noFill/>
          <a:ln w="5080">
            <a:solidFill>
              <a:srgbClr val="C8D2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3017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 중앙값·분포도 같이 본다 (이상치 영향)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112471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4048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1554480" y="3886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 그래프 축 조작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554480" y="4343400"/>
            <a:ext cx="9601200" cy="0"/>
          </a:xfrm>
          <a:prstGeom prst="line">
            <a:avLst/>
          </a:prstGeom>
          <a:noFill/>
          <a:ln w="5080">
            <a:solidFill>
              <a:srgbClr val="C8D2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4434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 Y축은 0부터 시작 (조작 X)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5120640"/>
            <a:ext cx="112471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25780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1554480" y="5303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 상관관계 = 인과관계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554480" y="5760720"/>
            <a:ext cx="9601200" cy="0"/>
          </a:xfrm>
          <a:prstGeom prst="line">
            <a:avLst/>
          </a:prstGeom>
          <a:noFill/>
          <a:ln w="5080">
            <a:solidFill>
              <a:srgbClr val="C8D2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58521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 상관은 상관일 뿐. A → B는 별도 검증 필요.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5E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F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101 / VIBESTACK INTERNAL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11887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·  NEXT STEPS  ·  p.11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0E5E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914400" cy="1371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286000"/>
            <a:ext cx="5394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86000"/>
            <a:ext cx="137160" cy="1188720"/>
          </a:xfrm>
          <a:prstGeom prst="rect">
            <a:avLst/>
          </a:prstGeom>
          <a:solidFill>
            <a:srgbClr val="C9F25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23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데이터로 본 OOO (한빛미디어)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2286000"/>
            <a:ext cx="5394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2286000"/>
            <a:ext cx="137160" cy="1188720"/>
          </a:xfrm>
          <a:prstGeom prst="rect">
            <a:avLst/>
          </a:prstGeom>
          <a:solidFill>
            <a:srgbClr val="C9F25C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423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788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구글 데이터 분석 자격증 (Coursera)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5394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657600"/>
            <a:ext cx="137160" cy="1188720"/>
          </a:xfrm>
          <a:prstGeom prst="rect">
            <a:avLst/>
          </a:prstGeom>
          <a:solidFill>
            <a:srgbClr val="C9F25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1605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Looker Studio (구글 무료) → SQL → Python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3657600"/>
            <a:ext cx="5394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657600"/>
            <a:ext cx="137160" cy="1188720"/>
          </a:xfrm>
          <a:prstGeom prst="rect">
            <a:avLst/>
          </a:prstGeom>
          <a:solidFill>
            <a:srgbClr val="C9F25C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41605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데이터분석가 커뮤니티 (한국DA협회)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5029200"/>
            <a:ext cx="5394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029200"/>
            <a:ext cx="137160" cy="1188720"/>
          </a:xfrm>
          <a:prstGeom prst="rect">
            <a:avLst/>
          </a:prstGeom>
          <a:solidFill>
            <a:srgbClr val="C9F25C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166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55321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내 정민수 / 격주 1:1 가능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17920" y="5029200"/>
            <a:ext cx="5394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C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5029200"/>
            <a:ext cx="137160" cy="1188720"/>
          </a:xfrm>
          <a:prstGeom prst="rect">
            <a:avLst/>
          </a:prstGeom>
          <a:solidFill>
            <a:srgbClr val="C9F25C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5166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0" y="55321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E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업무에 1주 1차트 시도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5E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457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9F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i="1" dirty="0">
                <a:solidFill>
                  <a:srgbClr val="C9F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457200" y="3383280"/>
            <a:ext cx="914400" cy="16459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작은 질문도 환영합니다 — "이게 데이터인가요?" 같은 것도.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11247120" cy="0"/>
          </a:xfrm>
          <a:prstGeom prst="line">
            <a:avLst/>
          </a:prstGeom>
          <a:noFill/>
          <a:ln w="6350">
            <a:solidFill>
              <a:srgbClr val="C9F2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F2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정민수 / Sr. Data Analyst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5349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D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@minsu.jung  ·  Slack #data-channel  ·  매주 수요일 office hour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2026-04-30T12:10:21Z</dcterms:created>
  <dcterms:modified xsi:type="dcterms:W3CDTF">2026-04-30T12:10:21Z</dcterms:modified>
</cp:coreProperties>
</file>