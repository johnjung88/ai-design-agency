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AKLM (Ours)</c:v>
                </c:pt>
              </c:strCache>
            </c:strRef>
          </c:tx>
          <c:spPr>
            <a:solidFill>
              <a:srgbClr val="8B1A1A"/>
            </a:solidFill>
            <a:ln w="31750" cap="flat">
              <a:solidFill>
                <a:srgbClr val="8B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8B1A1A"/>
              </a:solidFill>
              <a:ln w="9525" cap="flat">
                <a:solidFill>
                  <a:srgbClr val="8B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k=50</c:v>
                  </c:pt>
                  <c:pt idx="1">
                    <c:v>k=100</c:v>
                  </c:pt>
                  <c:pt idx="2">
                    <c:v>k=200</c:v>
                  </c:pt>
                  <c:pt idx="3">
                    <c:v>k=500</c:v>
                  </c:pt>
                  <c:pt idx="4">
                    <c:v>k=1K</c:v>
                  </c:pt>
                  <c:pt idx="5">
                    <c:v>k=2K</c:v>
                  </c:pt>
                  <c:pt idx="6">
                    <c:v>k=5K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92.4</c:v>
                </c:pt>
                <c:pt idx="1">
                  <c:v>94.1</c:v>
                </c:pt>
                <c:pt idx="2">
                  <c:v>94.8</c:v>
                </c:pt>
                <c:pt idx="3">
                  <c:v>95.2</c:v>
                </c:pt>
                <c:pt idx="4">
                  <c:v>95.6</c:v>
                </c:pt>
                <c:pt idx="5">
                  <c:v>95.8</c:v>
                </c:pt>
                <c:pt idx="6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RoBERTa-Ko (FT)</c:v>
                </c:pt>
              </c:strCache>
            </c:strRef>
          </c:tx>
          <c:spPr>
            <a:solidFill>
              <a:srgbClr val="5A5A5A"/>
            </a:solidFill>
            <a:ln w="31750" cap="flat">
              <a:solidFill>
                <a:srgbClr val="5A5A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5A5A5A"/>
              </a:solidFill>
              <a:ln w="9525" cap="flat">
                <a:solidFill>
                  <a:srgbClr val="5A5A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k=50</c:v>
                  </c:pt>
                  <c:pt idx="1">
                    <c:v>k=100</c:v>
                  </c:pt>
                  <c:pt idx="2">
                    <c:v>k=200</c:v>
                  </c:pt>
                  <c:pt idx="3">
                    <c:v>k=500</c:v>
                  </c:pt>
                  <c:pt idx="4">
                    <c:v>k=1K</c:v>
                  </c:pt>
                  <c:pt idx="5">
                    <c:v>k=2K</c:v>
                  </c:pt>
                  <c:pt idx="6">
                    <c:v>k=5K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62.4</c:v>
                </c:pt>
                <c:pt idx="1">
                  <c:v>71.2</c:v>
                </c:pt>
                <c:pt idx="2">
                  <c:v>76.8</c:v>
                </c:pt>
                <c:pt idx="3">
                  <c:v>80.1</c:v>
                </c:pt>
                <c:pt idx="4">
                  <c:v>82.4</c:v>
                </c:pt>
                <c:pt idx="5">
                  <c:v>83.6</c:v>
                </c:pt>
                <c:pt idx="6">
                  <c:v>84.1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0"/>
          </a:xfrm>
          <a:prstGeom prst="line">
            <a:avLst/>
          </a:prstGeom>
          <a:noFill/>
          <a:ln w="889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5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KAIS 2026  ·  PROCEEDINGS  ·  ORAL SESSION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Few-shot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for Korean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Medical Text Classification.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spc="400" kern="0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SUN-HO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M.S. Candidate · KAIST AI Graduate School · 2nd year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217920"/>
            <a:ext cx="11247120" cy="0"/>
          </a:xfrm>
          <a:prstGeom prst="line">
            <a:avLst/>
          </a:prstGeom>
          <a:noFill/>
          <a:ln w="8890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KEYWORDS  ·  Few-shot Learning · Medical NLP · Korean BERT · Active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propose AKLM (Adaptive Korean Language Model), a few-shot framework that adapts BERT to medical text classification with only 50 labeled samples. AKLM achieves 92.4% F1 — outperforming standard fine-tuning by +14.6pp.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11247120" cy="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release AKLM, the first few-shot Korean medical LM (5K params).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curate K-MedNLI, a benchmark dataset of 12K Korean clinical texts.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349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achieve SOTA — F1 92.4% (+14.6pp), with 95% less labeled data.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760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open-source code, model weights, and dataset for reproducibility.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p.03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Introduction.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Korean medical text labeling requires expert annotation — costly and slow. Standard fine-tuning needs 5K+ labeled samples, but we typically have only 50-200.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48,000건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한국어 의료 텍스트 (병원 1곳)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443484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526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₩240/건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레이블링 비용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443484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5262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3.4시간/건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1248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평균 시간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p.04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Methodology.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Pre-train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645920" y="2880360"/>
            <a:ext cx="457200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971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KoBERT-medical: 한국어 의료 코퍼스 12M 토큰으로 추가 사전학습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64592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Few-shot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645920" y="4206240"/>
            <a:ext cx="457200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42976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 + uncertainty sampling으로 50개 샘플 선택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112471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164592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Refine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645920" y="5532120"/>
            <a:ext cx="457200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56235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라운드마다 모델 신뢰도 기반 hard sample 추가 학습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p.05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Experiments.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Setting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Note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Dataset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K-MedNLI (자체 구축)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12,000 clinical texts (8 classes)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Pre-train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KoBERT + 12M med tokens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AdamW · lr 5e-5 · 24h on A100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Few-shot 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 = 50, 100, 500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k=50 main result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Baselines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BERT-base, KoBERT, RoBERTa-Ko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 fine-tune (k=5K)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Metrics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Macro F1 / Accuracy / AUROC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5-fold CV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· TABLE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p.06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Results.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1.  Main results on K-MedNLI test set.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 (%)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 (%)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AUROC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BERT-base (FT)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77.8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0.84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KoBERT (FT)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85.7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0.88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RoBERTa-Ko (FT)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84.1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87.2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0.89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8B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AKLM (Ours)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94.1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0.96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AKLM (Ours, k=100)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94.1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95.4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0.97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AKLM with only 50 samples (1% of baseline) outperforms standard fine-tuning by +8.3 to +14.6 pp.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· FIGURE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p.07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  F1 vs. labeled samples (k).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2240280"/>
          <a:ext cx="11247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p.08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2.  Ablation of AKLM components (k=50).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Pre-train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Active L.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Iterative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Δ F1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8B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AKLM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w/o Iterative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88.2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-4.2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w/o Active L.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85.6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-6.8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w/o Pre-train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-10.3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w/o all (KoBERT)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5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62.4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1A1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-30.0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component contributes — pre-training (-10.3), active learning (-6.8), iterative refinement (-4.2). All three jointly outperform any subset.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p.09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Error analysis.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7.6%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20040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Misclassification 비율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62%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96112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Errors in 4 rare classes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3063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Imbalanced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28%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320040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Acronym confusion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의료 약어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297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896112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Boundary cases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4937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클래스에 모두 적합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· FUTURE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p.10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Limitations &amp; Future work.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spc="3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468880"/>
            <a:ext cx="0" cy="45720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50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K-MedNLI is single-hospital data — generalization to other hospitals not yet tested.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spc="3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 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3429000"/>
            <a:ext cx="0" cy="45720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34107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AKLM requires KoBERT-medical pre-training (24h on A100) — not always practical.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spc="3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01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4389120"/>
            <a:ext cx="0" cy="45720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370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to multi-modal (image + text) for radiology reports.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03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spc="3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02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5349240"/>
            <a:ext cx="0" cy="457200"/>
          </a:xfrm>
          <a:prstGeom prst="line">
            <a:avLst/>
          </a:prstGeom>
          <a:noFill/>
          <a:ln w="6350">
            <a:solidFill>
              <a:srgbClr val="D5D5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330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on EU/US English medical NLP benchmarks (MIMIC-III).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p.11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0"/>
          </a:xfrm>
          <a:prstGeom prst="line">
            <a:avLst/>
          </a:prstGeom>
          <a:noFill/>
          <a:ln w="889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Devlin et al., "BERT: Pre-training of Deep Bidirectional Transformers," NAACL 2019.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Park et al., "KoBERT: Korean BERT," SK Telecom Tech Report 2020.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Schick &amp; Schütze, "It's Not Just Size That Matters: Few-shot LM," NAACL 2021.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Lewis et al., "BART: Denoising Seq2Seq Pre-training," ACL 2020.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Lee et al., "BioBERT: Pre-trained Biomedical LM," Bioinformatics 2020.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Kim et al. (this work), "Adaptive Few-shot Learning for Korean Medical Text," KAIS 2026.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1247120" cy="0"/>
          </a:xfrm>
          <a:prstGeom prst="line">
            <a:avLst/>
          </a:prstGeom>
          <a:noFill/>
          <a:ln w="3810">
            <a:solidFill>
              <a:srgbClr val="D5D5D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0" cy="0"/>
          </a:xfrm>
          <a:prstGeom prst="line">
            <a:avLst/>
          </a:prstGeom>
          <a:noFill/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Q&amp;A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p.12 / 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508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Questions.</a:t>
            </a:r>
            <a:endParaRPr lang="en-US" sz="130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889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A0A0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 SUN-HO  ·  M.S. Candidate, KAIST AI Graduate School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sunho.kim@kaist.ac.kr  ·  github.com/sunho-kim/AKLM  ·  Code &amp; Dataset Released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120640"/>
            <a:ext cx="3657600" cy="0"/>
          </a:xfrm>
          <a:prstGeom prst="line">
            <a:avLst/>
          </a:prstGeom>
          <a:noFill/>
          <a:ln w="635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257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spc="500" kern="0" dirty="0">
                <a:solidFill>
                  <a:srgbClr val="8B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5532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work was supported by NRF Grant 2025-Korea-AI-2410.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Thanks to Prof. Kim, Lee Lab members, and the K-MedNLI annotation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2026-04-30T12:18:09Z</dcterms:created>
  <dcterms:modified xsi:type="dcterms:W3CDTF">2026-04-30T12:18:09Z</dcterms:modified>
</cp:coreProperties>
</file>