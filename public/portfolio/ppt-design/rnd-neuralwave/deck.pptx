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정확도 (%)</c:v>
                </c:pt>
              </c:strCache>
            </c:strRef>
          </c:tx>
          <c:spPr>
            <a:solidFill>
              <a:srgbClr val="FF5722"/>
            </a:solidFill>
            <a:ln w="38100" cap="flat">
              <a:solidFill>
                <a:srgbClr val="FF5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0A0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FF5722"/>
              </a:solidFill>
              <a:ln w="9525" cap="flat">
                <a:solidFill>
                  <a:srgbClr val="FF5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  <c:pt idx="7">
                    <c:v>M21</c:v>
                  </c:pt>
                  <c:pt idx="8">
                    <c:v>M24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89.1</c:v>
                </c:pt>
                <c:pt idx="1">
                  <c:v>90.5</c:v>
                </c:pt>
                <c:pt idx="2">
                  <c:v>91.8</c:v>
                </c:pt>
                <c:pt idx="3">
                  <c:v>92.9</c:v>
                </c:pt>
                <c:pt idx="4">
                  <c:v>93.7</c:v>
                </c:pt>
                <c:pt idx="5">
                  <c:v>94.5</c:v>
                </c:pt>
                <c:pt idx="6">
                  <c:v>95.2</c:v>
                </c:pt>
                <c:pt idx="7">
                  <c:v>95.8</c:v>
                </c:pt>
                <c:pt idx="8">
                  <c:v>96.4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0A0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8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디바이스 매출 (억)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Y3</c:v>
                  </c:pt>
                  <c:pt idx="1">
                    <c:v>Y4</c:v>
                  </c:pt>
                  <c:pt idx="2">
                    <c:v>Y5</c:v>
                  </c:pt>
                  <c:pt idx="3">
                    <c:v>Y6</c:v>
                  </c:pt>
                  <c:pt idx="4">
                    <c:v>Y7</c:v>
                  </c:pt>
                  <c:pt idx="5">
                    <c:v>Y8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32</c:v>
                </c:pt>
                <c:pt idx="2">
                  <c:v>78</c:v>
                </c:pt>
                <c:pt idx="3">
                  <c:v>138</c:v>
                </c:pt>
                <c:pt idx="4">
                  <c:v>218</c:v>
                </c:pt>
                <c:pt idx="5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구독 매출 (억)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Y3</c:v>
                  </c:pt>
                  <c:pt idx="1">
                    <c:v>Y4</c:v>
                  </c:pt>
                  <c:pt idx="2">
                    <c:v>Y5</c:v>
                  </c:pt>
                  <c:pt idx="3">
                    <c:v>Y6</c:v>
                  </c:pt>
                  <c:pt idx="4">
                    <c:v>Y7</c:v>
                  </c:pt>
                  <c:pt idx="5">
                    <c:v>Y8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18</c:v>
                </c:pt>
                <c:pt idx="2">
                  <c:v>48</c:v>
                </c:pt>
                <c:pt idx="3">
                  <c:v>92</c:v>
                </c:pt>
                <c:pt idx="4">
                  <c:v>156</c:v>
                </c:pt>
                <c:pt idx="5">
                  <c:v>240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B2B 매출 (억)</c:v>
                </c:pt>
              </c:strCache>
            </c:strRef>
          </c:tx>
          <c:spPr>
            <a:solidFill>
              <a:srgbClr val="FFD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Y3</c:v>
                  </c:pt>
                  <c:pt idx="1">
                    <c:v>Y4</c:v>
                  </c:pt>
                  <c:pt idx="2">
                    <c:v>Y5</c:v>
                  </c:pt>
                  <c:pt idx="3">
                    <c:v>Y6</c:v>
                  </c:pt>
                  <c:pt idx="4">
                    <c:v>Y7</c:v>
                  </c:pt>
                  <c:pt idx="5">
                    <c:v>Y8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</c:v>
                </c:pt>
                <c:pt idx="1">
                  <c:v>24</c:v>
                </c:pt>
                <c:pt idx="2">
                  <c:v>62</c:v>
                </c:pt>
                <c:pt idx="3">
                  <c:v>108</c:v>
                </c:pt>
                <c:pt idx="4">
                  <c:v>184</c:v>
                </c:pt>
                <c:pt idx="5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722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FFD600"/>
              </a:solidFill>
              <a:effectLst/>
            </c:spPr>
          </c:dPt>
          <c:dPt>
            <c:idx val="3"/>
            <c:bubble3D val="0"/>
            <c:spPr>
              <a:solidFill>
                <a:srgbClr val="40404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R&amp;D 인건비 (5명 24개월)</c:v>
                </c:pt>
                <c:pt idx="1">
                  <c:v>시제품·하드웨어</c:v>
                </c:pt>
                <c:pt idx="2">
                  <c:v>임상·KFDA 인증</c:v>
                </c:pt>
                <c:pt idx="3">
                  <c:v>특허·법률·기타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</c:v>
                </c:pt>
                <c:pt idx="1">
                  <c:v>18</c:v>
                </c:pt>
                <c:pt idx="2">
                  <c:v>14</c:v>
                </c:pt>
                <c:pt idx="3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589788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457200"/>
            <a:ext cx="0" cy="589788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NEURALWAVE_LABS · R&amp;D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MIT R&amp;D-026 ]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NEURAL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572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WAVE_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뇌파 기반 집중력 헬스케어 디바이스 — R&amp;D 사업 신청.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1106424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49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FOUNDER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Cho Yeon-woo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MIT BCI 박사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5349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8 억 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5943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R&amp;D 6 + 시제품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5349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PERIOD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24 개월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5943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2026.07 - 2028.06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06840" y="5349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0684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특허 5 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5943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출원 3 / 진행 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EXECUTIVE_SUMMARY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P.02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× 헬스케어 = 새로운 시장.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뇌파 8채널 측정 + AI 집중력 분석 + 음성 코칭. 24개월 R&amp;D.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글로벌 시장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연평균 성장률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특허 출원·진행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9828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9828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분석 정확도 목표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R&amp;D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3035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23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뇌파 8채널 EEG + AI 패턴 분류 + 음성 코칭. 정확도 96.4% 목표.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MARKET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3035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023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글로벌 3.6조 / 헬스케어 부문 1.2조. 일본 InteraXon 독주.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PRODUCT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53035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94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헤드밴드 디바이스 (49.8만) + 구독 (2.9만/월). B2B2C — 학원·병원 채널.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TEAM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5303520"/>
            <a:ext cx="53035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5394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MIT BCI 박사 + 카이스트 ML + 의료 디바이스 PM 3년. 의사 자문 8명.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· R&amp;D 평가 매핑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P.03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INDEX_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73152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문제·시장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헬스케어 시장 검증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p.04 - 09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73152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538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연구·기술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EEG 8채널 + AI 정확도 96%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p.10 - 17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73152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233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사업화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B2B2C 학원·병원 + 구독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p.18 - 23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73152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00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716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EXECUTION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5093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팀·실행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4983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MIT BCI 박사 + 의료 PM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0" y="4983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p.24 - 27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577840"/>
            <a:ext cx="73152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5778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71600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5870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부록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0" y="5760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로드맵·Q&amp;A·소스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0" y="5760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p.28 - 30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SECTION_001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106424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문제 인식과 시장.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집중력 데이터의 부재.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 · 집중력 측정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p.05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집중력 측정. 데이터로 못 한다.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1206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학습자 집중력 부족 호소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보건복지부 정신건강 실태조사 2025 / 한국교육개발원 학습 동기 조사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51206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학습자 67% '집중력 부족'을 호소하나, 객관적 측정 도구 부재. 의사 진단도 ADHD/우울증 분류만 — '집중력 패턴' 데이터 없음.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 · 기존 솔루션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p.06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기존 솔루션. 부정확·고가·접근성 낮음.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300만원+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1206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병원 EEG 1회 비용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병원 EEG 비용 자료, InteraXon 공식 / 당사 설문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51206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병원 뇌파 검사 1회 30-300만원, 예약 2주. 가정용 BCI는 일본 InteraXon Muse만 — 한국 미진출. 현지 음성 지원 없음.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 · BCI 글로벌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p.07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글로벌 3.6조 — 매년 +24% 성장.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3.6조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1206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글로벌 시장 (2025)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 View Research BCI Report 2025 / 한국전자정보통신산업진흥회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51206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 시장은 의료·게임·교육으로 확장. 헬스케어 부문이 1.2조로 가장 큰 비중. 일본·미국 위주 — 한국 1.5% 미만 점유.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 · TAM·SAM·SOM 정의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p.08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TAM·SAM·SOM 정의.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32억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1206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Y3 SOM 도달 목표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당사 추정 / 한국교육개발원 학원 통계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51206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TAM 3.6조 (글로벌 BCI) → SAM 1,200억 (국내 헬스케어 BCI) → SOM 32억 (Y3 도달, SAM 2.7%). 학원·병원 B2B2C 채널.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MARKET · 타깃 — 학습자·환자·시니어 3개 세그먼트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p.09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타깃 — 학습자·환자·시니어 3개 세그먼트.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1,200만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1206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타깃 가구 규모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통계청 인구 분포 + 보건복지부 ADHD 통계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51206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학습자 (중·고·대학·시험 700만) + ADHD·집중 환자 (320만) + 시니어 인지 케어 (180만). 총 1,200만 가구 도달 가능.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SECTION_002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106424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TECH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연구·기술.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뇌파 + AI = 측정 가능한 집중력.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핵심 목표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P.11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R&amp;D 목표. 8채널 EEG + AI 96.4% + 24h 배터리.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94960" cy="2103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EEG 채널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ch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50292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현재 4ch → 8ch 업그레이드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2103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정확도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96.4%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6492240" y="3337560"/>
            <a:ext cx="50292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현재 89.1% (M0) → M24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5394960" cy="2103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배터리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h</a:t>
            </a:r>
            <a:endParaRPr lang="en-US" sz="640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50292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현재 6h → 24h 연속 사용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069080"/>
            <a:ext cx="5394960" cy="2103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디바이스 무게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572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82g</a:t>
            </a:r>
            <a:endParaRPr lang="en-US" sz="6400" dirty="0"/>
          </a:p>
        </p:txBody>
      </p:sp>
      <p:sp>
        <p:nvSpPr>
          <p:cNvPr id="25" name="Shape 23"/>
          <p:cNvSpPr/>
          <p:nvPr/>
        </p:nvSpPr>
        <p:spPr>
          <a:xfrm>
            <a:off x="6492240" y="5623560"/>
            <a:ext cx="50292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현재 145g → 무게 절반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기술 아키텍처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P.12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아키텍처. EEG → 시그널 처리 → AI 분류 → 음성 코칭.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400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075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EEG 헤드밴드 (8ch / 250Hz)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947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Texas Instruments ADS1299 / 자체 PCB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807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노이즈 필터 + 아티팩트 제거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6791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ICA + 자체 FIR 필터 (특허 출원)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46120"/>
            <a:ext cx="6400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538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주파수 대역 분리 (α·β·γ·θ)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34107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FFT + 자체 윈도잉 알고리즘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6400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77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4270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집중력 패턴 분류 (CNN-LSTM)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4142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PyTorch — 8.4만 데이터 학습 (특허 출원)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709160"/>
            <a:ext cx="6400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709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80160" y="5001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실시간 음성 코칭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48737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TTS + 개인화 음성 (한국어/영어)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34924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440680"/>
            <a:ext cx="6400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440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8016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80160" y="5733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iOS / Android / Web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0" y="56052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React Native + 클라우드 동기화 (AWS)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08076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정확도 향상 곡선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P.13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정확도. M0 89.1% → M24 96.4% (+7.3pp).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11247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+7.3pp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정확도 개선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M0 → M24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8.4만 → 32만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29768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학습 데이터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4배 확장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13816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96.4%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3816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최종 목표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병원 임상 검증 완료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지식재산 (IP)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P.14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IP. 5건 — 출원 3 / 진행 2. R&amp;D 종료 시 9건 목표.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구분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특허 / 발명명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상태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출원·등록 일자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8채널 EEG 노이즈 제거 알고리즘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출원 완료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2025.06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CNN-LSTM 집중력 패턴 분류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출원 완료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2025.10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헤드밴드 인체공학 디자인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출원 완료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2026.02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실시간 음성 코칭 개인화 모델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진행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2026.07 (예정)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EEG 데이터 압축 전송 프로토콜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진행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2026.10 (예정)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R&amp;D 종료 시 추가 출원 4건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계획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2027-2028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임상 검증 계획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P.15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임상. M9-M18 — 200명 6주 임상 + 병원 4곳 협력.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M9-M12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사전 검증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30명 / 2주 / 안전성 확인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IRB 승인 + 자체 임상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365760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783080"/>
            <a:ext cx="3657600" cy="3657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M12-M15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1차 임상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0" y="32004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100명 / 3주 / 정확도 검증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50292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서울대병원·삼성병원 협력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1783080"/>
            <a:ext cx="365760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783080"/>
            <a:ext cx="3657600" cy="3657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M15-M18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2차 임상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412480" y="32004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200명 / 6주 / 효과 검증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12480" y="50292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4개 병원 + 통계 분석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경쟁 비교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P.16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차별화. 한국 데이터 + 음성 코칭 + 가격 = 독점.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항목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NeuralWave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InteraXon Muse (JP)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Emotiv (US)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병원 EEG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EEG 채널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 ch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 ch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5-14 ch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 ch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AI 분석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한국 96.4%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글로벌 87%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글로벌 91%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수동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음성 코칭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한·영 실시간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영어만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X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X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가격 (디바이스)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49.8 만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39 만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120-300 만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—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월 구독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2.9 만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1.5 만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 만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—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임상 인증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Y2 KFDA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FDA + CE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FDA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전수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R-7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· 24개월 로드맵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P.17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로드맵. 4분기 마일스톤 — 정확도·임상·인증 단계 진행.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37160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Q1-Q2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M1-M6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기술 고도화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9659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8채널 PCB / AI 92% / 시제품 5대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80360"/>
            <a:ext cx="137160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Q3-Q4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M7-M12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사전 임상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30632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30명 안전성 / 정확도 94% / 시제품 50대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137160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Q5-Q6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M13-M18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본 임상·인증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41605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200명 임상 / KFDA 1단계 / 정확도 95.5%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74920"/>
            <a:ext cx="137160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074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Q7-Q8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M19-M24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출시 준비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257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정확도 96.4% / KFDA 2단계 / 양산 준비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SECTION_003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106424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사업화.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B2B2C 학원·병원 + 구독.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· BM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P.19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BM. 디바이스 + 구독 + B2B2C — 3축 매출.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4114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디바이스 판매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49.8 만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헤드밴드 1대 / 2년 보증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 매출 비중 35%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783080"/>
            <a:ext cx="3657600" cy="4114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783080"/>
            <a:ext cx="3657600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구독 (App+AI)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2.9 만/월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4572000" y="36576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794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AI 분석 + 코칭 + 클라우드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 매출 비중 28%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1783080"/>
            <a:ext cx="3657600" cy="4114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1783080"/>
            <a:ext cx="3657600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 학원·병원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12 만/사용자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8412480" y="3657600"/>
            <a:ext cx="3200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794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단체 라이선스 + 관리 대시보드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 매출 비중 37%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· 매출 추정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P.20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매출. Y5 출시 → Y8 320억 (9배 성장).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* Y3 매출은 R&amp;D 종료 후 베타 매출. Y5부터 본격 매출. Y8 누적 매출 도달.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· GTM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P.21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GTM. 학원·병원 200곳 + D2C 자사몰 = Y5 7,800명.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4712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 학원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메가스터디 / 시대인재 / 종로학원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120 곳 / 단체 라이선스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Y5 매출 35%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4712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 병원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서울대 / 삼성 / 분당서울대 / 아산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8 곳 / 환자 케어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Y5 매출 18%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 시니어 센터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노인 인지 케어 센터 협력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72 곳 / 월 정액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Y5 매출 14%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6304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D2C 자사몰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공식 사이트 + 쿠팡 + 11번가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Y5 4,200대 판매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Y5 매출 33%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B-4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· 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P.22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단위 경제성. LTV/CAC 18.6배 — 페이백 7개월.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지표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D2C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B2B 학원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B2B 병원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ARPU (월)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29,000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120,000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180,000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이탈률 (월)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1.8%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평균 LTV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690K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6.7M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15M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CAC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37,000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250,000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1.2M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LTV/CAC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18.6x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26.8x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722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12.5x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페이백</a:t>
                      </a:r>
                      <a:endParaRPr lang="en-US" sz="12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 개월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2.5 개월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 개월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B-5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· 자금 운용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P.23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자금. 8억 — R&amp;D 인건비 56% / 시제품 18% / 임상 14% / 기타 12%.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 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0" y="1783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R&amp;D 인건비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20756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ML 2 / HW 2 / PM 1 — 24개월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 억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0" y="2788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시제품·HW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30815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PCB · 센서 · 양산 시제품 30대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0" y="3794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임상·KFDA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0" y="40873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IRB + 200명 임상 + KFDA 1·2단계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4800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 억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315200" y="4800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특허·법률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0" y="50932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특허 5건 + 변호사 + 보험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3810">
            <a:solidFill>
              <a:srgbClr val="40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SECTION_004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106424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EXECUTION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팀과 실행.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MIT BCI + 의료 PM.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· 핵심 인력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P.25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팀. MIT 박사 + 카이스트 ML + 의료 PM = 5명.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194560" cy="438912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194560" cy="1371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CEO / BCI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Cho Yeon-woo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828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MIT BCI 박사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뇌공학 8년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논문 12편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특허 4건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1783080"/>
            <a:ext cx="2194560" cy="438912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783080"/>
            <a:ext cx="2194560" cy="1371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CTO / 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Kang Joo-young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6080" y="3108960"/>
            <a:ext cx="1828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카이스트 AI 박사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네이버 클로바 6년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NeurIPS 5편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특허 2건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2194560" cy="438912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783080"/>
            <a:ext cx="2194560" cy="1371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of HW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Kim Min-suk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12080" y="3108960"/>
            <a:ext cx="1828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삼성전자 헬스케어 7년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Wearable PCB 설계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FDA 인증 경험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783080"/>
            <a:ext cx="2194560" cy="438912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783080"/>
            <a:ext cx="2194560" cy="1371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of Clinical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Park Ji-ah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98080" y="3108960"/>
            <a:ext cx="1828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메디트로닉 PM 5년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KFDA 인증 3건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임상 200건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0" y="1783080"/>
            <a:ext cx="2194560" cy="4389120"/>
          </a:xfrm>
          <a:prstGeom prst="rect">
            <a:avLst/>
          </a:prstGeom>
          <a:solidFill>
            <a:srgbClr val="F8F8F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1783080"/>
            <a:ext cx="2194560" cy="1371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3" name="Text 31"/>
          <p:cNvSpPr/>
          <p:nvPr/>
        </p:nvSpPr>
        <p:spPr>
          <a:xfrm>
            <a:off x="9784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/ PM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84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Lee Hae-jin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784080" y="3108960"/>
            <a:ext cx="1828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토스 PM 4년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B2B SaaS 출시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UX 리서치 전담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· 자문위원·협력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P.26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자문. 의사 8명 + 학계 4명 + 산업 자문 3명 = 15명.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64592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명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정신건강의학과 5명 + 신경과 3명. 서울대·삼성·분당서울대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64592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80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명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29768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MIT BCI Lab / KAIST / 서울대 / 연세대 — 공동 연구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64592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77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명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29768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SK텔레콤 헬스케어 / 카카오헬스 / 美 Neuralink 출신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64592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749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LEGAL/IP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5166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29768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법무법인 김장리 (의료기기 전담) / 특허법인 — 자문 풀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· 리스크·대응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P.27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리스크. 5개 카테고리 × 8개 시나리오 — 모두 대응.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구분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시나리오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확률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대응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정확도 96% 미달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D6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데이터 32만으로 확장 + 학계 자문 협력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배터리 24h 미달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삼성SDI / LG에너지 협력 + 저전력 칩 채택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CLINIC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임상 200명 모집 지연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병원 4곳 협력 + 학원 협력 200명 풀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KFDA 인증 지연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D6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메디트로닉 출신 PM 전담 + 법무법인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InteraXon 한국 진출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D6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한국어·B2B 학원 채널로 차별화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BCI 시장 둔화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헬스케어·시니어 케어로 확장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R&amp;D 8억 부족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D6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Y3 시드 라운드 12억 추가 조달 계획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57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핵심 이탈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카페24 Surround" pitchFamily="34" charset="0"/>
                          <a:ea typeface="카페24 Surround" pitchFamily="34" charset="-122"/>
                          <a:cs typeface="카페24 Surround" pitchFamily="34" charset="-120"/>
                        </a:rPr>
                        <a:t>스톡옵션 + 명확한 비전 + 분기 IR 공유</a:t>
                      </a:r>
                      <a:endParaRPr lang="en-US" sz="1100" dirty="0">
                        <a:latin typeface="카페24 Surround" charset="0"/>
                        <a:ea typeface="카페24 Surround" charset="0"/>
                        <a:cs typeface="카페24 Surrou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정책 부합성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P.28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정책. K-바이오 + 디지털 헬스케어 + R&amp;D 50조 — 직접 부합.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47120" cy="1188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828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K-바이오 헬스케어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BCI는 디지털 헬스케어의 핵심 — 한국 글로벌 1.5% 점유에서 5% 도전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복지부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1247120" cy="1188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18288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디지털 헬스 R&amp;D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703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AI · 데이터 · 디바이스 통합 — R&amp;D 50조 정책의 직접 수혜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산업부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47120" cy="1188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182880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정신건강 5개년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5074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ADHD·우울증·시니어 인지 케어 — 정신건강 정책 직접 기여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0" y="5029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복지부 5개년 계획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Q&amp;A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P.29 / 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예상 Q&amp;A. R&amp;D 평가단 Top 5.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정확도 96.4%는 현실적인 목표인가?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M0 89.1% → M24 96.4% = +7.3pp. 데이터 4배 확장 + CNN-LSTM 고도화로 도달 가능. MIT 박사 자체 검증.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InteraXon Muse는 이미 글로벌 1위. 한국 진출 시 어떻게?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9900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Muse 4ch / 영어만 / 39만. 우리는 8ch / 한국어 / 49.8만 — 미드프리미엄. 학원·병원 B2B 채널로 D2C 회피.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8억 R&amp;D로 24개월 가능한가?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9044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인건비 4.5억 = 5명 평균 9,000만 × 24개월. 시제품·임상·인증으로 분배. 추가 시드 12억은 Y3 라운드로 보강.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KFDA 인증 시 지연되면?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8188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메디트로닉 출신 PM Park 전담 + 법무법인 김장리 (의료기기) 자문. KFDA 인증 3건 경험으로 단계별 진행.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임상 200명 모집은 가능한가?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57332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병원 4곳 (서울대·삼성·분당·아산) 협력 + 자체 학원 협력 — 학습자 풀 1,200명 보유. 3개월 모집 가능.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Thank_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572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you.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57200" y="4526280"/>
            <a:ext cx="11247120" cy="0"/>
          </a:xfrm>
          <a:prstGeom prst="line">
            <a:avLst/>
          </a:prstGeom>
          <a:noFill/>
          <a:ln w="12700">
            <a:solidFill>
              <a:srgbClr val="FF5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5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NEURALWAVE_LABS — Measure focus.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카페24 Surround" pitchFamily="34" charset="0"/>
                <a:ea typeface="카페24 Surround" pitchFamily="34" charset="-122"/>
                <a:cs typeface="카페24 Surround" pitchFamily="34" charset="-120"/>
              </a:rPr>
              <a:t>뇌파 기반 집중력 헬스케어 — 측정 가능한 마음의 데이터.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0"/>
            <a:ext cx="1371600" cy="0"/>
          </a:xfrm>
          <a:prstGeom prst="line">
            <a:avLst/>
          </a:prstGeom>
          <a:noFill/>
          <a:ln w="889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 Yeon-woo · CEO  /  rd@neuralwave.kr  /  neuralwave.kr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P.30 / 30 [ END 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2026-04-30T10:08:06Z</dcterms:created>
  <dcterms:modified xsi:type="dcterms:W3CDTF">2026-04-30T10:08:06Z</dcterms:modified>
</cp:coreProperties>
</file>