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9050">
            <a:solidFill>
              <a:srgbClr val="2E1D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94360"/>
            <a:ext cx="11247120" cy="0"/>
          </a:xfrm>
          <a:prstGeom prst="line">
            <a:avLst/>
          </a:prstGeom>
          <a:noFill/>
          <a:ln w="5080">
            <a:solidFill>
              <a:srgbClr val="2E1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EST. 2019  ·  SEOUL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0" y="777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FRANCHISE PROSPECTUS  · 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4572000" y="2423160"/>
            <a:ext cx="3017520" cy="0"/>
          </a:xfrm>
          <a:prstGeom prst="line">
            <a:avLst/>
          </a:prstGeom>
          <a:noFill/>
          <a:ln w="8890">
            <a:solidFill>
              <a:srgbClr val="B895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BeanBrew.</a:t>
            </a:r>
            <a:endParaRPr lang="en-US" sz="110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스페셜티 커피와 시간을 마시는 곳.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074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MATRICES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5074920"/>
            <a:ext cx="0" cy="1005840"/>
          </a:xfrm>
          <a:prstGeom prst="line">
            <a:avLst/>
          </a:prstGeom>
          <a:noFill/>
          <a:ln w="5080">
            <a:solidFill>
              <a:srgbClr val="B895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8980" y="5074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6898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7900" y="5074920"/>
            <a:ext cx="0" cy="1005840"/>
          </a:xfrm>
          <a:prstGeom prst="line">
            <a:avLst/>
          </a:prstGeom>
          <a:noFill/>
          <a:ln w="5080">
            <a:solidFill>
              <a:srgbClr val="B89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5074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₩48M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AVG REV / MO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0" y="5074920"/>
            <a:ext cx="0" cy="1005840"/>
          </a:xfrm>
          <a:prstGeom prst="line">
            <a:avLst/>
          </a:prstGeom>
          <a:noFill/>
          <a:ln w="5080">
            <a:solidFill>
              <a:srgbClr val="B895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92540" y="5074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12mo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89254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PAYBACK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9050">
            <a:solidFill>
              <a:srgbClr val="2E1D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400" kern="0" dirty="0">
                <a:solidFill>
                  <a:srgbClr val="6F6557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FRANCHISE INVITATION  ·  HQ +82 2 555-3300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BRAND 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p.02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Our Story.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65760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"커피는 추출이 아니라 시간의 결정이다."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2019년, 한 사람이 작은 로스터리를 열었습니다.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5평 매장, 2개의 의자, 그리고 한 잔의 커피.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"손님 한 분이 들어오시면, 그 한 잔만 생각하자."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그것이 BeanBrew의 시작이었습니다.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7년 후, 우리는 48개 매장에서 매일 그 약속을 지킵니다.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468880"/>
            <a:ext cx="5303520" cy="365760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2019.03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2880360"/>
            <a:ext cx="365760" cy="0"/>
          </a:xfrm>
          <a:prstGeom prst="line">
            <a:avLst/>
          </a:prstGeom>
          <a:noFill/>
          <a:ln w="6350">
            <a:solidFill>
              <a:srgbClr val="B895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1호점 (성수)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2020.06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3383280"/>
            <a:ext cx="365760" cy="0"/>
          </a:xfrm>
          <a:prstGeom prst="line">
            <a:avLst/>
          </a:prstGeom>
          <a:noFill/>
          <a:ln w="6350">
            <a:solidFill>
              <a:srgbClr val="B89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직영 5호점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2022.09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886200"/>
            <a:ext cx="365760" cy="0"/>
          </a:xfrm>
          <a:prstGeom prst="line">
            <a:avLst/>
          </a:prstGeom>
          <a:noFill/>
          <a:ln w="6350">
            <a:solidFill>
              <a:srgbClr val="B895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프랜차이즈 1호 가맹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2024.04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4389120"/>
            <a:ext cx="365760" cy="0"/>
          </a:xfrm>
          <a:prstGeom prst="line">
            <a:avLst/>
          </a:prstGeom>
          <a:noFill/>
          <a:ln w="6350">
            <a:solidFill>
              <a:srgbClr val="B895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30호점 돌파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2025.11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4892040"/>
            <a:ext cx="365760" cy="0"/>
          </a:xfrm>
          <a:prstGeom prst="line">
            <a:avLst/>
          </a:prstGeom>
          <a:noFill/>
          <a:ln w="6350">
            <a:solidFill>
              <a:srgbClr val="B895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754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48호점 / 일본 진출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2026.06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5394960"/>
            <a:ext cx="365760" cy="0"/>
          </a:xfrm>
          <a:prstGeom prst="line">
            <a:avLst/>
          </a:prstGeom>
          <a:noFill/>
          <a:ln w="6350">
            <a:solidFill>
              <a:srgbClr val="B895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5257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100호점 도전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OUR VALUES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p.03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Three values.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54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콩에 진심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3484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100% 다이렉트 트레이드 — 농가 18곳과 직접 거래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46888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II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Brew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54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추출에 정성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42519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43484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바리스타 자체 양성 — 3개월 교육 + 분기 인증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46888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III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41248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Belong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1248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54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공간이 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42519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43484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매장은 동네 거실 — 손님이 시간을 보내는 곳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OUR MENU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p.04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Menu.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539496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5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ESPRESSO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에스프레소 / 아메리카노 / 라테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₩4,500-5,500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539496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5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FILTER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핸드드립 / V60 / 케맥스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₩6,500-8,500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539496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5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SIGNATURE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BeanBrew Latte / Black Forest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₩7,500-9,500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539496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5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NON-COFFEE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4251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차이 라테 / 핫초코 / 말차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4160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₩5,500-7,500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074920"/>
            <a:ext cx="539496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12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5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BAKERY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532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스콘 / 휘낭시에 / 자체 베이커리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5440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₩3,500-5,500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5074920"/>
            <a:ext cx="539496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5212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5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BEANS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532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원두 200g 패키지 / 매월 시즈널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75520" y="5440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₩28,000-48,000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SIGNATURE STORE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p.05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Our flagship.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Seongsu 1호점 — 32평 / 2019 / 월매출 ₩72M.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7132320" cy="3383280"/>
          </a:xfrm>
          <a:prstGeom prst="rect">
            <a:avLst/>
          </a:prstGeom>
          <a:solidFill>
            <a:srgbClr val="5A3F2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7132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HERO PHOTO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2926080"/>
            <a:ext cx="3931920" cy="105156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9260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4087368"/>
            <a:ext cx="3931920" cy="1051560"/>
          </a:xfrm>
          <a:prstGeom prst="rect">
            <a:avLst/>
          </a:prstGeom>
          <a:solidFill>
            <a:srgbClr val="6E1F2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408736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SEATING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5248656"/>
            <a:ext cx="3931920" cy="1051560"/>
          </a:xfrm>
          <a:prstGeom prst="rect">
            <a:avLst/>
          </a:prstGeom>
          <a:solidFill>
            <a:srgbClr val="B895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5248656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2EAD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ROAST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p.06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Numbers.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97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48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Stores Open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2019 →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5603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97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₩48M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5720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Avg Revenue / 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기존 가맹점 평균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25603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697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94%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84124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Repeat Customer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재방문율 (분기 NPS)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26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mo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3152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Avg Payback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623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초기 투자 회수 평균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43891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526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1.6배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457200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Industry Avg 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5623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동종 업계 ARPU 대비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38912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526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2,400+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841248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Daily Cups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5623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1호점 일평균 잔수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STORE FORMAT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p.07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Three formats.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STAND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면적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8-12 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투자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₩8,000만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매출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₩28M / 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440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타깃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역세권·테이크아웃 중심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2468880"/>
            <a:ext cx="3657600" cy="3840480"/>
          </a:xfrm>
          <a:prstGeom prst="rect">
            <a:avLst/>
          </a:prstGeom>
          <a:solidFill>
            <a:srgbClr val="2E1D11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57200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STORE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72000" y="3794760"/>
            <a:ext cx="3200400" cy="0"/>
          </a:xfrm>
          <a:prstGeom prst="line">
            <a:avLst/>
          </a:prstGeom>
          <a:noFill/>
          <a:ln w="5080">
            <a:solidFill>
              <a:srgbClr val="B895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면적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20-30 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투자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₩1.6억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매출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₩48M / 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5440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타깃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AD8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동네 거점 / 12-20석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246888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841248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FLAGSHIP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412480" y="37947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면적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268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40-60 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투자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2688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₩3.2억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4937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매출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2688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₩82M / 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5440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타깃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2688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브랜드 거점 / 30-40석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p.08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Initial investment.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1F2A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STORE 포맷 (20-30평) 기준 — 총 ₩1.6억.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항목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D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금액 (만원)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D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비중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D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포함 사항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D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가맹비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1,500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9%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브랜드 사용권 + 교육 + 매장 오픈 지원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교육비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300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2%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바리스타 3개월 교육 + 점주 운영 교육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보증금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1,000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6%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임대 보증 (계약 종료 시 반환)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인테리어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8,000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50%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본사 표준 인테리어 (평당 ₩300만)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기기·설비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3,500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22%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에스프레소 머신 + 그라인더 + 냉장고 + 가구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초도 물류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800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5%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원두·식자재·소모품 1개월 분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오픈 마케팅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900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6%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오픈 이벤트 + 동네 광고 + 인스타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합계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16,000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100%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(VAT 별도, 임대료 별도)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MONTHLY P&amp;L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p.09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Monthly numbers.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1F2A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STORE 포맷 평균 — 영업 12개월 후 안정 단계.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(만원)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D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Boutique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D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Avg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AD8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Top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D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월 매출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3,200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4,800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8,200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원자재 (32%)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1,024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1,536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2,624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인건비 (24%)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768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1,152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1,968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임대료 (12%)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384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576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984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로열티 (3%)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96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144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246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기타 (8%)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256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384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656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순이익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672 (21%)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1,008 (21%)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1,722 (21%)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본명조" pitchFamily="34" charset="0"/>
                          <a:ea typeface="본명조" pitchFamily="34" charset="-122"/>
                          <a:cs typeface="본명조" pitchFamily="34" charset="-120"/>
                        </a:rPr>
                        <a:t>회수 기간</a:t>
                      </a:r>
                      <a:endParaRPr lang="en-US" sz="1100" dirty="0">
                        <a:latin typeface="본명조" charset="0"/>
                        <a:ea typeface="본명조" charset="0"/>
                        <a:cs typeface="본명조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24 mo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1F2A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16 mo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9 mo</a:t>
                      </a:r>
                      <a:endParaRPr lang="en-US" sz="11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CC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* 평균 매장 (Avg) 기준 회수 기간 16개월. 임대료 차이가 가장 큰 변수.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WHAT WE SUPPORT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p.10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we support you.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29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3개월 / 바리스타 + 점주 / 본사 직접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5146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29184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429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POS + ERP + 발주 / 24h 본사 전담 핫라인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32688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12480" y="329184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429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분기 캠페인 + 인스타·블로그 운영 본사 지원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64592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MENU R&amp;D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분기 시즈널 메뉴 + 자재 본사 일괄 공급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BRANDING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512064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VI · 사이니지 · 패키지 · 유니폼 본사 지원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32688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512064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5257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월간 매출·원가·고객 데이터 대시보드 제공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OPENING 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p.11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inquiry to opening.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1F2A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평균 12-16주 — 인테리어 4-6주 + 교육 12주 동시 진행.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1097280" cy="41148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INQUIRY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가맹 문의 + 1차 미팅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097280" cy="41148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29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W1-2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입지 분석 + 본사 심사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097280" cy="41148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31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CONTRACT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9776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가맹 계약 + 보증금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1097280" cy="41148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W4-7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480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바리스타 + 점주 교육 (12주)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097280" cy="41148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37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W8-13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983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BUILD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4983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인테리어 + 기기 + 사이니지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440680"/>
            <a:ext cx="1097280" cy="41148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440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W14-15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3736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PREP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54864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초도 물류 + 직원 채용 + 시운전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943600"/>
            <a:ext cx="1097280" cy="41148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943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554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W16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37360" y="5989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OPEN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59893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오픈 + 마케팅 부스트 (4주)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FRANCHISEE TESTIMONIALS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p.12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our partners.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"본사 교육이 진짜였다. 3개월 후 직접 운영 가능. 14개월 만에 회수 끝."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657600" cy="0"/>
          </a:xfrm>
          <a:prstGeom prst="line">
            <a:avLst/>
          </a:prstGeom>
          <a:noFill/>
          <a:ln w="5080">
            <a:solidFill>
              <a:srgbClr val="6E1F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— 박OO 점주, 망원점 (2023.02 오픈)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"혼자 카페 차렸으면 무너졌을 것. 본사 매뉴얼 따라가니 성장."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3657600" cy="0"/>
          </a:xfrm>
          <a:prstGeom prst="line">
            <a:avLst/>
          </a:prstGeom>
          <a:noFill/>
          <a:ln w="5080">
            <a:solidFill>
              <a:srgbClr val="6E1F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— 김OO 점주, 합정점 (2024.06 오픈)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57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"지방인데도 본사 출장 와서 1주일 직접 도와줌. 신뢰가 쌓였다."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852160"/>
            <a:ext cx="3657600" cy="0"/>
          </a:xfrm>
          <a:prstGeom prst="line">
            <a:avLst/>
          </a:prstGeom>
          <a:noFill/>
          <a:ln w="5080">
            <a:solidFill>
              <a:srgbClr val="6E1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— 이OO 점주, 부산 광안점 (2025.04 오픈)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STORE NETWORK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p.13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48 stores across Korea.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서울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성수·합정·연남·이태원·강남·잠실 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51460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경기·인천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0" y="315468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291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분당·일산·송도·수원·광명 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부산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2416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8412480" y="315468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291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광안·해운대·서면·전포 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대구·대전·광주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731520" y="484632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각 시 핵심 상권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420624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제주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4572000" y="484632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제주시·서귀포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4206240"/>
            <a:ext cx="3657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일본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424160" y="4343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8412480" y="484632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도쿄 시부야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BRAND IDENTITY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p.14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Brand assets.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2194560" cy="1828800"/>
          </a:xfrm>
          <a:prstGeom prst="rect">
            <a:avLst/>
          </a:prstGeom>
          <a:solidFill>
            <a:srgbClr val="2E1D11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ESPRESSO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#2E1D11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2606040"/>
            <a:ext cx="2194560" cy="1828800"/>
          </a:xfrm>
          <a:prstGeom prst="rect">
            <a:avLst/>
          </a:prstGeom>
          <a:solidFill>
            <a:srgbClr val="6E1F2A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BURGUNDY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#6E1F2A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606040"/>
            <a:ext cx="2194560" cy="1828800"/>
          </a:xfrm>
          <a:prstGeom prst="rect">
            <a:avLst/>
          </a:prstGeom>
          <a:solidFill>
            <a:srgbClr val="B89554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GOLD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#B89554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2606040"/>
            <a:ext cx="2194560" cy="1828800"/>
          </a:xfrm>
          <a:prstGeom prst="rect">
            <a:avLst/>
          </a:prstGeom>
          <a:solidFill>
            <a:srgbClr val="F2EAD8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CREAM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#F2EAD8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0" y="2606040"/>
            <a:ext cx="219456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PAPER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#FFFFFF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E1F2A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타이포그래피 — Garamond Italic + Bodoni MT + 본명조 한글.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브랜드 보이스 — 정중하게, 따뜻하게, 천천히. 손님은 친구가 아니라 손님.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GROWTH PLAN 2030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p.15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By 2030.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1371600" cy="82296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651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100 stores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2697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한국 전국 + 일본 도쿄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1371600" cy="82296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611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150 stores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3657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+ 일본 오사카·교토 / 자체 로스팅 공장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34840"/>
            <a:ext cx="1371600" cy="82296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34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220 stores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0" y="4617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+ 동남아 (싱가포르·태국)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394960"/>
            <a:ext cx="1371600" cy="822960"/>
          </a:xfrm>
          <a:prstGeom prst="rect">
            <a:avLst/>
          </a:prstGeom>
          <a:solidFill>
            <a:srgbClr val="2E1D1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394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B8955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2030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5532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400 stores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86400" y="5577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글로벌 / IPO 검토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LEGAL DISCLOSURE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p.16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Legal &amp; disclosure.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DISCLOSURE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697480"/>
            <a:ext cx="0" cy="274320"/>
          </a:xfrm>
          <a:prstGeom prst="line">
            <a:avLst/>
          </a:prstGeom>
          <a:noFill/>
          <a:ln w="6350">
            <a:solidFill>
              <a:srgbClr val="D7CC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6791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공정거래위원회 정보공개서 등록 (등록번호 20240612-XX) — 가맹 계약 전 14일 검토 의무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INSURANCE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3474720"/>
            <a:ext cx="0" cy="274320"/>
          </a:xfrm>
          <a:prstGeom prst="line">
            <a:avLst/>
          </a:prstGeom>
          <a:noFill/>
          <a:ln w="6350">
            <a:solidFill>
              <a:srgbClr val="D7CC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4564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본사 PL 보험 가입 / 가맹점 영업배상책임 보험 가입 권장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TAX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4251960"/>
            <a:ext cx="0" cy="274320"/>
          </a:xfrm>
          <a:prstGeom prst="line">
            <a:avLst/>
          </a:prstGeom>
          <a:noFill/>
          <a:ln w="6350">
            <a:solidFill>
              <a:srgbClr val="D7CC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2336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VAT 별도 / 가맹 수수료는 사업소득 / 세무 자문 필수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83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DISPUTE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5029200"/>
            <a:ext cx="0" cy="274320"/>
          </a:xfrm>
          <a:prstGeom prst="line">
            <a:avLst/>
          </a:prstGeom>
          <a:noFill/>
          <a:ln w="6350">
            <a:solidFill>
              <a:srgbClr val="D7CC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50109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서울중앙지방법원 합의관할 / 가맹사업거래분쟁조정협의회 활용 가능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7CC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760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WARRANTY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5806440"/>
            <a:ext cx="0" cy="274320"/>
          </a:xfrm>
          <a:prstGeom prst="line">
            <a:avLst/>
          </a:prstGeom>
          <a:noFill/>
          <a:ln w="6350">
            <a:solidFill>
              <a:srgbClr val="D7CC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57881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기기 1년 무상 A/S / 인테리어 1년 하자 보수 / 보증금 5년 만기 환급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FREQUENTLY ASKED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p.17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FAQ.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월 매출 ₩4,800만이 평균인데 보장되나?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8072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보장 X. 평균값 (입지·운영 영향). 본사 입지 분석 + 운영 매뉴얼로 평균 도달 확률 78%.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0"/>
          </a:xfrm>
          <a:prstGeom prst="line">
            <a:avLst/>
          </a:prstGeom>
          <a:noFill/>
          <a:ln w="3810">
            <a:solidFill>
              <a:srgbClr val="D7CC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매장이 가깝게 입점하면 충돌하지 않나?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5844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본사 영역 보호 — 신규 가맹점은 기존 매장 반경 800m 외 입점.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47120" cy="0"/>
          </a:xfrm>
          <a:prstGeom prst="line">
            <a:avLst/>
          </a:prstGeom>
          <a:noFill/>
          <a:ln w="3810">
            <a:solidFill>
              <a:srgbClr val="D7CC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원두는 본사에서만 사야 하나?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3616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원두 + 시그니처 시럽은 본사 일괄. 우유·소모품은 본사 제휴 (선택).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11247120" cy="0"/>
          </a:xfrm>
          <a:prstGeom prst="line">
            <a:avLst/>
          </a:prstGeom>
          <a:noFill/>
          <a:ln w="3810">
            <a:solidFill>
              <a:srgbClr val="D7CC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8463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운영이 어려우면 폐업 가능한가?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51389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계약 종료 6개월 전 통보 / 기기·인테리어 본사 인수 가능 (감가 후 80%).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1247120" cy="0"/>
          </a:xfrm>
          <a:prstGeom prst="line">
            <a:avLst/>
          </a:prstGeom>
          <a:noFill/>
          <a:ln w="3810">
            <a:solidFill>
              <a:srgbClr val="D7CC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623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56235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D11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본사 직영점과 가맹점 차이는?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9161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6F6557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메뉴·인테리어는 동일. 직영은 본사 운영, 가맹은 점주 운영 + 본사 지원.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3810">
            <a:solidFill>
              <a:srgbClr val="D7CCB6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p.18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to apply.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INQUIRY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본사 홈페이지 → 가맹 문의 폼 작성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5146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MEETING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3375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본사 방문 (성수 본점) — 1시간 미팅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5146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32688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12480" y="33375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예상 입지 본사 답사 + 적합성 분석 (1-2주)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64592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DISCLOSURE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1663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303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정보공개서 검토 (의무 14일)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CONTRACT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51663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5303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계약 체결 + 가맹비/보증금 납부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43434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32688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OPENING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5166360"/>
            <a:ext cx="320040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5303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1812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교육 + 인테리어 + 오픈 (12-16주)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889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3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2E1D11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CONTACT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F655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p.19 /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Get in touch.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1247120" cy="0"/>
          </a:xfrm>
          <a:prstGeom prst="line">
            <a:avLst/>
          </a:prstGeom>
          <a:noFill/>
          <a:ln w="12700">
            <a:solidFill>
              <a:srgbClr val="6E1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+82 2 555-3300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3035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EMAIL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franchise@beanbrew.kr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3611880"/>
            <a:ext cx="53035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WEB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beanbrew.kr/franchise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53035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VISIT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성수 본점 — 서울 성동구 왕십리로 100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53035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37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HOURS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평일 10AM-6PM (예약제)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53035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937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6E1F2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MEET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4937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오프라인 / 줌 / 카카오톡 채널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5440680"/>
            <a:ext cx="5303520" cy="0"/>
          </a:xfrm>
          <a:prstGeom prst="line">
            <a:avLst/>
          </a:prstGeom>
          <a:noFill/>
          <a:ln w="5080">
            <a:solidFill>
              <a:srgbClr val="D7CCB6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19050">
            <a:solidFill>
              <a:srgbClr val="2E1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i="1" dirty="0">
                <a:solidFill>
                  <a:srgbClr val="2E1D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Brewing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i="1" dirty="0">
                <a:solidFill>
                  <a:srgbClr val="6E1F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together.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12700">
            <a:solidFill>
              <a:srgbClr val="B89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E1F2A"/>
                </a:solidFill>
                <a:latin typeface="본명조" pitchFamily="34" charset="0"/>
                <a:ea typeface="본명조" pitchFamily="34" charset="-122"/>
                <a:cs typeface="본명조" pitchFamily="34" charset="-120"/>
              </a:rPr>
              <a:t>BeanBrew — 함께 만드는 동네 거실.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715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557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franchise@beanbrew.kr  /  beanbrew.kr  /  +82 2 555-3300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9050">
            <a:solidFill>
              <a:srgbClr val="2E1D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F6557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p.20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2026-04-30T11:53:58Z</dcterms:created>
  <dcterms:modified xsi:type="dcterms:W3CDTF">2026-04-30T11:53:58Z</dcterms:modified>
</cp:coreProperties>
</file>