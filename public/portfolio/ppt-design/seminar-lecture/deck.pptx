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47120" cy="0"/>
          </a:xfrm>
          <a:prstGeom prst="line">
            <a:avLst/>
          </a:prstGeom>
          <a:noFill/>
          <a:ln w="1270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CEO TALK  ·  ESG MANIFESTO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0" y="594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SUSTAINABLE BUSINESS FORUM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Beyond profit.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Toward people, planet, profit.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이익을 넘어, 사람·자연·이익으로.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5212080"/>
            <a:ext cx="11247120" cy="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349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SPEAKER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56235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윤서영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CEO, GreenForest Group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68980" y="5349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DURATION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68980" y="56235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30 minutes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Keynote + Q&amp;A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80760" y="5349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FORUM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56235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지속가능경영 포럼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서울 · 2026.04.18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92540" y="5349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spc="3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AUDIENCE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2540" y="56235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CEO·임원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전문 청중 320명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12700">
            <a:solidFill>
              <a:srgbClr val="3A4F3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OPENING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p.02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"이익은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결과입니다.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목표가 아닙니다."</a:t>
            </a:r>
            <a:endParaRPr lang="en-US" sz="9000" dirty="0"/>
          </a:p>
        </p:txBody>
      </p:sp>
      <p:sp>
        <p:nvSpPr>
          <p:cNvPr id="10" name="Shape 8"/>
          <p:cNvSpPr/>
          <p:nvPr/>
        </p:nvSpPr>
        <p:spPr>
          <a:xfrm>
            <a:off x="457200" y="5669280"/>
            <a:ext cx="365760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spc="3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윤서영, GreenForest Group CEO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MY STORY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p.03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In 2008,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 lost everything.</a:t>
            </a:r>
            <a:endParaRPr lang="en-US" sz="8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3657600" cy="0"/>
          </a:xfrm>
          <a:prstGeom prst="line">
            <a:avLst/>
          </a:prstGeom>
          <a:noFill/>
          <a:ln w="8890">
            <a:solidFill>
              <a:srgbClr val="B895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아버지 세대의 사업이 글로벌 금융위기에 무너졌습니다.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389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B86B4A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"이익만 봤기 때문이다."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그때 깨달았습니다 — 사업의 진짜 자산은 사람과 신뢰라는 것을.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ESG REDEFINED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p.04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ESG.</a:t>
            </a:r>
            <a:endParaRPr lang="en-US" sz="130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6974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3464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</a:t>
            </a:r>
            <a:endParaRPr lang="en-US" sz="110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Environment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자연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507492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2120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탄소·자원·생태계. 우리 공장이 만들어낸 모든 흔적.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6974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83464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</a:t>
            </a:r>
            <a:endParaRPr lang="en-US" sz="11000" dirty="0"/>
          </a:p>
        </p:txBody>
      </p:sp>
      <p:sp>
        <p:nvSpPr>
          <p:cNvPr id="17" name="Text 15"/>
          <p:cNvSpPr/>
          <p:nvPr/>
        </p:nvSpPr>
        <p:spPr>
          <a:xfrm>
            <a:off x="4572000" y="4160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Social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0" y="4617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사람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507492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52120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직원·고객·지역사회. 우리의 결정이 영향을 주는 모든 사람.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97480"/>
            <a:ext cx="36576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83464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</a:t>
            </a:r>
            <a:endParaRPr lang="en-US" sz="11000" dirty="0"/>
          </a:p>
        </p:txBody>
      </p:sp>
      <p:sp>
        <p:nvSpPr>
          <p:cNvPr id="23" name="Text 21"/>
          <p:cNvSpPr/>
          <p:nvPr/>
        </p:nvSpPr>
        <p:spPr>
          <a:xfrm>
            <a:off x="8412480" y="4160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Governance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12480" y="4617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투명성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0" y="5074920"/>
            <a:ext cx="320040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52120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결정 과정·책임·견제. 우리가 정직하게 운영되는가.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THE NUMBER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p.05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84%</a:t>
            </a:r>
            <a:endParaRPr lang="en-US" sz="38000" dirty="0"/>
          </a:p>
        </p:txBody>
      </p:sp>
      <p:sp>
        <p:nvSpPr>
          <p:cNvPr id="8" name="Shape 6"/>
          <p:cNvSpPr/>
          <p:nvPr/>
        </p:nvSpPr>
        <p:spPr>
          <a:xfrm>
            <a:off x="457200" y="4297680"/>
            <a:ext cx="3657600" cy="0"/>
          </a:xfrm>
          <a:prstGeom prst="line">
            <a:avLst/>
          </a:prstGeom>
          <a:noFill/>
          <a:ln w="8890">
            <a:solidFill>
              <a:srgbClr val="5B75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526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의 한국 소비자가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074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ESG 가치를 따른 브랜드를 선택합니다.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3A4F3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이익은 따라옵니다 — 이익이 목표가 아닙니다.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CASE STUDY · PATAGONIA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p.06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Patagonia.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이익을 사회에 돌린 회사.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01752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$3B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731520" y="4160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기업 가치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2022 환경 신탁 양도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97680" y="301752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100%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572000" y="4160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이익 환원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4526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환경 보호 단체로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0" y="301752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7CF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3154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+38%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412480" y="4160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매출 증가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0" y="4526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양도 발표 후 12개월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3A4F35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"지구가 우리의 유일한 주주입니다."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spc="300" kern="0" dirty="0">
                <a:solidFill>
                  <a:srgbClr val="B89554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— Yvon Chouinard, Founder of Patagonia (2022)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GREENFOREST 5-YEAR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p.07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GreenForest, 5 years.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우리 회사는 5년간 무엇을 했는가.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971800"/>
            <a:ext cx="1371600" cy="502920"/>
          </a:xfrm>
          <a:prstGeom prst="rect">
            <a:avLst/>
          </a:prstGeom>
          <a:solidFill>
            <a:srgbClr val="5B755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71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011680" y="30175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탄소 발자국 측정 시작 — 베이스라인 12.4톤/직원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1371600" cy="502920"/>
          </a:xfrm>
          <a:prstGeom prst="rect">
            <a:avLst/>
          </a:prstGeom>
          <a:solidFill>
            <a:srgbClr val="5B755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1168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공급망 18개사 환경 인증 의무화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solidFill>
            <a:srgbClr val="5B7553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011680" y="42062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재택근무 50% 정착 → 출퇴근 탄소 -42%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1371600" cy="502920"/>
          </a:xfrm>
          <a:prstGeom prst="rect">
            <a:avLst/>
          </a:prstGeom>
          <a:solidFill>
            <a:srgbClr val="5B755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7548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011680" y="48006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공장 풀 태양광 전환 (자체 100%) — 탄소 -68%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5349240"/>
            <a:ext cx="1371600" cy="502920"/>
          </a:xfrm>
          <a:prstGeom prst="rect">
            <a:avLst/>
          </a:prstGeom>
          <a:solidFill>
            <a:srgbClr val="5B7553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53492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2025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011680" y="53949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탄소 발자국 4.2톤/직원 (베이스라인 -66%)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4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F4EFE3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07 /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4EFE3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ESG는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B89554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"하면 좋은 것"이 아니라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"안 하면 죽는 것"입니다.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457200" y="4937760"/>
            <a:ext cx="3657600" cy="0"/>
          </a:xfrm>
          <a:prstGeom prst="line">
            <a:avLst/>
          </a:prstGeom>
          <a:noFill/>
          <a:ln w="8890">
            <a:solidFill>
              <a:srgbClr val="B895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EFE3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EU 탄소국경세 2026 시행. 미국 SEC 공시 의무화. 한국 금융위 ESG 의무화 2027.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ESG 미준수 = 글로벌 시장에서 출입 금지.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5 ACTIONS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p.09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5 actions.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89554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CEO가 내일부터 할 수 있는 일.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697480"/>
            <a:ext cx="1124712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탄소 측정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2834640"/>
            <a:ext cx="0" cy="32004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2816352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올해 우리 회사 탄소 발자국 측정 (외부 인증사 위탁)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1124712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0215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II.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350215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공급망 점검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3547872"/>
            <a:ext cx="0" cy="32004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3529584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Top 10 공급사 ESG 점수 확인 + 점진적 교체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23944"/>
            <a:ext cx="1124712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15384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III.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54480" y="421538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내부 정책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4261104"/>
            <a:ext cx="0" cy="32004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0" y="4242816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재택·출장·회의 정책 — 탄소 기반 재설계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37176"/>
            <a:ext cx="1124712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928616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IV.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92861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투명 공시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37760" y="4974336"/>
            <a:ext cx="0" cy="32004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495604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분기 ESG 리포트 공개 (작은 회사도)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50408"/>
            <a:ext cx="11247120" cy="59436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4184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V.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54480" y="56418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경영 KPI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937760" y="5687568"/>
            <a:ext cx="0" cy="320040"/>
          </a:xfrm>
          <a:prstGeom prst="line">
            <a:avLst/>
          </a:prstGeom>
          <a:noFill/>
          <a:ln w="6350">
            <a:solidFill>
              <a:srgbClr val="D7CF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56692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356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임원 평가에 ESG 비중 30% 이상 반영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457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09 /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우리는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이 시대의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CEO입니다.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457200" y="4937760"/>
            <a:ext cx="365760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1812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선택은 — 구경꾼이 될 것인가, 만드는 사람이 될 것인가.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B86B4A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저는 만드는 사람이 되겠습니다. 함께 하시지요.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1247120" cy="0"/>
          </a:xfrm>
          <a:prstGeom prst="line">
            <a:avLst/>
          </a:prstGeom>
          <a:noFill/>
          <a:ln w="889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82880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RESOURCES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058400" y="502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p.10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5080">
            <a:solidFill>
              <a:srgbClr val="D7CF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Where to start.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1124712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945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BOOK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Deeply Responsible Business — H. Mintzberg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1945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97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GRI Standards / SASB / TCFD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03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CERT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069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ISO 14001 (환경) / ISO 26000 (사회적 책임)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5661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703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NETWORK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92240" y="4069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한국ESG경영연구원 / UN Global Compact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9377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AUDIT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5440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Big4 회계법인 ESG 컨설팅 부서 활용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4937760"/>
            <a:ext cx="5394960" cy="1097280"/>
          </a:xfrm>
          <a:prstGeom prst="rect">
            <a:avLst/>
          </a:prstGeom>
          <a:solidFill>
            <a:srgbClr val="FFFFFF"/>
          </a:solidFill>
          <a:ln w="5080">
            <a:solidFill>
              <a:srgbClr val="D7CF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5074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spc="400" kern="0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EDU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5440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4F35"/>
                </a:solidFill>
                <a:latin typeface="본명조" pitchFamily="34" charset="0"/>
                <a:ea typeface="본명조" pitchFamily="34" charset="-122"/>
                <a:cs typeface="본명조" pitchFamily="34" charset="-120"/>
              </a:rPr>
              <a:t>서울대 ESG 최고경영자 과정 / KAIST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47120" cy="0"/>
          </a:xfrm>
          <a:prstGeom prst="line">
            <a:avLst/>
          </a:prstGeom>
          <a:noFill/>
          <a:ln w="19050">
            <a:solidFill>
              <a:srgbClr val="3A4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5544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i="1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Thank you.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457200" y="4206240"/>
            <a:ext cx="11247120" cy="0"/>
          </a:xfrm>
          <a:prstGeom prst="line">
            <a:avLst/>
          </a:prstGeom>
          <a:noFill/>
          <a:ln w="12700">
            <a:solidFill>
              <a:srgbClr val="B86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B86B4A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"이익은 결과입니다. 목표가 아닙니다."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spc="200" kern="0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윤서영 · CEO, GreenForest Group  /  ceo@greenforest.kr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852160"/>
            <a:ext cx="1371600" cy="0"/>
          </a:xfrm>
          <a:prstGeom prst="line">
            <a:avLst/>
          </a:prstGeom>
          <a:noFill/>
          <a:ln w="8890">
            <a:solidFill>
              <a:srgbClr val="B86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035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A4F35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SUSTAINABLE BUSINESS FORUM 2026  ·  KEYNOTE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19050">
            <a:solidFill>
              <a:srgbClr val="3A4F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356"/>
                </a:solidFill>
                <a:latin typeface="Bodoni MT" pitchFamily="34" charset="0"/>
                <a:ea typeface="Bodoni MT" pitchFamily="34" charset="-122"/>
                <a:cs typeface="Bodoni MT" pitchFamily="34" charset="-120"/>
              </a:rPr>
              <a:t>p.12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2026-04-30T12:12:44Z</dcterms:created>
  <dcterms:modified xsi:type="dcterms:W3CDTF">2026-04-30T12:12:44Z</dcterms:modified>
</cp:coreProperties>
</file>