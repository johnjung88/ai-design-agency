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3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사료 시장 (조원)</c:v>
                </c:pt>
              </c:strCache>
            </c:strRef>
          </c:tx>
          <c:spPr>
            <a:solidFill>
              <a:srgbClr val="5C8A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 Black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2025E</c:v>
                  </c:pt>
                  <c:pt idx="5">
                    <c:v>2030E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1.6</c:v>
                </c:pt>
                <c:pt idx="1">
                  <c:v>1.9</c:v>
                </c:pt>
                <c:pt idx="2">
                  <c:v>2.2</c:v>
                </c:pt>
                <c:pt idx="3">
                  <c:v>2.5</c:v>
                </c:pt>
                <c:pt idx="4">
                  <c:v>2.8</c:v>
                </c:pt>
                <c:pt idx="5">
                  <c:v>4.8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프리미엄 비중 (%)</c:v>
                </c:pt>
              </c:strCache>
            </c:strRef>
          </c:tx>
          <c:spPr>
            <a:solidFill>
              <a:srgbClr val="D45B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 Black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2025E</c:v>
                  </c:pt>
                  <c:pt idx="5">
                    <c:v>2030E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22</c:v>
                </c:pt>
                <c:pt idx="1">
                  <c:v>26</c:v>
                </c:pt>
                <c:pt idx="2">
                  <c:v>31</c:v>
                </c:pt>
                <c:pt idx="3">
                  <c:v>35</c:v>
                </c:pt>
                <c:pt idx="4">
                  <c:v>39</c:v>
                </c:pt>
                <c:pt idx="5">
                  <c:v>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 Black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Trebuchet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Trebuchet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Trebuchet MS"/>
              <a:cs typeface="Trebuchet M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유료 가구</c:v>
                </c:pt>
              </c:strCache>
            </c:strRef>
          </c:tx>
          <c:spPr>
            <a:solidFill>
              <a:srgbClr val="D45B3F"/>
            </a:solidFill>
            <a:ln w="50800" cap="flat">
              <a:solidFill>
                <a:srgbClr val="D45B3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3A2E"/>
                    </a:solidFill>
                    <a:latin typeface="Arial Black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2"/>
            <c:spPr>
              <a:solidFill>
                <a:srgbClr val="D45B3F"/>
              </a:solidFill>
              <a:ln w="9525" cap="flat">
                <a:solidFill>
                  <a:srgbClr val="D45B3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M0</c:v>
                  </c:pt>
                  <c:pt idx="1">
                    <c:v>M+3</c:v>
                  </c:pt>
                  <c:pt idx="2">
                    <c:v>M+6</c:v>
                  </c:pt>
                  <c:pt idx="3">
                    <c:v>M+9</c:v>
                  </c:pt>
                  <c:pt idx="4">
                    <c:v>M+12</c:v>
                  </c:pt>
                  <c:pt idx="5">
                    <c:v>M+15</c:v>
                  </c:pt>
                  <c:pt idx="6">
                    <c:v>M+18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200</c:v>
                </c:pt>
                <c:pt idx="1">
                  <c:v>480</c:v>
                </c:pt>
                <c:pt idx="2">
                  <c:v>920</c:v>
                </c:pt>
                <c:pt idx="3">
                  <c:v>1480</c:v>
                </c:pt>
                <c:pt idx="4">
                  <c:v>2200</c:v>
                </c:pt>
                <c:pt idx="5">
                  <c:v>2950</c:v>
                </c:pt>
                <c:pt idx="6">
                  <c:v>3800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3A2E"/>
                  </a:solidFill>
                  <a:latin typeface="Arial Black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Trebuchet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Trebuchet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45B3F"/>
              </a:solidFill>
              <a:effectLst/>
            </c:spPr>
          </c:dPt>
          <c:dPt>
            <c:idx val="1"/>
            <c:bubble3D val="0"/>
            <c:spPr>
              <a:solidFill>
                <a:srgbClr val="1F3A2E"/>
              </a:solidFill>
              <a:effectLst/>
            </c:spPr>
          </c:dPt>
          <c:dPt>
            <c:idx val="2"/>
            <c:bubble3D val="0"/>
            <c:spPr>
              <a:solidFill>
                <a:srgbClr val="5C8A3A"/>
              </a:solidFill>
              <a:effectLst/>
            </c:spPr>
          </c:dPt>
          <c:dPt>
            <c:idx val="3"/>
            <c:bubble3D val="0"/>
            <c:spPr>
              <a:solidFill>
                <a:srgbClr val="C19A4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4EFE3"/>
                      </a:solidFill>
                      <a:latin typeface="Arial Black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4EFE3"/>
                      </a:solidFill>
                      <a:latin typeface="Arial Black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4EFE3"/>
                      </a:solidFill>
                      <a:latin typeface="Arial Black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4EFE3"/>
                      </a:solidFill>
                      <a:latin typeface="Arial Black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채널·마케팅 확장</c:v>
                </c:pt>
                <c:pt idx="1">
                  <c:v>R&amp;D·임상·인증</c:v>
                </c:pt>
                <c:pt idx="2">
                  <c:v>인건비·채용</c:v>
                </c:pt>
                <c:pt idx="3">
                  <c:v>운영·물류·기타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38</c:v>
                </c:pt>
                <c:pt idx="1">
                  <c:v>28</c:v>
                </c:pt>
                <c:pt idx="2">
                  <c:v>22</c:v>
                </c:pt>
                <c:pt idx="3">
                  <c:v>12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47120" cy="0"/>
          </a:xfrm>
          <a:prstGeom prst="line">
            <a:avLst/>
          </a:prstGeom>
          <a:noFill/>
          <a:ln w="25400">
            <a:solidFill>
              <a:srgbClr val="1F3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594360"/>
            <a:ext cx="11247120" cy="0"/>
          </a:xfrm>
          <a:prstGeom prst="line">
            <a:avLst/>
          </a:prstGeom>
          <a:noFill/>
          <a:ln w="6350">
            <a:solidFill>
              <a:srgbClr val="1F3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F3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GREENPET MAGAZINE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0" y="7772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spc="4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VOL.03 / SERIES A /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0" b="1" i="1" dirty="0">
                <a:solidFill>
                  <a:srgbClr val="1F3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Greenpet.</a:t>
            </a:r>
            <a:endParaRPr lang="en-US" sz="16500" dirty="0"/>
          </a:p>
        </p:txBody>
      </p:sp>
      <p:sp>
        <p:nvSpPr>
          <p:cNvPr id="7" name="Shape 5"/>
          <p:cNvSpPr/>
          <p:nvPr/>
        </p:nvSpPr>
        <p:spPr>
          <a:xfrm>
            <a:off x="457200" y="3291840"/>
            <a:ext cx="5486400" cy="0"/>
          </a:xfrm>
          <a:prstGeom prst="line">
            <a:avLst/>
          </a:prstGeom>
          <a:noFill/>
          <a:ln w="12700">
            <a:solidFill>
              <a:srgbClr val="D45B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29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우리 강아지가 먹어도 안전한 사료 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D45B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18개월 매출 18억, 이제 Series A.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7200" y="4617720"/>
            <a:ext cx="11247120" cy="1280160"/>
          </a:xfrm>
          <a:prstGeom prst="rect">
            <a:avLst/>
          </a:prstGeom>
          <a:solidFill>
            <a:srgbClr val="1F3A2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7091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7B89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18억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57200" y="5349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500" kern="0" dirty="0">
                <a:solidFill>
                  <a:srgbClr val="F4EF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Y2 매출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4709160"/>
            <a:ext cx="0" cy="1097280"/>
          </a:xfrm>
          <a:prstGeom prst="line">
            <a:avLst/>
          </a:prstGeom>
          <a:noFill/>
          <a:ln w="6350">
            <a:solidFill>
              <a:srgbClr val="D45B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68980" y="47091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7B89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3,800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268980" y="5349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500" kern="0" dirty="0">
                <a:solidFill>
                  <a:srgbClr val="F4EF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유료 가구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12180" y="4709160"/>
            <a:ext cx="0" cy="1097280"/>
          </a:xfrm>
          <a:prstGeom prst="line">
            <a:avLst/>
          </a:prstGeom>
          <a:noFill/>
          <a:ln w="6350">
            <a:solidFill>
              <a:srgbClr val="D45B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47091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7B89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94%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080760" y="5349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500" kern="0" dirty="0">
                <a:solidFill>
                  <a:srgbClr val="F4EF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재구매율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823960" y="4709160"/>
            <a:ext cx="0" cy="1097280"/>
          </a:xfrm>
          <a:prstGeom prst="line">
            <a:avLst/>
          </a:prstGeom>
          <a:noFill/>
          <a:ln w="6350">
            <a:solidFill>
              <a:srgbClr val="D45B3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92540" y="47091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7B89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8892540" y="5349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500" kern="0" dirty="0">
                <a:solidFill>
                  <a:srgbClr val="F4EF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특허·인증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6035040"/>
            <a:ext cx="11247120" cy="0"/>
          </a:xfrm>
          <a:prstGeom prst="line">
            <a:avLst/>
          </a:prstGeom>
          <a:noFill/>
          <a:ln w="6350">
            <a:solidFill>
              <a:srgbClr val="D5CD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172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 Soo-yeon · CEO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61722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i="1" dirty="0">
                <a:solidFill>
                  <a:srgbClr val="D45B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Series A · ₩4,000M · Lead 모집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25400">
            <a:solidFill>
              <a:srgbClr val="1F3A2E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47120" cy="0"/>
          </a:xfrm>
          <a:prstGeom prst="line">
            <a:avLst/>
          </a:prstGeom>
          <a:noFill/>
          <a:ln w="12700">
            <a:solidFill>
              <a:srgbClr val="1F3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ISSUE / 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spc="400" kern="0" dirty="0">
                <a:solidFill>
                  <a:srgbClr val="1F3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EDITOR'S LETTER · EXECUTIVE SUMMARY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548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p.02 / 25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11247120" cy="0"/>
          </a:xfrm>
          <a:prstGeom prst="line">
            <a:avLst/>
          </a:prstGeom>
          <a:noFill/>
          <a:ln w="5080">
            <a:solidFill>
              <a:srgbClr val="D5CD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i="1" dirty="0">
                <a:solidFill>
                  <a:srgbClr val="1F3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Letter from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i="1" dirty="0">
                <a:solidFill>
                  <a:srgbClr val="1F3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Editor.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3657600" cy="0"/>
          </a:xfrm>
          <a:prstGeom prst="line">
            <a:avLst/>
          </a:prstGeom>
          <a:noFill/>
          <a:ln w="12700">
            <a:solidFill>
              <a:srgbClr val="D45B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92608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"우리 강아지가 먹어도 안전한 사료, 데이터로 증명한다."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93192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Greenpet은 2025년 4분기 정식 런칭 이래 18개월간 3,800가구의 일상에 들어왔다. 한국 임상 데이터 8.4만 건 + 수의사 검수 100% + 주 1회 신선 생산 — 기존 펫 사료 카테고리에 없던 조합이다.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0" y="1188720"/>
            <a:ext cx="27432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5CD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1280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MRR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080760" y="15544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₩192M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080760" y="2240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+22% MoM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823960" y="1188720"/>
            <a:ext cx="27432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5CD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0" y="1280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NRR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961120" y="15544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138%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961120" y="2240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업계 평균 102%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0" y="2880360"/>
            <a:ext cx="27432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5CD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2971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LTV/CAC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80760" y="32461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47x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080760" y="3931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페이백 1.8개월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823960" y="2880360"/>
            <a:ext cx="27432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5CD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0" y="2971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GROSS MARGIN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961120" y="32461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56%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8961120" y="3931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신선 생산 + D2C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43600" y="4572000"/>
            <a:ext cx="27432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5CD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80760" y="4663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NPS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80760" y="49377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72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080760" y="5623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베타 200명 검증 완료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823960" y="4572000"/>
            <a:ext cx="27432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5CD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61120" y="4663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961120" y="49377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14명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8961120" y="5623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수의사 4 + R&amp;D 3 + 운영 7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47120" cy="0"/>
          </a:xfrm>
          <a:prstGeom prst="line">
            <a:avLst/>
          </a:prstGeom>
          <a:noFill/>
          <a:ln w="12700">
            <a:solidFill>
              <a:srgbClr val="1F3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ISSUE /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spc="400" kern="0" dirty="0">
                <a:solidFill>
                  <a:srgbClr val="1F3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 OF CONTENTS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548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p.03 / 25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11247120" cy="0"/>
          </a:xfrm>
          <a:prstGeom prst="line">
            <a:avLst/>
          </a:prstGeom>
          <a:noFill/>
          <a:ln w="5080">
            <a:solidFill>
              <a:srgbClr val="D5CD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i="1" dirty="0">
                <a:solidFill>
                  <a:srgbClr val="1F3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Contents.</a:t>
            </a:r>
            <a:endParaRPr lang="en-US" sz="60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11247120" cy="0"/>
          </a:xfrm>
          <a:prstGeom prst="line">
            <a:avLst/>
          </a:prstGeom>
          <a:noFill/>
          <a:ln w="12700">
            <a:solidFill>
              <a:srgbClr val="1F3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7432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D45B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554480" y="2788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EDITOR'S LETTER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554480" y="303580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Exec summary · Why now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0" y="2926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p.02 - 04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11247120" cy="0"/>
          </a:xfrm>
          <a:prstGeom prst="line">
            <a:avLst/>
          </a:prstGeom>
          <a:noFill/>
          <a:ln w="5080">
            <a:solidFill>
              <a:srgbClr val="D5CD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4747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D45B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554480" y="3520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54480" y="376732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Brand · Product · Customer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0" y="3657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p.05 - 09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114800"/>
            <a:ext cx="11247120" cy="0"/>
          </a:xfrm>
          <a:prstGeom prst="line">
            <a:avLst/>
          </a:prstGeom>
          <a:noFill/>
          <a:ln w="5080">
            <a:solidFill>
              <a:srgbClr val="D5CD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2062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D45B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1554480" y="4251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554480" y="44988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Market · Traction · Cohorts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0" y="4389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p.10 - 14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846320"/>
            <a:ext cx="11247120" cy="0"/>
          </a:xfrm>
          <a:prstGeom prst="line">
            <a:avLst/>
          </a:prstGeom>
          <a:noFill/>
          <a:ln w="5080">
            <a:solidFill>
              <a:srgbClr val="D5CD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9377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D45B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1554480" y="4983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554480" y="52303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BM · Unit econ · Financials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0" y="5120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p.15 - 19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5577840"/>
            <a:ext cx="11247120" cy="0"/>
          </a:xfrm>
          <a:prstGeom prst="line">
            <a:avLst/>
          </a:prstGeom>
          <a:noFill/>
          <a:ln w="5080">
            <a:solidFill>
              <a:srgbClr val="D5CD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56692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D45B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1554480" y="5715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554480" y="596188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Roadmap · Team · Ask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058400" y="5852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p.20 - 25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6309360"/>
            <a:ext cx="11247120" cy="0"/>
          </a:xfrm>
          <a:prstGeom prst="line">
            <a:avLst/>
          </a:prstGeom>
          <a:noFill/>
          <a:ln w="5080">
            <a:solidFill>
              <a:srgbClr val="D5CDB6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47120" cy="0"/>
          </a:xfrm>
          <a:prstGeom prst="line">
            <a:avLst/>
          </a:prstGeom>
          <a:noFill/>
          <a:ln w="12700">
            <a:solidFill>
              <a:srgbClr val="1F3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ISSUE /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spc="400" kern="0" dirty="0">
                <a:solidFill>
                  <a:srgbClr val="1F3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· WHY NOW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548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p.04 / 25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11247120" cy="0"/>
          </a:xfrm>
          <a:prstGeom prst="line">
            <a:avLst/>
          </a:prstGeom>
          <a:noFill/>
          <a:ln w="5080">
            <a:solidFill>
              <a:srgbClr val="D5CD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1F3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Now.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D45B3F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3가지 변화가 한국 펫 시장을 다시 정의한다.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11247120" cy="0"/>
          </a:xfrm>
          <a:prstGeom prst="line">
            <a:avLst/>
          </a:prstGeom>
          <a:noFill/>
          <a:ln w="12700">
            <a:solidFill>
              <a:srgbClr val="1F3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926080"/>
            <a:ext cx="36576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5CD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063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D45B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103120" y="3246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36576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펫 가구가 임계점을 넘었다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4434840"/>
            <a:ext cx="3200400" cy="0"/>
          </a:xfrm>
          <a:prstGeom prst="line">
            <a:avLst/>
          </a:prstGeom>
          <a:noFill/>
          <a:ln w="6350">
            <a:solidFill>
              <a:srgbClr val="D5CD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57200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2025년 1,500만 가구 (가구당 1.4마리). 펫 = 가족 인식 정착. 프리미엄 사료 ARPU +28% YoY.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5989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19A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한국농촌경제연구원 2025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97680" y="2926080"/>
            <a:ext cx="36576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5CD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3063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D45B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943600" y="3246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0" y="36576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한국 알러지 데이터가 처음 쌓인다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0" y="4434840"/>
            <a:ext cx="3200400" cy="0"/>
          </a:xfrm>
          <a:prstGeom prst="line">
            <a:avLst/>
          </a:prstGeom>
          <a:noFill/>
          <a:ln w="6350">
            <a:solidFill>
              <a:srgbClr val="D5CD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457200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수의사 28명 + 협력 병원 4곳에서 8.4만 건 임상 데이터. 한국 견종·기후 특화 처방 가능.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0" y="5989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19A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당사 자체 / KSV 학회 발표 2025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138160" y="2926080"/>
            <a:ext cx="36576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5CD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0" y="3063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D45B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9784080" y="3246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CHANNEL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412480" y="36576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D2C 신선 생산이 가능해졌다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412480" y="4434840"/>
            <a:ext cx="3200400" cy="0"/>
          </a:xfrm>
          <a:prstGeom prst="line">
            <a:avLst/>
          </a:prstGeom>
          <a:noFill/>
          <a:ln w="6350">
            <a:solidFill>
              <a:srgbClr val="D5CD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0" y="457200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콜드체인 4개사 + 자체 부산 OEM 가동. 주 1회 생산 → 24시간 배송. 재고 0% 운영.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412480" y="5989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19A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당사 운영 데이터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47120" cy="0"/>
          </a:xfrm>
          <a:prstGeom prst="line">
            <a:avLst/>
          </a:prstGeom>
          <a:noFill/>
          <a:ln w="12700">
            <a:solidFill>
              <a:srgbClr val="1F3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ISSUE / 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spc="400" kern="0" dirty="0">
                <a:solidFill>
                  <a:srgbClr val="1F3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· THE BRAND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548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p.05 / 25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11247120" cy="0"/>
          </a:xfrm>
          <a:prstGeom prst="line">
            <a:avLst/>
          </a:prstGeom>
          <a:noFill/>
          <a:ln w="5080">
            <a:solidFill>
              <a:srgbClr val="D5CD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i="1" dirty="0">
                <a:solidFill>
                  <a:srgbClr val="1F3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"한국에서 자란 강아지는,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i="1" dirty="0">
                <a:solidFill>
                  <a:srgbClr val="D45B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한국에서 만든 사료를 먹어야 한다."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spc="300" kern="0" dirty="0">
                <a:solidFill>
                  <a:srgbClr val="5A5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 Han Soo-yeon, CEO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703320"/>
            <a:ext cx="11247120" cy="0"/>
          </a:xfrm>
          <a:prstGeom prst="line">
            <a:avLst/>
          </a:prstGeom>
          <a:noFill/>
          <a:ln w="12700">
            <a:solidFill>
              <a:srgbClr val="1F3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931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2976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1F3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신뢰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57200" y="5029200"/>
            <a:ext cx="3291840" cy="0"/>
          </a:xfrm>
          <a:prstGeom prst="line">
            <a:avLst/>
          </a:prstGeom>
          <a:noFill/>
          <a:ln w="6350">
            <a:solidFill>
              <a:srgbClr val="D5CD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51663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수의사 검수 100% / KSV 학회 논문 게재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97680" y="3931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97680" y="42976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1F3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데이터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4297680" y="5029200"/>
            <a:ext cx="3291840" cy="0"/>
          </a:xfrm>
          <a:prstGeom prst="line">
            <a:avLst/>
          </a:prstGeom>
          <a:noFill/>
          <a:ln w="6350">
            <a:solidFill>
              <a:srgbClr val="D5CD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0" y="51663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한국 임상 8.4만 건 + AI 처방 알고리즘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38160" y="3931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FRESH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38160" y="42976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1F3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신선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8138160" y="5029200"/>
            <a:ext cx="3291840" cy="0"/>
          </a:xfrm>
          <a:prstGeom prst="line">
            <a:avLst/>
          </a:prstGeom>
          <a:noFill/>
          <a:ln w="6350">
            <a:solidFill>
              <a:srgbClr val="D5CD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38160" y="51663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주 1회 생산 / 24h 콜드체인 배송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D45B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Greenpet은 카테고리가 아닌 신뢰의 브랜드다.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47120" cy="0"/>
          </a:xfrm>
          <a:prstGeom prst="line">
            <a:avLst/>
          </a:prstGeom>
          <a:noFill/>
          <a:ln w="12700">
            <a:solidFill>
              <a:srgbClr val="1F3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ISSUE / 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spc="400" kern="0" dirty="0">
                <a:solidFill>
                  <a:srgbClr val="1F3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· PRODUCT LINEUP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548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p.06 / 25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11247120" cy="0"/>
          </a:xfrm>
          <a:prstGeom prst="line">
            <a:avLst/>
          </a:prstGeom>
          <a:noFill/>
          <a:ln w="5080">
            <a:solidFill>
              <a:srgbClr val="D5CD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1F3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Product.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5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3개 라인업 × 견종별 맞춤 처방 = 84종 SKU.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11247120" cy="0"/>
          </a:xfrm>
          <a:prstGeom prst="line">
            <a:avLst/>
          </a:prstGeom>
          <a:noFill/>
          <a:ln w="12700">
            <a:solidFill>
              <a:srgbClr val="1F3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834640"/>
            <a:ext cx="36576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5CD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834640"/>
            <a:ext cx="3657600" cy="164592"/>
          </a:xfrm>
          <a:prstGeom prst="rect">
            <a:avLst/>
          </a:prstGeom>
          <a:solidFill>
            <a:srgbClr val="5C8A3A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108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C8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BASIC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3383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2E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베이직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37947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i="1" dirty="0">
                <a:solidFill>
                  <a:srgbClr val="D45B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₩4.9</a:t>
            </a:r>
            <a:pPr indent="0" marL="0">
              <a:buNone/>
            </a:pPr>
            <a:r>
              <a:rPr lang="en-US" sz="1400" dirty="0">
                <a:solidFill>
                  <a:srgbClr val="D45B3F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 만원</a:t>
            </a:r>
            <a:endParaRPr lang="en-US" sz="4400" dirty="0"/>
          </a:p>
        </p:txBody>
      </p:sp>
      <p:sp>
        <p:nvSpPr>
          <p:cNvPr id="15" name="Shape 13"/>
          <p:cNvSpPr/>
          <p:nvPr/>
        </p:nvSpPr>
        <p:spPr>
          <a:xfrm>
            <a:off x="731520" y="4663440"/>
            <a:ext cx="3200400" cy="0"/>
          </a:xfrm>
          <a:prstGeom prst="line">
            <a:avLst/>
          </a:prstGeom>
          <a:noFill/>
          <a:ln w="6350">
            <a:solidFill>
              <a:srgbClr val="D5CD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타깃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554480" y="4754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건강한 성견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5074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SKU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554480" y="5074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32종 SKU (견종 × 체중)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5394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성분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554480" y="5394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닭·연어·소고기 / 곡물 5%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297680" y="2834640"/>
            <a:ext cx="36576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5CDB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97680" y="2834640"/>
            <a:ext cx="3657600" cy="164592"/>
          </a:xfrm>
          <a:prstGeom prst="rect">
            <a:avLst/>
          </a:prstGeom>
          <a:solidFill>
            <a:srgbClr val="D45B3F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0" y="3108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ALLERGY-CARE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0" y="3383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2E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알러지 케어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72000" y="37947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i="1" dirty="0">
                <a:solidFill>
                  <a:srgbClr val="D45B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₩6.9</a:t>
            </a:r>
            <a:pPr indent="0" marL="0">
              <a:buNone/>
            </a:pPr>
            <a:r>
              <a:rPr lang="en-US" sz="1400" dirty="0">
                <a:solidFill>
                  <a:srgbClr val="D45B3F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 만원</a:t>
            </a:r>
            <a:endParaRPr lang="en-US" sz="4400" dirty="0"/>
          </a:p>
        </p:txBody>
      </p:sp>
      <p:sp>
        <p:nvSpPr>
          <p:cNvPr id="27" name="Shape 25"/>
          <p:cNvSpPr/>
          <p:nvPr/>
        </p:nvSpPr>
        <p:spPr>
          <a:xfrm>
            <a:off x="4572000" y="4663440"/>
            <a:ext cx="3200400" cy="0"/>
          </a:xfrm>
          <a:prstGeom prst="line">
            <a:avLst/>
          </a:prstGeom>
          <a:noFill/>
          <a:ln w="6350">
            <a:solidFill>
              <a:srgbClr val="D5CD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타깃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394960" y="4754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알러지·소화 민감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0" y="5074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SKU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394960" y="5074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28종 SKU (알러지원 분리)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0" y="5394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성분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94960" y="5394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단일 단백질 / 곡물 0%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138160" y="2834640"/>
            <a:ext cx="36576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5CDB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38160" y="2834640"/>
            <a:ext cx="3657600" cy="164592"/>
          </a:xfrm>
          <a:prstGeom prst="rect">
            <a:avLst/>
          </a:prstGeom>
          <a:solidFill>
            <a:srgbClr val="C19A4B"/>
          </a:solidFill>
          <a:ln/>
        </p:spPr>
      </p:sp>
      <p:sp>
        <p:nvSpPr>
          <p:cNvPr id="36" name="Text 34"/>
          <p:cNvSpPr/>
          <p:nvPr/>
        </p:nvSpPr>
        <p:spPr>
          <a:xfrm>
            <a:off x="8412480" y="3108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19A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PREMIUM-CARE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412480" y="3383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2E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프리미엄 케어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412480" y="37947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i="1" dirty="0">
                <a:solidFill>
                  <a:srgbClr val="D45B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₩9.8</a:t>
            </a:r>
            <a:pPr indent="0" marL="0">
              <a:buNone/>
            </a:pPr>
            <a:r>
              <a:rPr lang="en-US" sz="1400" dirty="0">
                <a:solidFill>
                  <a:srgbClr val="D45B3F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 만원</a:t>
            </a:r>
            <a:endParaRPr lang="en-US" sz="4400" dirty="0"/>
          </a:p>
        </p:txBody>
      </p:sp>
      <p:sp>
        <p:nvSpPr>
          <p:cNvPr id="39" name="Shape 37"/>
          <p:cNvSpPr/>
          <p:nvPr/>
        </p:nvSpPr>
        <p:spPr>
          <a:xfrm>
            <a:off x="8412480" y="4663440"/>
            <a:ext cx="3200400" cy="0"/>
          </a:xfrm>
          <a:prstGeom prst="line">
            <a:avLst/>
          </a:prstGeom>
          <a:noFill/>
          <a:ln w="6350">
            <a:solidFill>
              <a:srgbClr val="D5CDB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1248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타깃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235440" y="4754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노령·만성·다묘견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412480" y="5074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SKU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235440" y="5074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24종 SKU (질환별)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412480" y="5394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성분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235440" y="5394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프리미엄 단백질 + 보조제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47120" cy="0"/>
          </a:xfrm>
          <a:prstGeom prst="line">
            <a:avLst/>
          </a:prstGeom>
          <a:noFill/>
          <a:ln w="12700">
            <a:solidFill>
              <a:srgbClr val="1F3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ISSUE / 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spc="400" kern="0" dirty="0">
                <a:solidFill>
                  <a:srgbClr val="1F3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· CUSTOMER STORY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548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p.07 / 25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11247120" cy="0"/>
          </a:xfrm>
          <a:prstGeom prst="line">
            <a:avLst/>
          </a:prstGeom>
          <a:noFill/>
          <a:ln w="5080">
            <a:solidFill>
              <a:srgbClr val="D5CD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i="1" dirty="0">
                <a:solidFill>
                  <a:srgbClr val="1F3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the</a:t>
            </a:r>
            <a:endParaRPr lang="en-US" sz="4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800" b="1" i="1" dirty="0">
                <a:solidFill>
                  <a:srgbClr val="1F3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Field.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5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3,800가구가 매일 받는 박스 안에 — 데이터와 신뢰가 함께 도착한다.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11247120" cy="0"/>
          </a:xfrm>
          <a:prstGeom prst="line">
            <a:avLst/>
          </a:prstGeom>
          <a:noFill/>
          <a:ln w="12700">
            <a:solidFill>
              <a:srgbClr val="1F3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611880"/>
            <a:ext cx="365760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CD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703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D45B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Mocha (5세 / 푸들)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40690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A5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31520" y="4297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닭 알러지 → 만성 가려움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4663440"/>
            <a:ext cx="3200400" cy="0"/>
          </a:xfrm>
          <a:prstGeom prst="line">
            <a:avLst/>
          </a:prstGeom>
          <a:noFill/>
          <a:ln w="6350">
            <a:solidFill>
              <a:srgbClr val="D5CD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7548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31520" y="498348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단일 단백질(연어) 처방 → 4주 후 가려움 87% 감소. 보호자: "수의사 검수 보고서 보고 안심."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97680" y="3611880"/>
            <a:ext cx="365760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CD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3703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D45B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Coco (3세 / 비숑)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0" y="40690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A5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0" y="4297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체중 증가·관절 부담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4663440"/>
            <a:ext cx="3200400" cy="0"/>
          </a:xfrm>
          <a:prstGeom prst="line">
            <a:avLst/>
          </a:prstGeom>
          <a:noFill/>
          <a:ln w="6350">
            <a:solidFill>
              <a:srgbClr val="D5CD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47548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0" y="498348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체중·견종 맞춤 처방 → 12주 -2.4kg. 활동량 +38%. 정기구독 1년 유지 중.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38160" y="3611880"/>
            <a:ext cx="365760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CD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0" y="3703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D45B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Boss (12세 / 시바)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412480" y="40690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A5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412480" y="4297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노령 + 신부전 진행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412480" y="4663440"/>
            <a:ext cx="3200400" cy="0"/>
          </a:xfrm>
          <a:prstGeom prst="line">
            <a:avLst/>
          </a:prstGeom>
          <a:noFill/>
          <a:ln w="6350">
            <a:solidFill>
              <a:srgbClr val="D5CD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0" y="47548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412480" y="498348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프리미엄 케어 처방 + 수의사 채팅 월 4회 → 신장 수치 개선. "한국 데이터 기반이 결정적이었다."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47120" cy="0"/>
          </a:xfrm>
          <a:prstGeom prst="line">
            <a:avLst/>
          </a:prstGeom>
          <a:noFill/>
          <a:ln w="12700">
            <a:solidFill>
              <a:srgbClr val="1F3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ISSUE / 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spc="400" kern="0" dirty="0">
                <a:solidFill>
                  <a:srgbClr val="1F3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 · MARKET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548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p.08 / 25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11247120" cy="0"/>
          </a:xfrm>
          <a:prstGeom prst="line">
            <a:avLst/>
          </a:prstGeom>
          <a:noFill/>
          <a:ln w="5080">
            <a:solidFill>
              <a:srgbClr val="D5CD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1F3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Market.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5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국내 펫 사료 2.8조 → 2030 4.8조 (CAGR +14%).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11247120" cy="0"/>
          </a:xfrm>
          <a:prstGeom prst="line">
            <a:avLst/>
          </a:prstGeom>
          <a:noFill/>
          <a:ln w="12700">
            <a:solidFill>
              <a:srgbClr val="1F3A2E"/>
            </a:solidFill>
            <a:prstDash val="solid"/>
          </a:ln>
        </p:spPr>
      </p:sp>
      <p:graphicFrame>
        <p:nvGraphicFramePr>
          <p:cNvPr id="10" name="Chart 0" descr=""/>
          <p:cNvGraphicFramePr/>
          <p:nvPr/>
        </p:nvGraphicFramePr>
        <p:xfrm>
          <a:off x="457200" y="2834640"/>
          <a:ext cx="71323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7772400" y="2926080"/>
            <a:ext cx="3931920" cy="868680"/>
          </a:xfrm>
          <a:prstGeom prst="rect">
            <a:avLst/>
          </a:prstGeom>
          <a:solidFill>
            <a:srgbClr val="1F3A2E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0" y="2971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4EF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TAM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772400" y="3218688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EF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8.4조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9144000" y="3200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EFE3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전체 펫 시장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772400" y="4023360"/>
            <a:ext cx="3566160" cy="868680"/>
          </a:xfrm>
          <a:prstGeom prst="rect">
            <a:avLst/>
          </a:prstGeom>
          <a:solidFill>
            <a:srgbClr val="5C8A3A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0" y="4069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4EF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772400" y="4315968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EF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2.8조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9144000" y="4297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EFE3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사료 부문 (Y3)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772400" y="5120640"/>
            <a:ext cx="3200400" cy="868680"/>
          </a:xfrm>
          <a:prstGeom prst="rect">
            <a:avLst/>
          </a:prstGeom>
          <a:solidFill>
            <a:srgbClr val="D45B3F"/>
          </a:solidFill>
          <a:ln/>
        </p:spPr>
      </p:sp>
      <p:sp>
        <p:nvSpPr>
          <p:cNvPr id="20" name="Text 17"/>
          <p:cNvSpPr/>
          <p:nvPr/>
        </p:nvSpPr>
        <p:spPr>
          <a:xfrm>
            <a:off x="7772400" y="5166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4EF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772400" y="5413248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EF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168억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9144000" y="53949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EFE3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Y3 도달 (6%)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47120" cy="0"/>
          </a:xfrm>
          <a:prstGeom prst="line">
            <a:avLst/>
          </a:prstGeom>
          <a:noFill/>
          <a:ln w="12700">
            <a:solidFill>
              <a:srgbClr val="1F3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ISSUE / 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spc="400" kern="0" dirty="0">
                <a:solidFill>
                  <a:srgbClr val="1F3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 · TRACTION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548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p.09 / 25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11247120" cy="0"/>
          </a:xfrm>
          <a:prstGeom prst="line">
            <a:avLst/>
          </a:prstGeom>
          <a:noFill/>
          <a:ln w="5080">
            <a:solidFill>
              <a:srgbClr val="D5CD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1F3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Traction.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D45B3F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18개월 — 200명 베타 → 3,800가구. M+22% 평균 성장.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11247120" cy="0"/>
          </a:xfrm>
          <a:prstGeom prst="line">
            <a:avLst/>
          </a:prstGeom>
          <a:noFill/>
          <a:ln w="12700">
            <a:solidFill>
              <a:srgbClr val="1F3A2E"/>
            </a:solidFill>
            <a:prstDash val="solid"/>
          </a:ln>
        </p:spPr>
      </p:sp>
      <p:graphicFrame>
        <p:nvGraphicFramePr>
          <p:cNvPr id="10" name="Chart 0" descr=""/>
          <p:cNvGraphicFramePr/>
          <p:nvPr/>
        </p:nvGraphicFramePr>
        <p:xfrm>
          <a:off x="457200" y="2834640"/>
          <a:ext cx="68580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7772400" y="2834640"/>
            <a:ext cx="3931920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D5CDB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55280" y="29260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5B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+22%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9601200" y="288036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2E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M-on-M Growth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772400" y="3703320"/>
            <a:ext cx="3931920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D5CDB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55280" y="37947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5B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94%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9601200" y="374904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2E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Repeat Rate (재구매)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772400" y="4572000"/>
            <a:ext cx="3931920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D5CDB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955280" y="46634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5B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72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9601200" y="461772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2E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NPS Score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772400" y="5440680"/>
            <a:ext cx="3931920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D5CDB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955280" y="55321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5B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1.8%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9601200" y="548640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2E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Monthly Churn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 코호트 분석: M0 베타 200명 → M+18 유지 161명 (Retention 80.5%). 후기 코호트 92% 유지.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47120" cy="0"/>
          </a:xfrm>
          <a:prstGeom prst="line">
            <a:avLst/>
          </a:prstGeom>
          <a:noFill/>
          <a:ln w="12700">
            <a:solidFill>
              <a:srgbClr val="1F3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ISSUE / 09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spc="400" kern="0" dirty="0">
                <a:solidFill>
                  <a:srgbClr val="1F3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 · COHORT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548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p.10 / 25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11247120" cy="0"/>
          </a:xfrm>
          <a:prstGeom prst="line">
            <a:avLst/>
          </a:prstGeom>
          <a:noFill/>
          <a:ln w="5080">
            <a:solidFill>
              <a:srgbClr val="D5CD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1F3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Cohort.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5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월별 코호트 — Retention M+12 평균 87%.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11247120" cy="0"/>
          </a:xfrm>
          <a:prstGeom prst="line">
            <a:avLst/>
          </a:prstGeom>
          <a:noFill/>
          <a:ln w="12700">
            <a:solidFill>
              <a:srgbClr val="1F3A2E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34640"/>
          <a:ext cx="11247120" cy="914400"/>
        </p:xfrm>
        <a:graphic>
          <a:graphicData uri="http://schemas.openxmlformats.org/drawingml/2006/table">
            <a:tbl>
              <a:tblPr/>
              <a:tblGrid>
                <a:gridCol w="1606731"/>
                <a:gridCol w="1606731"/>
                <a:gridCol w="1606731"/>
                <a:gridCol w="1606731"/>
                <a:gridCol w="1606731"/>
                <a:gridCol w="1606731"/>
                <a:gridCol w="1606731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4EFE3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코호트</a:t>
                      </a:r>
                      <a:endParaRPr lang="en-US" sz="12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4EFE3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M+0</a:t>
                      </a:r>
                      <a:endParaRPr lang="en-US" sz="12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4EFE3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M+3</a:t>
                      </a:r>
                      <a:endParaRPr lang="en-US" sz="12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4EFE3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M+6</a:t>
                      </a:r>
                      <a:endParaRPr lang="en-US" sz="12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4EFE3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M+9</a:t>
                      </a:r>
                      <a:endParaRPr lang="en-US" sz="12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4EFE3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M+12</a:t>
                      </a:r>
                      <a:endParaRPr lang="en-US" sz="12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5B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4EFE3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M+15</a:t>
                      </a:r>
                      <a:endParaRPr lang="en-US" sz="12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2024Q4 (베타)</a:t>
                      </a:r>
                      <a:endParaRPr lang="en-US" sz="12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3A2E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100%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92%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85%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81%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5B3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78%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76%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2025Q1</a:t>
                      </a:r>
                      <a:endParaRPr lang="en-US" sz="12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3A2E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100%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94%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89%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85%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5B3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82%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—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2025Q2</a:t>
                      </a:r>
                      <a:endParaRPr lang="en-US" sz="12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3A2E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100%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95%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91%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88%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—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—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2025Q3</a:t>
                      </a:r>
                      <a:endParaRPr lang="en-US" sz="12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3A2E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100%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96%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93%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—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—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—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2025Q4</a:t>
                      </a:r>
                      <a:endParaRPr lang="en-US" sz="12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3A2E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100%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97%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—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—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—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—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D45B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Y2 진입 코호트는 M+3 97% 유지 — 제품·CS 개선 효과 명확히 가시화.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47120" cy="0"/>
          </a:xfrm>
          <a:prstGeom prst="line">
            <a:avLst/>
          </a:prstGeom>
          <a:noFill/>
          <a:ln w="12700">
            <a:solidFill>
              <a:srgbClr val="1F3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ISSUE /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spc="400" kern="0" dirty="0">
                <a:solidFill>
                  <a:srgbClr val="1F3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· MODEL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548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p.11 / 25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11247120" cy="0"/>
          </a:xfrm>
          <a:prstGeom prst="line">
            <a:avLst/>
          </a:prstGeom>
          <a:noFill/>
          <a:ln w="5080">
            <a:solidFill>
              <a:srgbClr val="D5CD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1F3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BM.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5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정기구독 + 추가 진단 + B2B 동물병원 채널.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11247120" cy="0"/>
          </a:xfrm>
          <a:prstGeom prst="line">
            <a:avLst/>
          </a:prstGeom>
          <a:noFill/>
          <a:ln w="12700">
            <a:solidFill>
              <a:srgbClr val="1F3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834640"/>
            <a:ext cx="11247120" cy="731520"/>
          </a:xfrm>
          <a:prstGeom prst="rect">
            <a:avLst/>
          </a:prstGeom>
          <a:solidFill>
            <a:srgbClr val="FFFFFF"/>
          </a:solidFill>
          <a:ln w="5080">
            <a:solidFill>
              <a:srgbClr val="D5CD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9260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D45B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554480" y="2971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2E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B2C 정기구독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54480" y="3291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300" kern="0" dirty="0">
                <a:solidFill>
                  <a:srgbClr val="5A5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주력 매출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0" y="3017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5B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₩4.9 - 14.9 만/월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961120" y="3017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1F3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Y2 매출 비중 78%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11247120" cy="731520"/>
          </a:xfrm>
          <a:prstGeom prst="rect">
            <a:avLst/>
          </a:prstGeom>
          <a:solidFill>
            <a:srgbClr val="FFFFFF"/>
          </a:solidFill>
          <a:ln w="5080">
            <a:solidFill>
              <a:srgbClr val="D5CD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7947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D45B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554480" y="3840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2E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프리미엄 진단·상담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54480" y="4160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300" kern="0" dirty="0">
                <a:solidFill>
                  <a:srgbClr val="5A5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수의사 채팅·진단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0" y="3886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5B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₩2.9만/세션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961120" y="3886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1F3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Y2 매출 비중 12%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572000"/>
            <a:ext cx="11247120" cy="731520"/>
          </a:xfrm>
          <a:prstGeom prst="rect">
            <a:avLst/>
          </a:prstGeom>
          <a:solidFill>
            <a:srgbClr val="FFFFFF"/>
          </a:solidFill>
          <a:ln w="5080">
            <a:solidFill>
              <a:srgbClr val="D5CD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6634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D45B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554480" y="4709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2E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B2B 동물병원 추천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554480" y="5029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300" kern="0" dirty="0">
                <a:solidFill>
                  <a:srgbClr val="5A5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병원 28곳 협력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0" y="4754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5B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리퍼럴 8% 셰어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961120" y="4754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1F3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Y2 매출 비중 8%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5440680"/>
            <a:ext cx="11247120" cy="731520"/>
          </a:xfrm>
          <a:prstGeom prst="rect">
            <a:avLst/>
          </a:prstGeom>
          <a:solidFill>
            <a:srgbClr val="FFFFFF"/>
          </a:solidFill>
          <a:ln w="5080">
            <a:solidFill>
              <a:srgbClr val="D5CD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55321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D45B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554480" y="5577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2E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Affiliate 펫숍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554480" y="5897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300" kern="0" dirty="0">
                <a:solidFill>
                  <a:srgbClr val="5A5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12개 신규 채널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0" y="5623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5B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마진 14%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961120" y="5623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1F3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Y2 매출 비중 2%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solidFill>
            <a:srgbClr val="1F3A2E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4EFE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정기구독 + 부가 매출 = LTV 지속 확장 모델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47120" cy="0"/>
          </a:xfrm>
          <a:prstGeom prst="line">
            <a:avLst/>
          </a:prstGeom>
          <a:noFill/>
          <a:ln w="12700">
            <a:solidFill>
              <a:srgbClr val="1F3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ISSUE / 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spc="400" kern="0" dirty="0">
                <a:solidFill>
                  <a:srgbClr val="1F3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· UNIT ECON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548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p.12 / 25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11247120" cy="0"/>
          </a:xfrm>
          <a:prstGeom prst="line">
            <a:avLst/>
          </a:prstGeom>
          <a:noFill/>
          <a:ln w="5080">
            <a:solidFill>
              <a:srgbClr val="D5CD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1F3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Economics.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11247120" cy="0"/>
          </a:xfrm>
          <a:prstGeom prst="line">
            <a:avLst/>
          </a:prstGeom>
          <a:noFill/>
          <a:ln w="12700">
            <a:solidFill>
              <a:srgbClr val="1F3A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560320"/>
            <a:ext cx="53949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CD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697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1F3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LTV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F3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₩540K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731520" y="38404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정기구독 36개월 평균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560320"/>
            <a:ext cx="53949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CD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697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29260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D45B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₩9.7K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6492240" y="38404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GTM 5채널 평균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343400"/>
            <a:ext cx="53949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CD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480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1F3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LTV / CAC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7091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F3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55.7x</a:t>
            </a:r>
            <a:endParaRPr lang="en-US" sz="5600" dirty="0"/>
          </a:p>
        </p:txBody>
      </p:sp>
      <p:sp>
        <p:nvSpPr>
          <p:cNvPr id="20" name="Text 18"/>
          <p:cNvSpPr/>
          <p:nvPr/>
        </p:nvSpPr>
        <p:spPr>
          <a:xfrm>
            <a:off x="731520" y="56235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업계 평균 5x 대비 11배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4343400"/>
            <a:ext cx="53949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CD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4480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PAYBACK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92240" y="47091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D45B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1.8개월</a:t>
            </a:r>
            <a:endParaRPr lang="en-US" sz="5600" dirty="0"/>
          </a:p>
        </p:txBody>
      </p:sp>
      <p:sp>
        <p:nvSpPr>
          <p:cNvPr id="24" name="Text 22"/>
          <p:cNvSpPr/>
          <p:nvPr/>
        </p:nvSpPr>
        <p:spPr>
          <a:xfrm>
            <a:off x="6492240" y="56235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1개월 ARPU 대비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6126480"/>
            <a:ext cx="11247120" cy="0"/>
          </a:xfrm>
          <a:prstGeom prst="line">
            <a:avLst/>
          </a:prstGeom>
          <a:noFill/>
          <a:ln w="6350">
            <a:solidFill>
              <a:srgbClr val="1F3A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D45B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"매월 1.8개월 만에 회수, LTV는 55.7배."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47120" cy="0"/>
          </a:xfrm>
          <a:prstGeom prst="line">
            <a:avLst/>
          </a:prstGeom>
          <a:noFill/>
          <a:ln w="12700">
            <a:solidFill>
              <a:srgbClr val="1F3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ISSUE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spc="400" kern="0" dirty="0">
                <a:solidFill>
                  <a:srgbClr val="1F3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· P&amp;L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548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p.13 / 25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11247120" cy="0"/>
          </a:xfrm>
          <a:prstGeom prst="line">
            <a:avLst/>
          </a:prstGeom>
          <a:noFill/>
          <a:ln w="5080">
            <a:solidFill>
              <a:srgbClr val="D5CD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1F3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P&amp;L.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5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Y3 영업이익 ₩9.2B (16.4%) — Series B 자생력 확보.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11247120" cy="0"/>
          </a:xfrm>
          <a:prstGeom prst="line">
            <a:avLst/>
          </a:prstGeom>
          <a:noFill/>
          <a:ln w="12700">
            <a:solidFill>
              <a:srgbClr val="1F3A2E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34640"/>
          <a:ext cx="1124712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4EFE3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(₩B)</a:t>
                      </a:r>
                      <a:endParaRPr lang="en-US" sz="12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4EFE3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Y1</a:t>
                      </a:r>
                      <a:endParaRPr lang="en-US" sz="12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4EFE3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Y2 (현재)</a:t>
                      </a:r>
                      <a:endParaRPr lang="en-US" sz="12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5B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4EFE3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Y3</a:t>
                      </a:r>
                      <a:endParaRPr lang="en-US" sz="12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4EFE3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Y4</a:t>
                      </a:r>
                      <a:endParaRPr lang="en-US" sz="12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4EFE3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Y5</a:t>
                      </a:r>
                      <a:endParaRPr lang="en-US" sz="12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매출</a:t>
                      </a:r>
                      <a:endParaRPr lang="en-US" sz="12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4.8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5B3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18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56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120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240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원가 (44%)</a:t>
                      </a:r>
                      <a:endParaRPr lang="en-US" sz="12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2.1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45B3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7.9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24.6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53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106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GP (56%)</a:t>
                      </a:r>
                      <a:endParaRPr lang="en-US" sz="12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2.7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5B3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10.1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31.4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67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134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마케팅</a:t>
                      </a:r>
                      <a:endParaRPr lang="en-US" sz="12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1.2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45B3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3.6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7.6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14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22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인건비·운영</a:t>
                      </a:r>
                      <a:endParaRPr lang="en-US" sz="12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3.0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45B3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5.8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14.6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26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42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5B3F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OP</a:t>
                      </a:r>
                      <a:endParaRPr lang="en-US" sz="12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45B3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-1.5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5B3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+0.7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5B3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+9.2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5B3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+27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5B3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+70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OP 마진</a:t>
                      </a:r>
                      <a:endParaRPr lang="en-US" sz="12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—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3.9%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5B3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16.4%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5B3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22.5%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5B3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29.2%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47120" cy="0"/>
          </a:xfrm>
          <a:prstGeom prst="line">
            <a:avLst/>
          </a:prstGeom>
          <a:noFill/>
          <a:ln w="12700">
            <a:solidFill>
              <a:srgbClr val="1F3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ISSUE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spc="400" kern="0" dirty="0">
                <a:solidFill>
                  <a:srgbClr val="1F3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· COMPETITION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548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p.14 / 25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11247120" cy="0"/>
          </a:xfrm>
          <a:prstGeom prst="line">
            <a:avLst/>
          </a:prstGeom>
          <a:noFill/>
          <a:ln w="5080">
            <a:solidFill>
              <a:srgbClr val="D5CD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1F3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Competition.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11247120" cy="0"/>
          </a:xfrm>
          <a:prstGeom prst="line">
            <a:avLst/>
          </a:prstGeom>
          <a:noFill/>
          <a:ln w="12700">
            <a:solidFill>
              <a:srgbClr val="1F3A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80760" y="2743200"/>
            <a:ext cx="0" cy="3657600"/>
          </a:xfrm>
          <a:prstGeom prst="line">
            <a:avLst/>
          </a:prstGeom>
          <a:noFill/>
          <a:ln w="12700">
            <a:solidFill>
              <a:srgbClr val="1F3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4572000"/>
            <a:ext cx="11247120" cy="0"/>
          </a:xfrm>
          <a:prstGeom prst="line">
            <a:avLst/>
          </a:prstGeom>
          <a:noFill/>
          <a:ln w="12700">
            <a:solidFill>
              <a:srgbClr val="1F3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68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← 한국 데이터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17920" y="2468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글로벌 데이터 →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743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프리미엄 ↑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1264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저가 ↓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97280" y="2834640"/>
            <a:ext cx="548640" cy="548640"/>
          </a:xfrm>
          <a:prstGeom prst="ellipse">
            <a:avLst/>
          </a:prstGeom>
          <a:solidFill>
            <a:srgbClr val="D45B3F"/>
          </a:solidFill>
          <a:ln w="12700">
            <a:solidFill>
              <a:srgbClr val="D45B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429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5B3F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Greenpet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635240" y="3154680"/>
            <a:ext cx="274320" cy="274320"/>
          </a:xfrm>
          <a:prstGeom prst="ellipse">
            <a:avLst/>
          </a:prstGeom>
          <a:solidFill>
            <a:srgbClr val="5A5A5A"/>
          </a:solidFill>
          <a:ln w="12700">
            <a:solidFill>
              <a:srgbClr val="5A5A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3474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Royal Canin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92440" y="3520440"/>
            <a:ext cx="274320" cy="274320"/>
          </a:xfrm>
          <a:prstGeom prst="ellipse">
            <a:avLst/>
          </a:prstGeom>
          <a:solidFill>
            <a:srgbClr val="5A5A5A"/>
          </a:solidFill>
          <a:ln w="12700">
            <a:solidFill>
              <a:srgbClr val="5A5A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3840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Hill's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60920" y="4892040"/>
            <a:ext cx="274320" cy="274320"/>
          </a:xfrm>
          <a:prstGeom prst="ellipse">
            <a:avLst/>
          </a:prstGeom>
          <a:solidFill>
            <a:srgbClr val="5A5A5A"/>
          </a:solidFill>
          <a:ln w="12700">
            <a:solidFill>
              <a:srgbClr val="5A5A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5212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Pedigree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977640" y="4983480"/>
            <a:ext cx="274320" cy="274320"/>
          </a:xfrm>
          <a:prstGeom prst="ellipse">
            <a:avLst/>
          </a:prstGeom>
          <a:solidFill>
            <a:srgbClr val="5A5A5A"/>
          </a:solidFill>
          <a:ln w="12700">
            <a:solidFill>
              <a:srgbClr val="5A5A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5303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ANF (한국)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88920" y="5257800"/>
            <a:ext cx="274320" cy="274320"/>
          </a:xfrm>
          <a:prstGeom prst="ellipse">
            <a:avLst/>
          </a:prstGeom>
          <a:solidFill>
            <a:srgbClr val="5A5A5A"/>
          </a:solidFill>
          <a:ln w="12700">
            <a:solidFill>
              <a:srgbClr val="5A5A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11680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Natural Core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D45B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우리는 한국 데이터 + 프리미엄 = 점유 0% 카테고리를 만든다.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47120" cy="0"/>
          </a:xfrm>
          <a:prstGeom prst="line">
            <a:avLst/>
          </a:prstGeom>
          <a:noFill/>
          <a:ln w="12700">
            <a:solidFill>
              <a:srgbClr val="1F3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ISSUE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spc="400" kern="0" dirty="0">
                <a:solidFill>
                  <a:srgbClr val="1F3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· GO-TO-MARKET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548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p.15 / 25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11247120" cy="0"/>
          </a:xfrm>
          <a:prstGeom prst="line">
            <a:avLst/>
          </a:prstGeom>
          <a:noFill/>
          <a:ln w="5080">
            <a:solidFill>
              <a:srgbClr val="D5CD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1F3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Go-to-Market.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11247120" cy="0"/>
          </a:xfrm>
          <a:prstGeom prst="line">
            <a:avLst/>
          </a:prstGeom>
          <a:noFill/>
          <a:ln w="12700">
            <a:solidFill>
              <a:srgbClr val="1F3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6060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D45B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371600" y="2606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2E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유튜브 8.2만 (자체)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2971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400" kern="0" dirty="0">
                <a:solidFill>
                  <a:srgbClr val="5A5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오가닉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040880" y="2697480"/>
            <a:ext cx="4663440" cy="457200"/>
          </a:xfrm>
          <a:prstGeom prst="rect">
            <a:avLst/>
          </a:prstGeom>
          <a:solidFill>
            <a:srgbClr val="F4EFE3"/>
          </a:solidFill>
          <a:ln w="5080">
            <a:solidFill>
              <a:srgbClr val="D45B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26974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월 320명 / CAC ₩6.2K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11247120" cy="0"/>
          </a:xfrm>
          <a:prstGeom prst="line">
            <a:avLst/>
          </a:prstGeom>
          <a:noFill/>
          <a:ln w="3810">
            <a:solidFill>
              <a:srgbClr val="D5CD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319272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D45B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371600" y="331927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2E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동물병원 28곳 협력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3685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400" kern="0" dirty="0">
                <a:solidFill>
                  <a:srgbClr val="5A5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B2B2C 추천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040880" y="3410712"/>
            <a:ext cx="4663440" cy="457200"/>
          </a:xfrm>
          <a:prstGeom prst="rect">
            <a:avLst/>
          </a:prstGeom>
          <a:solidFill>
            <a:srgbClr val="F4EFE3"/>
          </a:solidFill>
          <a:ln w="5080">
            <a:solidFill>
              <a:srgbClr val="D45B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341071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월 240명 / CAC ₩4.8K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913632"/>
            <a:ext cx="11247120" cy="0"/>
          </a:xfrm>
          <a:prstGeom prst="line">
            <a:avLst/>
          </a:prstGeom>
          <a:noFill/>
          <a:ln w="3810">
            <a:solidFill>
              <a:srgbClr val="D5CD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032504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D45B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371600" y="4032504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2E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펫 인플루언서 12명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71600" y="43982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400" kern="0" dirty="0">
                <a:solidFill>
                  <a:srgbClr val="5A5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협찬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040880" y="4123944"/>
            <a:ext cx="4663440" cy="457200"/>
          </a:xfrm>
          <a:prstGeom prst="rect">
            <a:avLst/>
          </a:prstGeom>
          <a:solidFill>
            <a:srgbClr val="F4EFE3"/>
          </a:solidFill>
          <a:ln w="5080">
            <a:solidFill>
              <a:srgbClr val="D45B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4123944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월 280명 / CAC ₩9.6K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4626864"/>
            <a:ext cx="11247120" cy="0"/>
          </a:xfrm>
          <a:prstGeom prst="line">
            <a:avLst/>
          </a:prstGeom>
          <a:noFill/>
          <a:ln w="3810">
            <a:solidFill>
              <a:srgbClr val="D5CD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745736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D45B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1371600" y="474573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2E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검색 광고 (네이버·구글)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371600" y="511149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400" kern="0" dirty="0">
                <a:solidFill>
                  <a:srgbClr val="5A5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퍼포먼스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040880" y="4837176"/>
            <a:ext cx="4663440" cy="457200"/>
          </a:xfrm>
          <a:prstGeom prst="rect">
            <a:avLst/>
          </a:prstGeom>
          <a:solidFill>
            <a:srgbClr val="F4EFE3"/>
          </a:solidFill>
          <a:ln w="5080">
            <a:solidFill>
              <a:srgbClr val="D45B3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0" y="4837176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월 180명 / CAC ₩14K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7200" y="5340096"/>
            <a:ext cx="11247120" cy="0"/>
          </a:xfrm>
          <a:prstGeom prst="line">
            <a:avLst/>
          </a:prstGeom>
          <a:noFill/>
          <a:ln w="3810">
            <a:solidFill>
              <a:srgbClr val="D5CD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5458968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D45B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1371600" y="545896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2E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추천·리뷰 (NPS)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371600" y="58247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400" kern="0" dirty="0">
                <a:solidFill>
                  <a:srgbClr val="5A5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오가닉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040880" y="5550408"/>
            <a:ext cx="4663440" cy="457200"/>
          </a:xfrm>
          <a:prstGeom prst="rect">
            <a:avLst/>
          </a:prstGeom>
          <a:solidFill>
            <a:srgbClr val="F4EFE3"/>
          </a:solidFill>
          <a:ln w="5080">
            <a:solidFill>
              <a:srgbClr val="D45B3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40880" y="555040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월 140명 / CAC ₩2.4K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57200" y="6053328"/>
            <a:ext cx="11247120" cy="0"/>
          </a:xfrm>
          <a:prstGeom prst="line">
            <a:avLst/>
          </a:prstGeom>
          <a:noFill/>
          <a:ln w="3810">
            <a:solidFill>
              <a:srgbClr val="D5CDB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D45B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종합 CAC ₩7.4K · LTV ₩540K · LTV/CAC 73x · 페이백 1.5개월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47120" cy="0"/>
          </a:xfrm>
          <a:prstGeom prst="line">
            <a:avLst/>
          </a:prstGeom>
          <a:noFill/>
          <a:ln w="12700">
            <a:solidFill>
              <a:srgbClr val="1F3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ISSUE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spc="400" kern="0" dirty="0">
                <a:solidFill>
                  <a:srgbClr val="1F3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VISION · ROADMAP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548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p.16 / 25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11247120" cy="0"/>
          </a:xfrm>
          <a:prstGeom prst="line">
            <a:avLst/>
          </a:prstGeom>
          <a:noFill/>
          <a:ln w="5080">
            <a:solidFill>
              <a:srgbClr val="D5CD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1F3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Roadmap.</a:t>
            </a:r>
            <a:endParaRPr lang="en-US" sz="56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11247120" cy="0"/>
          </a:xfrm>
          <a:prstGeom prst="line">
            <a:avLst/>
          </a:prstGeom>
          <a:noFill/>
          <a:ln w="12700">
            <a:solidFill>
              <a:srgbClr val="1F3A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560320"/>
            <a:ext cx="1645920" cy="822960"/>
          </a:xfrm>
          <a:prstGeom prst="rect">
            <a:avLst/>
          </a:prstGeom>
          <a:solidFill>
            <a:srgbClr val="D45B3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5603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4EF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M+1~6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9718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4EFE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86000" y="278892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프리미엄 케어 출시 / 6,500가구 / MRR ₩320M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1645920" cy="822960"/>
          </a:xfrm>
          <a:prstGeom prst="rect">
            <a:avLst/>
          </a:prstGeom>
          <a:solidFill>
            <a:srgbClr val="1F3A2E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5204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4EF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M+7~12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9319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4EFE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86000" y="374904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동물병원 50곳 / 월 처방 진단 1.2K / MRR ₩640M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4480560"/>
            <a:ext cx="1645920" cy="822960"/>
          </a:xfrm>
          <a:prstGeom prst="rect">
            <a:avLst/>
          </a:prstGeom>
          <a:solidFill>
            <a:srgbClr val="1F3A2E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4805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4EF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M+13~18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8920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4EFE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86000" y="470916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일본·대만 진출 검토 / 12,000가구 / MRR ₩1.2B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5440680"/>
            <a:ext cx="1645920" cy="822960"/>
          </a:xfrm>
          <a:prstGeom prst="rect">
            <a:avLst/>
          </a:prstGeom>
          <a:solidFill>
            <a:srgbClr val="1F3A2E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54406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4EF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M+19~24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58521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4EFE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Series B 준비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286000" y="566928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Series B ₩12B / 25,000가구 / MRR ₩2.0B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47120" cy="0"/>
          </a:xfrm>
          <a:prstGeom prst="line">
            <a:avLst/>
          </a:prstGeom>
          <a:noFill/>
          <a:ln w="12700">
            <a:solidFill>
              <a:srgbClr val="1F3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ISSUE / 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spc="400" kern="0" dirty="0">
                <a:solidFill>
                  <a:srgbClr val="1F3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VISION · TEAM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548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p.17 / 25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11247120" cy="0"/>
          </a:xfrm>
          <a:prstGeom prst="line">
            <a:avLst/>
          </a:prstGeom>
          <a:noFill/>
          <a:ln w="5080">
            <a:solidFill>
              <a:srgbClr val="D5CD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1F3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Team.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5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수의사 + 마케터 + 식품공학 + 운영 = 14명 풀스택.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11247120" cy="0"/>
          </a:xfrm>
          <a:prstGeom prst="line">
            <a:avLst/>
          </a:prstGeom>
          <a:noFill/>
          <a:ln w="12700">
            <a:solidFill>
              <a:srgbClr val="1F3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834640"/>
            <a:ext cx="21945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5CD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3017520"/>
            <a:ext cx="731520" cy="0"/>
          </a:xfrm>
          <a:prstGeom prst="line">
            <a:avLst/>
          </a:prstGeom>
          <a:noFill/>
          <a:ln w="12700">
            <a:solidFill>
              <a:srgbClr val="D45B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108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CEO / Vet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3383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1F3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Han Soo-yeon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0080" y="4069080"/>
            <a:ext cx="1828800" cy="0"/>
          </a:xfrm>
          <a:prstGeom prst="line">
            <a:avLst/>
          </a:prstGeom>
          <a:noFill/>
          <a:ln w="5080">
            <a:solidFill>
              <a:srgbClr val="D5CD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2062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수의사 5년 / MBA / 임상영양 인증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0" y="2834640"/>
            <a:ext cx="21945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5CDB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26080" y="3017520"/>
            <a:ext cx="731520" cy="0"/>
          </a:xfrm>
          <a:prstGeom prst="line">
            <a:avLst/>
          </a:prstGeom>
          <a:noFill/>
          <a:ln w="12700">
            <a:solidFill>
              <a:srgbClr val="D45B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0" y="3108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CMO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926080" y="3383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1F3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Park Min-jae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926080" y="4069080"/>
            <a:ext cx="1828800" cy="0"/>
          </a:xfrm>
          <a:prstGeom prst="line">
            <a:avLst/>
          </a:prstGeom>
          <a:noFill/>
          <a:ln w="5080">
            <a:solidFill>
              <a:srgbClr val="D5CD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0" y="42062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오뚜기·CJ 6년 / D2C 전담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0" y="2834640"/>
            <a:ext cx="21945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5CDB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12080" y="3017520"/>
            <a:ext cx="731520" cy="0"/>
          </a:xfrm>
          <a:prstGeom prst="line">
            <a:avLst/>
          </a:prstGeom>
          <a:noFill/>
          <a:ln w="12700">
            <a:solidFill>
              <a:srgbClr val="D45B3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3108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 of R&amp;D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212080" y="3383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1F3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Kim Yu-ri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212080" y="4069080"/>
            <a:ext cx="1828800" cy="0"/>
          </a:xfrm>
          <a:prstGeom prst="line">
            <a:avLst/>
          </a:prstGeom>
          <a:noFill/>
          <a:ln w="5080">
            <a:solidFill>
              <a:srgbClr val="D5CD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42062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빙그레 R&amp;D 4년 / 식품공학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0" y="2834640"/>
            <a:ext cx="21945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5CDB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98080" y="3017520"/>
            <a:ext cx="731520" cy="0"/>
          </a:xfrm>
          <a:prstGeom prst="line">
            <a:avLst/>
          </a:prstGeom>
          <a:noFill/>
          <a:ln w="12700">
            <a:solidFill>
              <a:srgbClr val="D45B3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0" y="3108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 of Ops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498080" y="3383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1F3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Lee Jae-hoon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7498080" y="4069080"/>
            <a:ext cx="1828800" cy="0"/>
          </a:xfrm>
          <a:prstGeom prst="line">
            <a:avLst/>
          </a:prstGeom>
          <a:noFill/>
          <a:ln w="5080">
            <a:solidFill>
              <a:srgbClr val="D5CD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0" y="42062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쿠팡 풀필먼트 3년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601200" y="2834640"/>
            <a:ext cx="21945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5CDB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84080" y="3017520"/>
            <a:ext cx="731520" cy="0"/>
          </a:xfrm>
          <a:prstGeom prst="line">
            <a:avLst/>
          </a:prstGeom>
          <a:noFill/>
          <a:ln w="12700">
            <a:solidFill>
              <a:srgbClr val="D45B3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784080" y="3108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Vet Lead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784080" y="3383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1F3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Choi Hyun-woo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9784080" y="4069080"/>
            <a:ext cx="1828800" cy="0"/>
          </a:xfrm>
          <a:prstGeom prst="line">
            <a:avLst/>
          </a:prstGeom>
          <a:noFill/>
          <a:ln w="5080">
            <a:solidFill>
              <a:srgbClr val="D5CDB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784080" y="42062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삼성 동물병원 8년 / 자문 28명 운영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47120" cy="0"/>
          </a:xfrm>
          <a:prstGeom prst="line">
            <a:avLst/>
          </a:prstGeom>
          <a:noFill/>
          <a:ln w="12700">
            <a:solidFill>
              <a:srgbClr val="1F3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ISSUE / 17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spc="400" kern="0" dirty="0">
                <a:solidFill>
                  <a:srgbClr val="1F3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VISION · USE OF FUNDS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548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p.18 / 25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11247120" cy="0"/>
          </a:xfrm>
          <a:prstGeom prst="line">
            <a:avLst/>
          </a:prstGeom>
          <a:noFill/>
          <a:ln w="5080">
            <a:solidFill>
              <a:srgbClr val="D5CD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1F3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of Funds.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11247120" cy="0"/>
          </a:xfrm>
          <a:prstGeom prst="line">
            <a:avLst/>
          </a:prstGeom>
          <a:noFill/>
          <a:ln w="12700">
            <a:solidFill>
              <a:srgbClr val="1F3A2E"/>
            </a:solidFill>
            <a:prstDash val="solid"/>
          </a:ln>
        </p:spPr>
      </p:sp>
      <p:graphicFrame>
        <p:nvGraphicFramePr>
          <p:cNvPr id="9" name="Chart 0" descr=""/>
          <p:cNvGraphicFramePr/>
          <p:nvPr/>
        </p:nvGraphicFramePr>
        <p:xfrm>
          <a:off x="457200" y="2560320"/>
          <a:ext cx="50292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5760720" y="2651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5B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₩1,520M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589520" y="26517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2E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채널 확장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589520" y="294436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동물병원 50곳 + 인플루언서 30명 + 일본 진출 R&amp;D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760720" y="35661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5B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₩1,120M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589520" y="35661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2E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R&amp;D·임상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589520" y="385876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신규 처방 12종 + 임상 400마리 + 인증 4건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760720" y="44805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5B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₩880M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7589520" y="44805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2E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인건비·채용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589520" y="477316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수의사 4 / 식품공학 2 / 마케팅 3 신규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760720" y="5394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5B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₩480M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7589520" y="5394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2E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운영·물류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589520" y="568756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콜드체인 확장 + 물류 자동화 + 보험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47120" cy="0"/>
          </a:xfrm>
          <a:prstGeom prst="line">
            <a:avLst/>
          </a:prstGeom>
          <a:noFill/>
          <a:ln w="12700">
            <a:solidFill>
              <a:srgbClr val="D45B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7B8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VISION ·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058400" y="640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4EFE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p.19 / 25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1247120" cy="0"/>
          </a:xfrm>
          <a:prstGeom prst="line">
            <a:avLst/>
          </a:prstGeom>
          <a:noFill/>
          <a:ln w="5080">
            <a:solidFill>
              <a:srgbClr val="D5CD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D45B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₩4,000M</a:t>
            </a:r>
            <a:endParaRPr lang="en-US" sz="130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F4EFE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Series A.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11247120" cy="0"/>
          </a:xfrm>
          <a:prstGeom prst="line">
            <a:avLst/>
          </a:prstGeom>
          <a:noFill/>
          <a:ln w="6350">
            <a:solidFill>
              <a:srgbClr val="D45B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931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7B8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206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3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₩28B post-money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3931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7B8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91840" y="4206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3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Lead 모집 (₩2.0B+)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26480" y="3931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7B8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RUNWAY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26480" y="4206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3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24 개월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961120" y="3931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7B8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961120" y="4206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3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2026.10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5029200"/>
            <a:ext cx="11247120" cy="0"/>
          </a:xfrm>
          <a:prstGeom prst="line">
            <a:avLst/>
          </a:prstGeom>
          <a:noFill/>
          <a:ln w="5080">
            <a:solidFill>
              <a:srgbClr val="D5CD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5212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PRIORITIES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5486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4EFE3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01. 동물병원 28 → 50곳 (Y3) / B2B2C 추천 채널 강화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4EFE3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02. 신규 처방 12종 + 임상 400마리 (1.5x 데이터)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4EFE3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03. 일본·대만 진출 R&amp;D (Y4 본격 진입)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47120" cy="0"/>
          </a:xfrm>
          <a:prstGeom prst="line">
            <a:avLst/>
          </a:prstGeom>
          <a:noFill/>
          <a:ln w="12700">
            <a:solidFill>
              <a:srgbClr val="1F3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ISSUE / 18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spc="400" kern="0" dirty="0">
                <a:solidFill>
                  <a:srgbClr val="1F3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APPENDIX · PRESS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548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p.20 / 25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11247120" cy="0"/>
          </a:xfrm>
          <a:prstGeom prst="line">
            <a:avLst/>
          </a:prstGeom>
          <a:noFill/>
          <a:ln w="5080">
            <a:solidFill>
              <a:srgbClr val="D5CD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1F3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the Press.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11247120" cy="0"/>
          </a:xfrm>
          <a:prstGeom prst="line">
            <a:avLst/>
          </a:prstGeom>
          <a:noFill/>
          <a:ln w="12700">
            <a:solidFill>
              <a:srgbClr val="1F3A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560320"/>
            <a:ext cx="5394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5CD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74320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1F3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"한국 펫 사료 카테고리에 데이터를 들고 등장한 D2C — 첫 해 200명에서 3,800가구로."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977640"/>
            <a:ext cx="914400" cy="0"/>
          </a:xfrm>
          <a:prstGeom prst="line">
            <a:avLst/>
          </a:prstGeom>
          <a:noFill/>
          <a:ln w="6350">
            <a:solidFill>
              <a:srgbClr val="D45B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02336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한겨레 (2025.11)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2560320"/>
            <a:ext cx="5394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5CD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74320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1F3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"수의사 검수와 한국 임상 데이터를 결합한 첫 사례. 업계는 이를 '카테고리 정의'라 부른다."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92240" y="3977640"/>
            <a:ext cx="914400" cy="0"/>
          </a:xfrm>
          <a:prstGeom prst="line">
            <a:avLst/>
          </a:prstGeom>
          <a:noFill/>
          <a:ln w="6350">
            <a:solidFill>
              <a:srgbClr val="D45B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402336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조선일보 (2025.09)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480560"/>
            <a:ext cx="5394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5CD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66344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1F3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"Greenpet은 사료가 아니라 신뢰를 판매한다. 그래서 재구매율 94%가 나온다."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5897880"/>
            <a:ext cx="914400" cy="0"/>
          </a:xfrm>
          <a:prstGeom prst="line">
            <a:avLst/>
          </a:prstGeom>
          <a:noFill/>
          <a:ln w="6350">
            <a:solidFill>
              <a:srgbClr val="D45B3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94360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팁스 매거진 (2025.07)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4480560"/>
            <a:ext cx="5394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5CD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466344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1F3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"한국 펫의 알러지·영양 데이터가 처음 체계화되는 순간."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92240" y="5897880"/>
            <a:ext cx="914400" cy="0"/>
          </a:xfrm>
          <a:prstGeom prst="line">
            <a:avLst/>
          </a:prstGeom>
          <a:noFill/>
          <a:ln w="6350">
            <a:solidFill>
              <a:srgbClr val="D45B3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594360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 Technology Review Korea (2025.05)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47120" cy="0"/>
          </a:xfrm>
          <a:prstGeom prst="line">
            <a:avLst/>
          </a:prstGeom>
          <a:noFill/>
          <a:ln w="12700">
            <a:solidFill>
              <a:srgbClr val="1F3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ISSUE / 19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spc="400" kern="0" dirty="0">
                <a:solidFill>
                  <a:srgbClr val="1F3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APPENDIX · RISK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548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p.21 / 25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11247120" cy="0"/>
          </a:xfrm>
          <a:prstGeom prst="line">
            <a:avLst/>
          </a:prstGeom>
          <a:noFill/>
          <a:ln w="5080">
            <a:solidFill>
              <a:srgbClr val="D5CD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1F3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Matrix.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11247120" cy="0"/>
          </a:xfrm>
          <a:prstGeom prst="line">
            <a:avLst/>
          </a:prstGeom>
          <a:noFill/>
          <a:ln w="12700">
            <a:solidFill>
              <a:srgbClr val="1F3A2E"/>
            </a:solidFill>
            <a:prstDash val="solid"/>
          </a:ln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06040"/>
          <a:ext cx="11247120" cy="914400"/>
        </p:xfrm>
        <a:graphic>
          <a:graphicData uri="http://schemas.openxmlformats.org/drawingml/2006/table">
            <a:tbl>
              <a:tblPr/>
              <a:tblGrid>
                <a:gridCol w="2811780"/>
                <a:gridCol w="2811780"/>
                <a:gridCol w="2811780"/>
                <a:gridCol w="28117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4EFE3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리스크</a:t>
                      </a:r>
                      <a:endParaRPr lang="en-US" sz="11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4EFE3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확률</a:t>
                      </a:r>
                      <a:endParaRPr lang="en-US" sz="11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4EFE3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영향</a:t>
                      </a:r>
                      <a:endParaRPr lang="en-US" sz="11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4EFE3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대응</a:t>
                      </a:r>
                      <a:endParaRPr lang="en-US" sz="11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원료 수급</a:t>
                      </a:r>
                      <a:endParaRPr lang="en-US" sz="11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19A4B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M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19A4B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M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단일 원료 의존도 30% 이하 / 농가 12곳 분산</a:t>
                      </a:r>
                      <a:endParaRPr lang="en-US" sz="11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콜드체인 차질</a:t>
                      </a:r>
                      <a:endParaRPr lang="en-US" sz="11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C8A3A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L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45B3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H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물류사 4곳 백업 + 보험</a:t>
                      </a:r>
                      <a:endParaRPr lang="en-US" sz="11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글로벌 진입 (필립스 펫푸드 등)</a:t>
                      </a:r>
                      <a:endParaRPr lang="en-US" sz="11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19A4B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M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19A4B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M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한국 데이터로 차별화 / 수의사 검수 카테고리 독점</a:t>
                      </a:r>
                      <a:endParaRPr lang="en-US" sz="11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원가 상승 (인플레이션)</a:t>
                      </a:r>
                      <a:endParaRPr lang="en-US" sz="11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19A4B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M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19A4B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M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장기 계약 + 분기 가격 조정 + 효율화</a:t>
                      </a:r>
                      <a:endParaRPr lang="en-US" sz="11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수의사 자문 이탈</a:t>
                      </a:r>
                      <a:endParaRPr lang="en-US" sz="11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C8A3A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L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45B3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H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RSU + 분기 IR + 연 1회 학회 후원</a:t>
                      </a:r>
                      <a:endParaRPr lang="en-US" sz="11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식품 안전 사고</a:t>
                      </a:r>
                      <a:endParaRPr lang="en-US" sz="11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C8A3A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L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45B3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H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HACCP·ISO 22000 + 전수 추적 + 보험</a:t>
                      </a:r>
                      <a:endParaRPr lang="en-US" sz="11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CD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H/M/L = High/Medium/Low. 모든 시나리오 12개월 내 대응 플랜 보유.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47120" cy="0"/>
          </a:xfrm>
          <a:prstGeom prst="line">
            <a:avLst/>
          </a:prstGeom>
          <a:noFill/>
          <a:ln w="12700">
            <a:solidFill>
              <a:srgbClr val="1F3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ISSUE / 20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spc="400" kern="0" dirty="0">
                <a:solidFill>
                  <a:srgbClr val="1F3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APPENDIX · Q&amp;A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548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p.22 / 25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11247120" cy="0"/>
          </a:xfrm>
          <a:prstGeom prst="line">
            <a:avLst/>
          </a:prstGeom>
          <a:noFill/>
          <a:ln w="5080">
            <a:solidFill>
              <a:srgbClr val="D5CD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1F3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Q&amp;A.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D45B3F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VC Top 5.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11247120" cy="0"/>
          </a:xfrm>
          <a:prstGeom prst="line">
            <a:avLst/>
          </a:prstGeom>
          <a:noFill/>
          <a:ln w="12700">
            <a:solidFill>
              <a:srgbClr val="1F3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8346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D45B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71600" y="283464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2E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원료 수급 차질 시 어떻게 대응?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3127248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농가 12곳 분산 + 단일 원료 30% 이하 + 백업 OEM 2곳. 2025.07 닭고기 가격 +18% 시 단가 영향 1.2%로 흡수.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547872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D45B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71600" y="3547872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2E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필립스·로얄캐닌이 한국 시장에 본격 진입하면?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71600" y="384048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글로벌 브랜드는 한국 데이터·수의사 검수 카테고리 진입 어려움. 베타 200명·임상 8.4만 = 진입장벽.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261104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D45B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71600" y="4261104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2E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Y3 매출 56억은 보수적 아닌가?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71600" y="4553712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Y2 18억 × 3.1배 = 56억. 동물병원 50곳 + 펫숍 20곳 + 신규 12처방 반영. 보수적 시나리오.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974336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D45B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371600" y="4974336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2E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Series A 4B로 24개월 운영 가능?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71600" y="5266944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현재 MRR ₩192M / 마진 56% → 자체 OP +0.7B. Series A는 동물병원·R&amp;D·일본 진출 가속용.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5687568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D45B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71600" y="5687568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2E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일본·대만 진출 일정은?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71600" y="5980176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Y3 Q4 일본 시장 조사 + 파일럿 / Y4 정식 진입. 한국 데이터 검증 + 일본 유사 견종 패턴 활용.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47120" cy="0"/>
          </a:xfrm>
          <a:prstGeom prst="line">
            <a:avLst/>
          </a:prstGeom>
          <a:noFill/>
          <a:ln w="25400">
            <a:solidFill>
              <a:srgbClr val="1F3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F3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GREENPET MAGAZINE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0" y="6400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spc="4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 COVER · 2026.10 / SERIES 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1247120" cy="0"/>
          </a:xfrm>
          <a:prstGeom prst="line">
            <a:avLst/>
          </a:prstGeom>
          <a:noFill/>
          <a:ln w="5080">
            <a:solidFill>
              <a:srgbClr val="D5CD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1F3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"강아지가 행복해지는 순간,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D45B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우리 가족이 가장 안심하는 순간이다."</a:t>
            </a:r>
            <a:endParaRPr lang="en-US" sz="5600" dirty="0"/>
          </a:p>
        </p:txBody>
      </p:sp>
      <p:sp>
        <p:nvSpPr>
          <p:cNvPr id="8" name="Shape 6"/>
          <p:cNvSpPr/>
          <p:nvPr/>
        </p:nvSpPr>
        <p:spPr>
          <a:xfrm>
            <a:off x="457200" y="4572000"/>
            <a:ext cx="5486400" cy="0"/>
          </a:xfrm>
          <a:prstGeom prst="line">
            <a:avLst/>
          </a:prstGeom>
          <a:noFill/>
          <a:ln w="12700">
            <a:solidFill>
              <a:srgbClr val="D45B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spc="300" kern="0" dirty="0">
                <a:solidFill>
                  <a:srgbClr val="5A5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 Han Soo-yeon, CEO &amp; Founder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5486400"/>
            <a:ext cx="11247120" cy="0"/>
          </a:xfrm>
          <a:prstGeom prst="line">
            <a:avLst/>
          </a:prstGeom>
          <a:noFill/>
          <a:ln w="5080">
            <a:solidFill>
              <a:srgbClr val="D5CD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56692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 Soo-yeon · CEO  /  invest@greenpet.kr  /  greenpet.kr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5989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300" kern="0" dirty="0">
                <a:solidFill>
                  <a:srgbClr val="5A5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p.23 / 25 · BACK COVER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25400">
            <a:solidFill>
              <a:srgbClr val="1F3A2E"/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47120" cy="0"/>
          </a:xfrm>
          <a:prstGeom prst="line">
            <a:avLst/>
          </a:prstGeom>
          <a:noFill/>
          <a:ln w="12700">
            <a:solidFill>
              <a:srgbClr val="1F3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ISSUE / 21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spc="400" kern="0" dirty="0">
                <a:solidFill>
                  <a:srgbClr val="1F3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APPENDIX · DATA ROOM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548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p.24 / 25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11247120" cy="0"/>
          </a:xfrm>
          <a:prstGeom prst="line">
            <a:avLst/>
          </a:prstGeom>
          <a:noFill/>
          <a:ln w="5080">
            <a:solidFill>
              <a:srgbClr val="D5CD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1F3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Room.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실사용 가능 자료 — 14개 문서·데이터 풀 액세스.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11247120" cy="0"/>
          </a:xfrm>
          <a:prstGeom prst="line">
            <a:avLst/>
          </a:prstGeom>
          <a:noFill/>
          <a:ln w="12700">
            <a:solidFill>
              <a:srgbClr val="1F3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834640"/>
            <a:ext cx="53949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5CD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2918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월간 P&amp;L (24개월) / 분기 BS·CF / 단위 경제성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2834640"/>
            <a:ext cx="53949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5CD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92240" y="32918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코호트 분석 / NPS 응답 / 재구매 패턴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53949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5CD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114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44348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임상 데이터 8.4만 건 / 처방 알고리즘 / 특허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3977640"/>
            <a:ext cx="53949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5CD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4114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92240" y="44348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주주명부 / 정관 / 옵션풀 / 인증 4종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5120640"/>
            <a:ext cx="53949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5CD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5257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CONTRACT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55778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동물병원 28 MOU / OEM 계약 / 수의사 자문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5120640"/>
            <a:ext cx="53949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5CD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5257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5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92240" y="55778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이력서 14명 / 자문위원 / 채용 파이프라인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47120" cy="0"/>
          </a:xfrm>
          <a:prstGeom prst="line">
            <a:avLst/>
          </a:prstGeom>
          <a:noFill/>
          <a:ln w="25400">
            <a:solidFill>
              <a:srgbClr val="1F3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0" b="1" i="1" dirty="0">
                <a:solidFill>
                  <a:srgbClr val="1F3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you.</a:t>
            </a:r>
            <a:endParaRPr lang="en-US" sz="15000" dirty="0"/>
          </a:p>
        </p:txBody>
      </p:sp>
      <p:sp>
        <p:nvSpPr>
          <p:cNvPr id="4" name="Shape 2"/>
          <p:cNvSpPr/>
          <p:nvPr/>
        </p:nvSpPr>
        <p:spPr>
          <a:xfrm>
            <a:off x="457200" y="4206240"/>
            <a:ext cx="11247120" cy="0"/>
          </a:xfrm>
          <a:prstGeom prst="line">
            <a:avLst/>
          </a:prstGeom>
          <a:noFill/>
          <a:ln w="19050">
            <a:solidFill>
              <a:srgbClr val="D45B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434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5B3F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Greenpet — 우리 강아지가 먹어도 안전한 사료.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5074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 Soo-yeon · CEO  /  invest@greenpet.kr  /  greenpet.kr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5760720"/>
            <a:ext cx="1371600" cy="0"/>
          </a:xfrm>
          <a:prstGeom prst="line">
            <a:avLst/>
          </a:prstGeom>
          <a:noFill/>
          <a:ln w="12700">
            <a:solidFill>
              <a:srgbClr val="D45B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5943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F3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GREENPET MAGAZINE · VOL.03 · 2026.10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25400">
            <a:solidFill>
              <a:srgbClr val="1F3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0" y="65836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p.25 / 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2026-04-30T11:32:44Z</dcterms:created>
  <dcterms:modified xsi:type="dcterms:W3CDTF">2026-04-30T11:32:44Z</dcterms:modified>
</cp:coreProperties>
</file>