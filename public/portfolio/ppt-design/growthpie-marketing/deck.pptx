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ROAS (x)</c:v>
                </c:pt>
              </c:strCache>
            </c:strRef>
          </c:tx>
          <c:spPr>
            <a:solidFill>
              <a:srgbClr val="FF1F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A0A0A"/>
                    </a:solidFill>
                    <a:latin typeface="Arial Black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Google</c:v>
                  </c:pt>
                  <c:pt idx="1">
                    <c:v>Meta</c:v>
                  </c:pt>
                  <c:pt idx="2">
                    <c:v>Naver</c:v>
                  </c:pt>
                  <c:pt idx="3">
                    <c:v>YouTube</c:v>
                  </c:pt>
                  <c:pt idx="4">
                    <c:v>TikTok</c:v>
                  </c:pt>
                  <c:pt idx="5">
                    <c:v>Influencer</c:v>
                  </c:pt>
                  <c:pt idx="6">
                    <c:v>SEO</c:v>
                  </c:pt>
                  <c:pt idx="7">
                    <c:v>Email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6.2</c:v>
                </c:pt>
                <c:pt idx="1">
                  <c:v>5.8</c:v>
                </c:pt>
                <c:pt idx="2">
                  <c:v>7.4</c:v>
                </c:pt>
                <c:pt idx="3">
                  <c:v>4.8</c:v>
                </c:pt>
                <c:pt idx="4">
                  <c:v>5.2</c:v>
                </c:pt>
                <c:pt idx="5">
                  <c:v>6.8</c:v>
                </c:pt>
                <c:pt idx="6">
                  <c:v>8.4</c:v>
                </c:pt>
                <c:pt idx="7">
                  <c:v>12.6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A0A0A"/>
                  </a:solidFill>
                  <a:latin typeface="Arial Black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FF1F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GROWTHPIE / GROWTH AGENCY / 2026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0" y="1371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5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PROPOSAL → ENTERPRISE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b="1" spc="-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 GROW</a:t>
            </a:r>
            <a:endParaRPr lang="en-US" sz="130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b="1" spc="-400" kern="0" dirty="0">
                <a:solidFill>
                  <a:srgbClr val="C5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BRANDS.</a:t>
            </a:r>
            <a:endParaRPr lang="en-US" sz="13000" dirty="0"/>
          </a:p>
        </p:txBody>
      </p:sp>
      <p:sp>
        <p:nvSpPr>
          <p:cNvPr id="7" name="Shape 5"/>
          <p:cNvSpPr/>
          <p:nvPr/>
        </p:nvSpPr>
        <p:spPr>
          <a:xfrm>
            <a:off x="457200" y="4023360"/>
            <a:ext cx="1371600" cy="164592"/>
          </a:xfrm>
          <a:prstGeom prst="rect">
            <a:avLst/>
          </a:prstGeom>
          <a:solidFill>
            <a:srgbClr val="FF1F8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297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5FF0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디지털 마케팅 에이전시 — 매출을 숫자로 키운다.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4937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퍼포먼스 + 콘텐츠 + 그로스 — 통합 운영.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0" y="5669280"/>
            <a:ext cx="12188952" cy="1005840"/>
          </a:xfrm>
          <a:prstGeom prst="rect">
            <a:avLst/>
          </a:prstGeom>
          <a:solidFill>
            <a:srgbClr val="C5FF0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5760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+218%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" y="63550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AVG GROWTH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46120" y="5852160"/>
            <a:ext cx="0" cy="640080"/>
          </a:xfrm>
          <a:prstGeom prst="line">
            <a:avLst/>
          </a:prstGeom>
          <a:noFill/>
          <a:ln w="6350">
            <a:solidFill>
              <a:srgbClr val="0A0A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68980" y="5760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48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268980" y="63550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BRANDS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57900" y="5852160"/>
            <a:ext cx="0" cy="640080"/>
          </a:xfrm>
          <a:prstGeom prst="line">
            <a:avLst/>
          </a:prstGeom>
          <a:noFill/>
          <a:ln w="6350">
            <a:solidFill>
              <a:srgbClr val="0A0A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5760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₩4.2B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080760" y="63550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 SPEND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869680" y="5852160"/>
            <a:ext cx="0" cy="640080"/>
          </a:xfrm>
          <a:prstGeom prst="line">
            <a:avLst/>
          </a:prstGeom>
          <a:noFill/>
          <a:ln w="6350">
            <a:solidFill>
              <a:srgbClr val="0A0A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92540" y="5760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96 NPS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8892540" y="63550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0" cy="411480"/>
          </a:xfrm>
          <a:prstGeom prst="rect">
            <a:avLst/>
          </a:prstGeom>
          <a:solidFill>
            <a:srgbClr val="FF1F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0116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0" y="411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p.02 / 20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당신의 마케팅,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1F8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진짜 데이터로 가고 있나?</a:t>
            </a:r>
            <a:endParaRPr lang="en-US" sz="560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1371600" cy="137160"/>
          </a:xfrm>
          <a:prstGeom prst="rect">
            <a:avLst/>
          </a:prstGeom>
          <a:solidFill>
            <a:srgbClr val="C5FF00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3657600"/>
            <a:ext cx="3657600" cy="246888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79476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C5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68%</a:t>
            </a:r>
            <a:endParaRPr lang="en-US" sz="8000" dirty="0"/>
          </a:p>
        </p:txBody>
      </p:sp>
      <p:sp>
        <p:nvSpPr>
          <p:cNvPr id="12" name="Text 10"/>
          <p:cNvSpPr/>
          <p:nvPr/>
        </p:nvSpPr>
        <p:spPr>
          <a:xfrm>
            <a:off x="731520" y="5074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광고비 낭비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5486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B5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타깃 추적 안 됨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0" y="3657600"/>
            <a:ext cx="3657600" cy="246888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379476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C5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3개월</a:t>
            </a:r>
            <a:endParaRPr lang="en-US" sz="8000" dirty="0"/>
          </a:p>
        </p:txBody>
      </p:sp>
      <p:sp>
        <p:nvSpPr>
          <p:cNvPr id="16" name="Text 14"/>
          <p:cNvSpPr/>
          <p:nvPr/>
        </p:nvSpPr>
        <p:spPr>
          <a:xfrm>
            <a:off x="4572000" y="5074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퇴보까지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0" y="5486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B5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 1편 = 3개월 후 소멸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38160" y="3657600"/>
            <a:ext cx="3657600" cy="246888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0" y="379476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C5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₩48M</a:t>
            </a:r>
            <a:endParaRPr lang="en-US" sz="8000" dirty="0"/>
          </a:p>
        </p:txBody>
      </p:sp>
      <p:sp>
        <p:nvSpPr>
          <p:cNvPr id="20" name="Text 18"/>
          <p:cNvSpPr/>
          <p:nvPr/>
        </p:nvSpPr>
        <p:spPr>
          <a:xfrm>
            <a:off x="8412480" y="5074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월 ROAS 미측정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412480" y="5486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B5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측정 없는 광고는 소비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자료: 한국광고학회 2025 / 자체 144개 브랜드 진단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0" cy="411480"/>
          </a:xfrm>
          <a:prstGeom prst="rect">
            <a:avLst/>
          </a:prstGeom>
          <a:solidFill>
            <a:srgbClr val="C5FF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0116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5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SOLUTION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0" y="411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B5B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p.03 / 20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우리는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5FF0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측정 가능한 매출만 만든다.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1371600" cy="137160"/>
          </a:xfrm>
          <a:prstGeom prst="rect">
            <a:avLst/>
          </a:prstGeom>
          <a:solidFill>
            <a:srgbClr val="FF1F8A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3520440"/>
            <a:ext cx="1124712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6576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5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828800" y="36576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PERFORMANCE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212080" y="370332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메타·구글·네이버 광고 풀 운영. ROAS 추적 + 주간 리포트.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480560"/>
            <a:ext cx="11247120" cy="822960"/>
          </a:xfrm>
          <a:prstGeom prst="rect">
            <a:avLst/>
          </a:prstGeom>
          <a:solidFill>
            <a:srgbClr val="FF1F8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6177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5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828800" y="46177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CONTENT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212080" y="46634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유튜브·인스타·블로그 운영. 콘텐츠 KPI = 매출 전환율.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5440680"/>
            <a:ext cx="1124712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55778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5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828800" y="55778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GROWTH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212080" y="562356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퍼널 분석 + AB 테스트 + 자동화. 그로스 데이터 사이언티스트 직접.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0" cy="411480"/>
          </a:xfrm>
          <a:prstGeom prst="rect">
            <a:avLst/>
          </a:prstGeom>
          <a:solidFill>
            <a:srgbClr val="FF1F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0116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CASE STUDY 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0" y="411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p.04 / 20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0606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뷰티 브랜드 ‘오로라’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1F8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월매출 ₩42M → ₩320M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8개월 만에.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457200" y="3520440"/>
            <a:ext cx="1371600" cy="137160"/>
          </a:xfrm>
          <a:prstGeom prst="rect">
            <a:avLst/>
          </a:prstGeom>
          <a:solidFill>
            <a:srgbClr val="C5FF00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3840480"/>
            <a:ext cx="2697480" cy="146304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9776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5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+662%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40080" y="4754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월매출 성장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68980" y="3840480"/>
            <a:ext cx="2697480" cy="146304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4" name="Text 12"/>
          <p:cNvSpPr/>
          <p:nvPr/>
        </p:nvSpPr>
        <p:spPr>
          <a:xfrm>
            <a:off x="3451860" y="39776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5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3.4 → 8.2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451860" y="4754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ROAS 향상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80760" y="3840480"/>
            <a:ext cx="2697480" cy="146304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39776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5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+28만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263640" y="4754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신규 팔로워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892540" y="3840480"/>
            <a:ext cx="2697480" cy="146304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0" name="Text 18"/>
          <p:cNvSpPr/>
          <p:nvPr/>
        </p:nvSpPr>
        <p:spPr>
          <a:xfrm>
            <a:off x="9075420" y="39776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5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48 → 8 days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9075420" y="4754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→ 도착 단축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5486400"/>
            <a:ext cx="11247120" cy="1097280"/>
          </a:xfrm>
          <a:prstGeom prst="rect">
            <a:avLst/>
          </a:prstGeom>
          <a:solidFill>
            <a:srgbClr val="C5FF00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577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"광고만 키운 게 아니라 매출을 다시 짰다. CFO도 GrowthPie를 좋아한다."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0080" y="6172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— 김OO 대표, ㈜오로라 (2025.10)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0" cy="411480"/>
          </a:xfrm>
          <a:prstGeom prst="rect">
            <a:avLst/>
          </a:prstGeom>
          <a:solidFill>
            <a:srgbClr val="C5FF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0116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5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CASE STUDY 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0" y="411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B5B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p.05 / 20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5B5B5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F&amp;B 프랜차이즈 ‘피그뉴턴’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매장당 매출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FF1F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+148%</a:t>
            </a:r>
            <a:endParaRPr lang="en-US" sz="13000" dirty="0"/>
          </a:p>
        </p:txBody>
      </p:sp>
      <p:sp>
        <p:nvSpPr>
          <p:cNvPr id="9" name="Shape 7"/>
          <p:cNvSpPr/>
          <p:nvPr/>
        </p:nvSpPr>
        <p:spPr>
          <a:xfrm>
            <a:off x="457200" y="3840480"/>
            <a:ext cx="1371600" cy="137160"/>
          </a:xfrm>
          <a:prstGeom prst="rect">
            <a:avLst/>
          </a:prstGeom>
          <a:solidFill>
            <a:srgbClr val="C5FF0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023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5FF0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12개월 / 광고비 동일.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" y="46177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5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①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371600" y="4663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MENU AI 추천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20640" y="4709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B5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데이터 기반 메뉴 자동 추천 → 객단가 +28%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52578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5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②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371600" y="5303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REORDER 캠페인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20640" y="53492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B5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재방문 유도 → 30일 재구매 +88%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58978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5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③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371600" y="5943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LOCAL CONTENT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20640" y="59893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B5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동네 인플루언서 12명 → 신규 방문 +112%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0" cy="411480"/>
          </a:xfrm>
          <a:prstGeom prst="rect">
            <a:avLst/>
          </a:prstGeom>
          <a:solidFill>
            <a:srgbClr val="FF1F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0116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PROCESS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0" y="411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p.06 / 20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우리가 일하는 방식.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1371600" cy="137160"/>
          </a:xfrm>
          <a:prstGeom prst="rect">
            <a:avLst/>
          </a:prstGeom>
          <a:solidFill>
            <a:srgbClr val="FF1F8A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468880"/>
            <a:ext cx="2743200" cy="402336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06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5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W1-2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0175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AUDIT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40080" y="3657600"/>
            <a:ext cx="457200" cy="73152"/>
          </a:xfrm>
          <a:prstGeom prst="rect">
            <a:avLst/>
          </a:prstGeom>
          <a:solidFill>
            <a:srgbClr val="FF1F8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8404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퍼널·광고·CRM 전수 진단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45720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B5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리포트 + ROI 추정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37560" y="2468880"/>
            <a:ext cx="2743200" cy="4023360"/>
          </a:xfrm>
          <a:prstGeom prst="rect">
            <a:avLst/>
          </a:prstGeom>
          <a:solidFill>
            <a:srgbClr val="FF1F8A"/>
          </a:solidFill>
          <a:ln/>
        </p:spPr>
      </p:sp>
      <p:sp>
        <p:nvSpPr>
          <p:cNvPr id="15" name="Text 13"/>
          <p:cNvSpPr/>
          <p:nvPr/>
        </p:nvSpPr>
        <p:spPr>
          <a:xfrm>
            <a:off x="3520440" y="2606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5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W3-4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20440" y="30175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STRATEGY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3520440" y="3657600"/>
            <a:ext cx="457200" cy="73152"/>
          </a:xfrm>
          <a:prstGeom prst="rect">
            <a:avLst/>
          </a:prstGeom>
          <a:solidFill>
            <a:srgbClr val="C5FF00"/>
          </a:solidFill>
          <a:ln/>
        </p:spPr>
      </p:sp>
      <p:sp>
        <p:nvSpPr>
          <p:cNvPr id="18" name="Text 16"/>
          <p:cNvSpPr/>
          <p:nvPr/>
        </p:nvSpPr>
        <p:spPr>
          <a:xfrm>
            <a:off x="3520440" y="38404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GTM 전략 + 채널 믹스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20440" y="45720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B5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월별 KPI 설정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2468880"/>
            <a:ext cx="2743200" cy="402336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2606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5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W5+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0" y="30175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EXECUTE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6400800" y="3657600"/>
            <a:ext cx="457200" cy="73152"/>
          </a:xfrm>
          <a:prstGeom prst="rect">
            <a:avLst/>
          </a:prstGeom>
          <a:solidFill>
            <a:srgbClr val="FF1F8A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38404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광고·콘텐츠·자동화 실행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0" y="45720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B5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주간 리포트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098280" y="2468880"/>
            <a:ext cx="2743200" cy="402336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7" name="Text 25"/>
          <p:cNvSpPr/>
          <p:nvPr/>
        </p:nvSpPr>
        <p:spPr>
          <a:xfrm>
            <a:off x="9281160" y="2606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5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MO+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281160" y="30175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OPTIMIZE</a:t>
            </a:r>
            <a:endParaRPr lang="en-US" sz="2800" dirty="0"/>
          </a:p>
        </p:txBody>
      </p:sp>
      <p:sp>
        <p:nvSpPr>
          <p:cNvPr id="29" name="Shape 27"/>
          <p:cNvSpPr/>
          <p:nvPr/>
        </p:nvSpPr>
        <p:spPr>
          <a:xfrm>
            <a:off x="9281160" y="3657600"/>
            <a:ext cx="457200" cy="73152"/>
          </a:xfrm>
          <a:prstGeom prst="rect">
            <a:avLst/>
          </a:prstGeom>
          <a:solidFill>
            <a:srgbClr val="FF1F8A"/>
          </a:solidFill>
          <a:ln/>
        </p:spPr>
      </p:sp>
      <p:sp>
        <p:nvSpPr>
          <p:cNvPr id="30" name="Text 28"/>
          <p:cNvSpPr/>
          <p:nvPr/>
        </p:nvSpPr>
        <p:spPr>
          <a:xfrm>
            <a:off x="9281160" y="38404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AB 테스트 + 데이터 사이언스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281160" y="45720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B5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분기 리뷰 + 가격 협상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0" cy="411480"/>
          </a:xfrm>
          <a:prstGeom prst="rect">
            <a:avLst/>
          </a:prstGeom>
          <a:solidFill>
            <a:srgbClr val="FF1F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0116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SERVICES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0" y="411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p.07 / 20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spc="-2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STACK.</a:t>
            </a:r>
            <a:endParaRPr lang="en-US" sz="64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2697480" cy="1280160"/>
          </a:xfrm>
          <a:prstGeom prst="rect">
            <a:avLst/>
          </a:prstGeom>
          <a:solidFill>
            <a:srgbClr val="C5FF0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468880"/>
            <a:ext cx="2697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GOOGLE ADS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268980" y="2468880"/>
            <a:ext cx="2697480" cy="1280160"/>
          </a:xfrm>
          <a:prstGeom prst="rect">
            <a:avLst/>
          </a:prstGeom>
          <a:solidFill>
            <a:srgbClr val="FF1F8A"/>
          </a:solidFill>
          <a:ln/>
        </p:spPr>
      </p:sp>
      <p:sp>
        <p:nvSpPr>
          <p:cNvPr id="10" name="Text 8"/>
          <p:cNvSpPr/>
          <p:nvPr/>
        </p:nvSpPr>
        <p:spPr>
          <a:xfrm>
            <a:off x="3268980" y="2468880"/>
            <a:ext cx="2697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META ADS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080760" y="2468880"/>
            <a:ext cx="2697480" cy="128016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2" name="Text 10"/>
          <p:cNvSpPr/>
          <p:nvPr/>
        </p:nvSpPr>
        <p:spPr>
          <a:xfrm>
            <a:off x="6080760" y="2468880"/>
            <a:ext cx="2697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NAVER PERF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892540" y="2468880"/>
            <a:ext cx="2697480" cy="128016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14" name="Text 12"/>
          <p:cNvSpPr/>
          <p:nvPr/>
        </p:nvSpPr>
        <p:spPr>
          <a:xfrm>
            <a:off x="8892540" y="2468880"/>
            <a:ext cx="2697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YOUTUBE ADS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2697480" cy="1280160"/>
          </a:xfrm>
          <a:prstGeom prst="rect">
            <a:avLst/>
          </a:prstGeom>
          <a:solidFill>
            <a:srgbClr val="C5FF0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840480"/>
            <a:ext cx="2697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TIKTOK ADS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268980" y="3840480"/>
            <a:ext cx="2697480" cy="1280160"/>
          </a:xfrm>
          <a:prstGeom prst="rect">
            <a:avLst/>
          </a:prstGeom>
          <a:solidFill>
            <a:srgbClr val="FF1F8A"/>
          </a:solidFill>
          <a:ln/>
        </p:spPr>
      </p:sp>
      <p:sp>
        <p:nvSpPr>
          <p:cNvPr id="18" name="Text 16"/>
          <p:cNvSpPr/>
          <p:nvPr/>
        </p:nvSpPr>
        <p:spPr>
          <a:xfrm>
            <a:off x="3268980" y="3840480"/>
            <a:ext cx="2697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CONTENT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080760" y="3840480"/>
            <a:ext cx="2697480" cy="128016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0" name="Text 18"/>
          <p:cNvSpPr/>
          <p:nvPr/>
        </p:nvSpPr>
        <p:spPr>
          <a:xfrm>
            <a:off x="6080760" y="3840480"/>
            <a:ext cx="2697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INFLUENCER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892540" y="3840480"/>
            <a:ext cx="2697480" cy="128016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22" name="Text 20"/>
          <p:cNvSpPr/>
          <p:nvPr/>
        </p:nvSpPr>
        <p:spPr>
          <a:xfrm>
            <a:off x="8892540" y="3840480"/>
            <a:ext cx="2697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SEO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57200" y="5212080"/>
            <a:ext cx="2697480" cy="1280160"/>
          </a:xfrm>
          <a:prstGeom prst="rect">
            <a:avLst/>
          </a:prstGeom>
          <a:solidFill>
            <a:srgbClr val="C5FF00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5212080"/>
            <a:ext cx="2697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CRM AUTO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3268980" y="5212080"/>
            <a:ext cx="2697480" cy="1280160"/>
          </a:xfrm>
          <a:prstGeom prst="rect">
            <a:avLst/>
          </a:prstGeom>
          <a:solidFill>
            <a:srgbClr val="FF1F8A"/>
          </a:solidFill>
          <a:ln/>
        </p:spPr>
      </p:sp>
      <p:sp>
        <p:nvSpPr>
          <p:cNvPr id="26" name="Text 24"/>
          <p:cNvSpPr/>
          <p:nvPr/>
        </p:nvSpPr>
        <p:spPr>
          <a:xfrm>
            <a:off x="3268980" y="5212080"/>
            <a:ext cx="2697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/ GA4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080760" y="5212080"/>
            <a:ext cx="2697480" cy="128016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8" name="Text 26"/>
          <p:cNvSpPr/>
          <p:nvPr/>
        </p:nvSpPr>
        <p:spPr>
          <a:xfrm>
            <a:off x="6080760" y="5212080"/>
            <a:ext cx="2697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 TEST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892540" y="5212080"/>
            <a:ext cx="2697480" cy="128016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0" name="Text 28"/>
          <p:cNvSpPr/>
          <p:nvPr/>
        </p:nvSpPr>
        <p:spPr>
          <a:xfrm>
            <a:off x="8892540" y="5212080"/>
            <a:ext cx="2697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GROWTH AI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0" cy="411480"/>
          </a:xfrm>
          <a:prstGeom prst="rect">
            <a:avLst/>
          </a:prstGeom>
          <a:solidFill>
            <a:srgbClr val="FF1F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0116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PRICING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0" y="411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p.08 / 20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spc="-2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PRICING.</a:t>
            </a:r>
            <a:endParaRPr lang="en-US" sz="64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365760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A0A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651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1F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STARTER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3375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₩9.8M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731520" y="4251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 / 1개 채널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4572000"/>
            <a:ext cx="731520" cy="45720"/>
          </a:xfrm>
          <a:prstGeom prst="rect">
            <a:avLst/>
          </a:prstGeom>
          <a:solidFill>
            <a:srgbClr val="FF1F8A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709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→ Google or Meta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5074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→ 주간 리포트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5440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→ ROAS 추적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0" y="2468880"/>
            <a:ext cx="3657600" cy="4114800"/>
          </a:xfrm>
          <a:prstGeom prst="rect">
            <a:avLst/>
          </a:prstGeom>
          <a:solidFill>
            <a:srgbClr val="0A0A0A"/>
          </a:solidFill>
          <a:ln w="25400">
            <a:solidFill>
              <a:srgbClr val="0A0A0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97680" y="2468880"/>
            <a:ext cx="3657600" cy="365760"/>
          </a:xfrm>
          <a:prstGeom prst="rect">
            <a:avLst/>
          </a:prstGeom>
          <a:solidFill>
            <a:srgbClr val="C5FF00"/>
          </a:solidFill>
          <a:ln/>
        </p:spPr>
      </p:sp>
      <p:sp>
        <p:nvSpPr>
          <p:cNvPr id="17" name="Text 15"/>
          <p:cNvSpPr/>
          <p:nvPr/>
        </p:nvSpPr>
        <p:spPr>
          <a:xfrm>
            <a:off x="4297680" y="2468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5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BEST VALUE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0" y="2971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5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GROWTH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0" y="33375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₩24M</a:t>
            </a:r>
            <a:endParaRPr lang="en-US" sz="5600" dirty="0"/>
          </a:p>
        </p:txBody>
      </p:sp>
      <p:sp>
        <p:nvSpPr>
          <p:cNvPr id="20" name="Text 18"/>
          <p:cNvSpPr/>
          <p:nvPr/>
        </p:nvSpPr>
        <p:spPr>
          <a:xfrm>
            <a:off x="4572000" y="4251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5B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 / 3개 채널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4572000"/>
            <a:ext cx="731520" cy="45720"/>
          </a:xfrm>
          <a:prstGeom prst="rect">
            <a:avLst/>
          </a:prstGeom>
          <a:solidFill>
            <a:srgbClr val="C5FF0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0" y="4709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→ 전 채널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0" y="5074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→ 콘텐츠 4편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0" y="5440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→ 그로스 PM 전담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0" y="5806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→ 월 미팅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138160" y="2468880"/>
            <a:ext cx="365760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A0A0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0" y="2651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1F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SCALE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412480" y="33375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₩48M+</a:t>
            </a:r>
            <a:endParaRPr lang="en-US" sz="5600" dirty="0"/>
          </a:p>
        </p:txBody>
      </p:sp>
      <p:sp>
        <p:nvSpPr>
          <p:cNvPr id="29" name="Text 27"/>
          <p:cNvSpPr/>
          <p:nvPr/>
        </p:nvSpPr>
        <p:spPr>
          <a:xfrm>
            <a:off x="8412480" y="4251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 / 풀 운영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412480" y="4572000"/>
            <a:ext cx="731520" cy="45720"/>
          </a:xfrm>
          <a:prstGeom prst="rect">
            <a:avLst/>
          </a:prstGeom>
          <a:solidFill>
            <a:srgbClr val="FF1F8A"/>
          </a:solidFill>
          <a:ln/>
        </p:spPr>
      </p:sp>
      <p:sp>
        <p:nvSpPr>
          <p:cNvPr id="31" name="Text 29"/>
          <p:cNvSpPr/>
          <p:nvPr/>
        </p:nvSpPr>
        <p:spPr>
          <a:xfrm>
            <a:off x="8412480" y="4709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→ 전 채널 + AI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412480" y="5074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→ 콘텐츠 12편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412480" y="5440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→ 데이터팀 4명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412480" y="5806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→ 주간 미팅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0" cy="411480"/>
          </a:xfrm>
          <a:prstGeom prst="rect">
            <a:avLst/>
          </a:prstGeom>
          <a:solidFill>
            <a:srgbClr val="FF1F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0116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CHANNEL ROAS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0" y="411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p.09 / 20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spc="-2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ROAS BY CHANNEL.</a:t>
            </a:r>
            <a:endParaRPr lang="en-US" sz="56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2377440"/>
          <a:ext cx="112471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48개 브랜드 평균 ROAS — 8.4배. 채널별 편차 4.8x ~ 12.6x.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0" cy="411480"/>
          </a:xfrm>
          <a:prstGeom prst="rect">
            <a:avLst/>
          </a:prstGeom>
          <a:solidFill>
            <a:srgbClr val="FF1F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0116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CASE STUDY 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0" y="411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p.10 / 20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0606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패션 브랜드 ‘ZEROPLUS’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1F8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ROAS 12.4x, 광고비 ₩2.8B 운영.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1371600" cy="137160"/>
          </a:xfrm>
          <a:prstGeom prst="rect">
            <a:avLst/>
          </a:prstGeom>
          <a:solidFill>
            <a:srgbClr val="C5FF0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3108960"/>
            <a:ext cx="5486400" cy="329184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2461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060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BEFORE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657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5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광고비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0" y="3657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₩180M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4206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5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ROAS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4206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3.2x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4754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5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매출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0" y="4754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₩580M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5303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5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83280" y="5303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₩48K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17920" y="3108960"/>
            <a:ext cx="5486400" cy="3291840"/>
          </a:xfrm>
          <a:prstGeom prst="rect">
            <a:avLst/>
          </a:prstGeom>
          <a:solidFill>
            <a:srgbClr val="C5FF0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32461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AFTER (12개월)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3657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광고비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0" y="3657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₩240M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0" y="4206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ROAS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0" y="4206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12.4x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0" y="4754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매출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0" y="4754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₩2,976M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0" y="5303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CAC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0" y="5303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₩18K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0" cy="411480"/>
          </a:xfrm>
          <a:prstGeom prst="rect">
            <a:avLst/>
          </a:prstGeom>
          <a:solidFill>
            <a:srgbClr val="FF1F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0116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CLIENTS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0" y="411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p.11 / 20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spc="-2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48 BRANDS.</a:t>
            </a:r>
            <a:endParaRPr lang="en-US" sz="64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2697480" cy="9144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46888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C5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AURORA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68980" y="2468880"/>
            <a:ext cx="2697480" cy="914400"/>
          </a:xfrm>
          <a:prstGeom prst="rect">
            <a:avLst/>
          </a:prstGeom>
          <a:solidFill>
            <a:srgbClr val="FF1F8A"/>
          </a:solidFill>
          <a:ln/>
        </p:spPr>
      </p:sp>
      <p:sp>
        <p:nvSpPr>
          <p:cNvPr id="10" name="Text 8"/>
          <p:cNvSpPr/>
          <p:nvPr/>
        </p:nvSpPr>
        <p:spPr>
          <a:xfrm>
            <a:off x="3268980" y="246888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PIGNEWTON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80760" y="2468880"/>
            <a:ext cx="2697480" cy="9144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2" name="Text 10"/>
          <p:cNvSpPr/>
          <p:nvPr/>
        </p:nvSpPr>
        <p:spPr>
          <a:xfrm>
            <a:off x="6080760" y="246888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C5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ZEROPLUS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892540" y="2468880"/>
            <a:ext cx="2697480" cy="914400"/>
          </a:xfrm>
          <a:prstGeom prst="rect">
            <a:avLst/>
          </a:prstGeom>
          <a:solidFill>
            <a:srgbClr val="FF1F8A"/>
          </a:solidFill>
          <a:ln/>
        </p:spPr>
      </p:sp>
      <p:sp>
        <p:nvSpPr>
          <p:cNvPr id="14" name="Text 12"/>
          <p:cNvSpPr/>
          <p:nvPr/>
        </p:nvSpPr>
        <p:spPr>
          <a:xfrm>
            <a:off x="8892540" y="246888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MOOA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520440"/>
            <a:ext cx="2697480" cy="9144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52044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C5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OUI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268980" y="3520440"/>
            <a:ext cx="2697480" cy="914400"/>
          </a:xfrm>
          <a:prstGeom prst="rect">
            <a:avLst/>
          </a:prstGeom>
          <a:solidFill>
            <a:srgbClr val="FF1F8A"/>
          </a:solidFill>
          <a:ln/>
        </p:spPr>
      </p:sp>
      <p:sp>
        <p:nvSpPr>
          <p:cNvPr id="18" name="Text 16"/>
          <p:cNvSpPr/>
          <p:nvPr/>
        </p:nvSpPr>
        <p:spPr>
          <a:xfrm>
            <a:off x="3268980" y="352044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DAYDAY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080760" y="3520440"/>
            <a:ext cx="2697480" cy="9144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0" name="Text 18"/>
          <p:cNvSpPr/>
          <p:nvPr/>
        </p:nvSpPr>
        <p:spPr>
          <a:xfrm>
            <a:off x="6080760" y="352044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C5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STELLAS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892540" y="3520440"/>
            <a:ext cx="2697480" cy="914400"/>
          </a:xfrm>
          <a:prstGeom prst="rect">
            <a:avLst/>
          </a:prstGeom>
          <a:solidFill>
            <a:srgbClr val="FF1F8A"/>
          </a:solidFill>
          <a:ln/>
        </p:spPr>
      </p:sp>
      <p:sp>
        <p:nvSpPr>
          <p:cNvPr id="22" name="Text 20"/>
          <p:cNvSpPr/>
          <p:nvPr/>
        </p:nvSpPr>
        <p:spPr>
          <a:xfrm>
            <a:off x="8892540" y="352044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HONEY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" y="4572000"/>
            <a:ext cx="2697480" cy="9144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57200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C5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RIPLEY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268980" y="4572000"/>
            <a:ext cx="2697480" cy="914400"/>
          </a:xfrm>
          <a:prstGeom prst="rect">
            <a:avLst/>
          </a:prstGeom>
          <a:solidFill>
            <a:srgbClr val="FF1F8A"/>
          </a:solidFill>
          <a:ln/>
        </p:spPr>
      </p:sp>
      <p:sp>
        <p:nvSpPr>
          <p:cNvPr id="26" name="Text 24"/>
          <p:cNvSpPr/>
          <p:nvPr/>
        </p:nvSpPr>
        <p:spPr>
          <a:xfrm>
            <a:off x="3268980" y="457200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FOX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080760" y="4572000"/>
            <a:ext cx="2697480" cy="9144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8" name="Text 26"/>
          <p:cNvSpPr/>
          <p:nvPr/>
        </p:nvSpPr>
        <p:spPr>
          <a:xfrm>
            <a:off x="6080760" y="457200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C5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MOMO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892540" y="4572000"/>
            <a:ext cx="2697480" cy="914400"/>
          </a:xfrm>
          <a:prstGeom prst="rect">
            <a:avLst/>
          </a:prstGeom>
          <a:solidFill>
            <a:srgbClr val="FF1F8A"/>
          </a:solidFill>
          <a:ln/>
        </p:spPr>
      </p:sp>
      <p:sp>
        <p:nvSpPr>
          <p:cNvPr id="30" name="Text 28"/>
          <p:cNvSpPr/>
          <p:nvPr/>
        </p:nvSpPr>
        <p:spPr>
          <a:xfrm>
            <a:off x="8892540" y="457200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BLOOM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57200" y="5623560"/>
            <a:ext cx="2697480" cy="9144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562356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C5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SAGE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268980" y="5623560"/>
            <a:ext cx="2697480" cy="914400"/>
          </a:xfrm>
          <a:prstGeom prst="rect">
            <a:avLst/>
          </a:prstGeom>
          <a:solidFill>
            <a:srgbClr val="FF1F8A"/>
          </a:solidFill>
          <a:ln/>
        </p:spPr>
      </p:sp>
      <p:sp>
        <p:nvSpPr>
          <p:cNvPr id="34" name="Text 32"/>
          <p:cNvSpPr/>
          <p:nvPr/>
        </p:nvSpPr>
        <p:spPr>
          <a:xfrm>
            <a:off x="3268980" y="562356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LUNA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080760" y="5623560"/>
            <a:ext cx="2697480" cy="9144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6" name="Text 34"/>
          <p:cNvSpPr/>
          <p:nvPr/>
        </p:nvSpPr>
        <p:spPr>
          <a:xfrm>
            <a:off x="6080760" y="562356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C5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OAK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892540" y="5623560"/>
            <a:ext cx="2697480" cy="914400"/>
          </a:xfrm>
          <a:prstGeom prst="rect">
            <a:avLst/>
          </a:prstGeom>
          <a:solidFill>
            <a:srgbClr val="FF1F8A"/>
          </a:solidFill>
          <a:ln/>
        </p:spPr>
      </p:sp>
      <p:sp>
        <p:nvSpPr>
          <p:cNvPr id="38" name="Text 36"/>
          <p:cNvSpPr/>
          <p:nvPr/>
        </p:nvSpPr>
        <p:spPr>
          <a:xfrm>
            <a:off x="8892540" y="562356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PEPPER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0" cy="411480"/>
          </a:xfrm>
          <a:prstGeom prst="rect">
            <a:avLst/>
          </a:prstGeom>
          <a:solidFill>
            <a:srgbClr val="FF1F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0116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0" y="411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p.12 / 20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spc="-2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 RUNS THE PIE.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2743200" cy="402336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468880"/>
            <a:ext cx="2743200" cy="274320"/>
          </a:xfrm>
          <a:prstGeom prst="rect">
            <a:avLst/>
          </a:prstGeom>
          <a:solidFill>
            <a:srgbClr val="C5FF0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88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5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Lee Ji-eun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40080" y="3840480"/>
            <a:ext cx="548640" cy="45720"/>
          </a:xfrm>
          <a:prstGeom prst="rect">
            <a:avLst/>
          </a:prstGeom>
          <a:solidFill>
            <a:srgbClr val="FF1F8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02336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ex-Naver Marketing 8y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37560" y="2468880"/>
            <a:ext cx="2743200" cy="4023360"/>
          </a:xfrm>
          <a:prstGeom prst="rect">
            <a:avLst/>
          </a:prstGeom>
          <a:solidFill>
            <a:srgbClr val="FF1F8A"/>
          </a:solidFill>
          <a:ln/>
        </p:spPr>
      </p:sp>
      <p:sp>
        <p:nvSpPr>
          <p:cNvPr id="14" name="Shape 12"/>
          <p:cNvSpPr/>
          <p:nvPr/>
        </p:nvSpPr>
        <p:spPr>
          <a:xfrm>
            <a:off x="3337560" y="2468880"/>
            <a:ext cx="2743200" cy="2743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5" name="Text 13"/>
          <p:cNvSpPr/>
          <p:nvPr/>
        </p:nvSpPr>
        <p:spPr>
          <a:xfrm>
            <a:off x="3520440" y="2788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5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Head of Perf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20440" y="31089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Park Jun-ho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3520440" y="3840480"/>
            <a:ext cx="548640" cy="45720"/>
          </a:xfrm>
          <a:prstGeom prst="rect">
            <a:avLst/>
          </a:prstGeom>
          <a:solidFill>
            <a:srgbClr val="C5FF00"/>
          </a:solidFill>
          <a:ln/>
        </p:spPr>
      </p:sp>
      <p:sp>
        <p:nvSpPr>
          <p:cNvPr id="18" name="Text 16"/>
          <p:cNvSpPr/>
          <p:nvPr/>
        </p:nvSpPr>
        <p:spPr>
          <a:xfrm>
            <a:off x="3520440" y="402336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ex-Cafe24 6y · ROAS 12x avg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2468880"/>
            <a:ext cx="2743200" cy="402336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7920" y="2468880"/>
            <a:ext cx="2743200" cy="274320"/>
          </a:xfrm>
          <a:prstGeom prst="rect">
            <a:avLst/>
          </a:prstGeom>
          <a:solidFill>
            <a:srgbClr val="C5FF0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2788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5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Head of Content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0" y="31089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Choi Yu-na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400800" y="3840480"/>
            <a:ext cx="548640" cy="45720"/>
          </a:xfrm>
          <a:prstGeom prst="rect">
            <a:avLst/>
          </a:prstGeom>
          <a:solidFill>
            <a:srgbClr val="FF1F8A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402336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ex-Yanolja 5y · 채널 7개 운영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098280" y="2468880"/>
            <a:ext cx="2743200" cy="4023360"/>
          </a:xfrm>
          <a:prstGeom prst="rect">
            <a:avLst/>
          </a:prstGeom>
          <a:solidFill>
            <a:srgbClr val="FF1F8A"/>
          </a:solidFill>
          <a:ln/>
        </p:spPr>
      </p:sp>
      <p:sp>
        <p:nvSpPr>
          <p:cNvPr id="26" name="Shape 24"/>
          <p:cNvSpPr/>
          <p:nvPr/>
        </p:nvSpPr>
        <p:spPr>
          <a:xfrm>
            <a:off x="9098280" y="2468880"/>
            <a:ext cx="2743200" cy="2743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7" name="Text 25"/>
          <p:cNvSpPr/>
          <p:nvPr/>
        </p:nvSpPr>
        <p:spPr>
          <a:xfrm>
            <a:off x="9281160" y="2788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5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Lead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281160" y="31089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Han Min-jae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9281160" y="3840480"/>
            <a:ext cx="548640" cy="45720"/>
          </a:xfrm>
          <a:prstGeom prst="rect">
            <a:avLst/>
          </a:prstGeom>
          <a:solidFill>
            <a:srgbClr val="C5FF00"/>
          </a:solidFill>
          <a:ln/>
        </p:spPr>
      </p:sp>
      <p:sp>
        <p:nvSpPr>
          <p:cNvPr id="30" name="Text 28"/>
          <p:cNvSpPr/>
          <p:nvPr/>
        </p:nvSpPr>
        <p:spPr>
          <a:xfrm>
            <a:off x="9281160" y="402336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ex-Toss 4y · GA4 expert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0" cy="411480"/>
          </a:xfrm>
          <a:prstGeom prst="rect">
            <a:avLst/>
          </a:prstGeom>
          <a:solidFill>
            <a:srgbClr val="FF1F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0116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TOOLS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0" y="411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p.13 / 20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spc="-2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 USE.</a:t>
            </a:r>
            <a:endParaRPr lang="en-US" sz="64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5394960" cy="1691640"/>
          </a:xfrm>
          <a:prstGeom prst="rect">
            <a:avLst/>
          </a:prstGeom>
          <a:solidFill>
            <a:srgbClr val="C5FF0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606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5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089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● Google Ads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0" y="31089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● Meta Business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566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● Naver SA·DA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3566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● TikTok Ads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468880"/>
            <a:ext cx="5394960" cy="1691640"/>
          </a:xfrm>
          <a:prstGeom prst="rect">
            <a:avLst/>
          </a:prstGeom>
          <a:solidFill>
            <a:srgbClr val="FF1F8A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2606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5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ANALYTICS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92240" y="31089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● GA4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961120" y="31089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● Mixpanel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92240" y="3566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● Amplitude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961120" y="3566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● Looker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389120"/>
            <a:ext cx="5394960" cy="1691640"/>
          </a:xfrm>
          <a:prstGeom prst="rect">
            <a:avLst/>
          </a:prstGeom>
          <a:solidFill>
            <a:srgbClr val="C5FF00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526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5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CRM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31520" y="5029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● HubSpot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00400" y="5029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● Stibee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54864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● Channel Talk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00400" y="54864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● Klaviyo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7920" y="4389120"/>
            <a:ext cx="5394960" cy="1691640"/>
          </a:xfrm>
          <a:prstGeom prst="rect">
            <a:avLst/>
          </a:prstGeom>
          <a:solidFill>
            <a:srgbClr val="FF1F8A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4526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5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CREATIVE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492240" y="5029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● Figma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961120" y="5029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● Adobe Suite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92240" y="54864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● Canva Pro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961120" y="54864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● Runway AI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0" cy="411480"/>
          </a:xfrm>
          <a:prstGeom prst="rect">
            <a:avLst/>
          </a:prstGeom>
          <a:solidFill>
            <a:srgbClr val="FF1F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0116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TESTIMONIALS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0" y="411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p.14 / 20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spc="-2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THEY SAY.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11247120" cy="1188720"/>
          </a:xfrm>
          <a:prstGeom prst="rect">
            <a:avLst/>
          </a:prstGeom>
          <a:solidFill>
            <a:srgbClr val="C5FF0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06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"광고만 키운 게 아니라 매출을 다시 짰다."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2461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— 김OO 대표 / 오로라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40480"/>
            <a:ext cx="11247120" cy="1188720"/>
          </a:xfrm>
          <a:prstGeom prst="rect">
            <a:avLst/>
          </a:prstGeom>
          <a:solidFill>
            <a:srgbClr val="FF1F8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977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"ROAS 3 → 12. 12개월 만에. 다른 에이전시는 못 한다."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46177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— 박OO 마케팅이사 / ZEROPLUS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5212080"/>
            <a:ext cx="11247120" cy="1188720"/>
          </a:xfrm>
          <a:prstGeom prst="rect">
            <a:avLst/>
          </a:prstGeom>
          <a:solidFill>
            <a:srgbClr val="C5FF0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5349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"동네 가맹점 매출이 같이 올랐다. 진짜 운영을 한다."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" y="5989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— 이OO CMO / Pignewton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0" cy="411480"/>
          </a:xfrm>
          <a:prstGeom prst="rect">
            <a:avLst/>
          </a:prstGeom>
          <a:solidFill>
            <a:srgbClr val="FF1F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0116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0" y="411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p.15 / 20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spc="-2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WEEKLY VIEW.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06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매주 월요일 — 모든 데이터를 1장에.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1247120" cy="384048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788920"/>
            <a:ext cx="2606040" cy="12801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880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5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31546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8.4x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22960" y="37947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+12%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83280" y="2788920"/>
            <a:ext cx="2606040" cy="12801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2880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5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 SPEND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66160" y="31546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₩48M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566160" y="37947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+8%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2788920"/>
            <a:ext cx="2606040" cy="12801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2880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5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REVENUE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309360" y="31546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₩403M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309360" y="37947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+22%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869680" y="2788920"/>
            <a:ext cx="2606040" cy="12801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2" name="Text 20"/>
          <p:cNvSpPr/>
          <p:nvPr/>
        </p:nvSpPr>
        <p:spPr>
          <a:xfrm>
            <a:off x="9052560" y="2880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5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CAC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052560" y="31546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₩18K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9052560" y="37947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-14%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4206240"/>
            <a:ext cx="10972800" cy="21031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206240"/>
            <a:ext cx="10972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500" kern="0" dirty="0">
                <a:solidFill>
                  <a:srgbClr val="C5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WEEKLY ROAS TREND (live chart)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0" cy="411480"/>
          </a:xfrm>
          <a:prstGeom prst="rect">
            <a:avLst/>
          </a:prstGeom>
          <a:solidFill>
            <a:srgbClr val="FF1F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0116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GUARANTEES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0" y="411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p.16 / 20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spc="-2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PROMISE.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11247120" cy="82296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060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5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①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554480" y="26060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ROAS GUARANTEE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26517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GROWTH 패키지 ROAS 4x 미달 시 다음 달 50% 환불.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11247120" cy="822960"/>
          </a:xfrm>
          <a:prstGeom prst="rect">
            <a:avLst/>
          </a:prstGeom>
          <a:solidFill>
            <a:srgbClr val="FF1F8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5661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5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②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554480" y="35661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OWNERSHIP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3611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 계정·데이터 100% 클라이언트 소유.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389120"/>
            <a:ext cx="11247120" cy="82296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5262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5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③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1554480" y="45262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EXIT FREEDOM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0" y="45720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30일 노티스로 자유 해지. 위약금 없음.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5349240"/>
            <a:ext cx="11247120" cy="822960"/>
          </a:xfrm>
          <a:prstGeom prst="rect">
            <a:avLst/>
          </a:prstGeom>
          <a:solidFill>
            <a:srgbClr val="FF1F8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4864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5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④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1554480" y="54864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TRANSPARENCY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0" y="55321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광고비 마크업 0%. 매주 실비 리포트.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0" cy="411480"/>
          </a:xfrm>
          <a:prstGeom prst="rect">
            <a:avLst/>
          </a:prstGeom>
          <a:solidFill>
            <a:srgbClr val="FF1F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0116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YOU GET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0" y="411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p.17 / 20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spc="-2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DELIVERABLES.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3657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468880"/>
            <a:ext cx="365760" cy="777240"/>
          </a:xfrm>
          <a:prstGeom prst="rect">
            <a:avLst/>
          </a:prstGeom>
          <a:solidFill>
            <a:srgbClr val="FF1F8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468880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26060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주간 KPI 리포트 (월·화)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2468880"/>
            <a:ext cx="3657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2468880"/>
            <a:ext cx="365760" cy="777240"/>
          </a:xfrm>
          <a:prstGeom prst="rect">
            <a:avLst/>
          </a:prstGeom>
          <a:solidFill>
            <a:srgbClr val="C5FF00"/>
          </a:solidFill>
          <a:ln/>
        </p:spPr>
      </p:sp>
      <p:sp>
        <p:nvSpPr>
          <p:cNvPr id="13" name="Text 11"/>
          <p:cNvSpPr/>
          <p:nvPr/>
        </p:nvSpPr>
        <p:spPr>
          <a:xfrm>
            <a:off x="4297680" y="2468880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46320" y="26060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월간 데이터 인사이트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38160" y="2468880"/>
            <a:ext cx="3657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2468880"/>
            <a:ext cx="365760" cy="777240"/>
          </a:xfrm>
          <a:prstGeom prst="rect">
            <a:avLst/>
          </a:prstGeom>
          <a:solidFill>
            <a:srgbClr val="FF1F8A"/>
          </a:solidFill>
          <a:ln/>
        </p:spPr>
      </p:sp>
      <p:sp>
        <p:nvSpPr>
          <p:cNvPr id="17" name="Text 15"/>
          <p:cNvSpPr/>
          <p:nvPr/>
        </p:nvSpPr>
        <p:spPr>
          <a:xfrm>
            <a:off x="8138160" y="2468880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86800" y="26060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분기 캠페인 전략서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429000"/>
            <a:ext cx="3657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429000"/>
            <a:ext cx="365760" cy="777240"/>
          </a:xfrm>
          <a:prstGeom prst="rect">
            <a:avLst/>
          </a:prstGeom>
          <a:solidFill>
            <a:srgbClr val="C5FF00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429000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05840" y="35661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콘텐츠 4편 / 월 (영상 + 이미지)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297680" y="3429000"/>
            <a:ext cx="3657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97680" y="3429000"/>
            <a:ext cx="365760" cy="777240"/>
          </a:xfrm>
          <a:prstGeom prst="rect">
            <a:avLst/>
          </a:prstGeom>
          <a:solidFill>
            <a:srgbClr val="FF1F8A"/>
          </a:solidFill>
          <a:ln/>
        </p:spPr>
      </p:sp>
      <p:sp>
        <p:nvSpPr>
          <p:cNvPr id="25" name="Text 23"/>
          <p:cNvSpPr/>
          <p:nvPr/>
        </p:nvSpPr>
        <p:spPr>
          <a:xfrm>
            <a:off x="4297680" y="3429000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846320" y="35661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광고 캠페인 24개 / 월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138160" y="3429000"/>
            <a:ext cx="3657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38160" y="3429000"/>
            <a:ext cx="365760" cy="777240"/>
          </a:xfrm>
          <a:prstGeom prst="rect">
            <a:avLst/>
          </a:prstGeom>
          <a:solidFill>
            <a:srgbClr val="C5FF00"/>
          </a:solidFill>
          <a:ln/>
        </p:spPr>
      </p:sp>
      <p:sp>
        <p:nvSpPr>
          <p:cNvPr id="29" name="Text 27"/>
          <p:cNvSpPr/>
          <p:nvPr/>
        </p:nvSpPr>
        <p:spPr>
          <a:xfrm>
            <a:off x="8138160" y="3429000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686800" y="35661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AB 테스트 12건 / 월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4389120"/>
            <a:ext cx="3657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4389120"/>
            <a:ext cx="365760" cy="777240"/>
          </a:xfrm>
          <a:prstGeom prst="rect">
            <a:avLst/>
          </a:prstGeom>
          <a:solidFill>
            <a:srgbClr val="FF1F8A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389120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005840" y="45262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랜딩페이지 4종 / 분기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297680" y="4389120"/>
            <a:ext cx="3657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97680" y="4389120"/>
            <a:ext cx="365760" cy="777240"/>
          </a:xfrm>
          <a:prstGeom prst="rect">
            <a:avLst/>
          </a:prstGeom>
          <a:solidFill>
            <a:srgbClr val="C5FF00"/>
          </a:solidFill>
          <a:ln/>
        </p:spPr>
      </p:sp>
      <p:sp>
        <p:nvSpPr>
          <p:cNvPr id="37" name="Text 35"/>
          <p:cNvSpPr/>
          <p:nvPr/>
        </p:nvSpPr>
        <p:spPr>
          <a:xfrm>
            <a:off x="4297680" y="4389120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4846320" y="45262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이메일·문자 시퀀스 6 단계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138160" y="4389120"/>
            <a:ext cx="3657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38160" y="4389120"/>
            <a:ext cx="365760" cy="777240"/>
          </a:xfrm>
          <a:prstGeom prst="rect">
            <a:avLst/>
          </a:prstGeom>
          <a:solidFill>
            <a:srgbClr val="FF1F8A"/>
          </a:solidFill>
          <a:ln/>
        </p:spPr>
      </p:sp>
      <p:sp>
        <p:nvSpPr>
          <p:cNvPr id="41" name="Text 39"/>
          <p:cNvSpPr/>
          <p:nvPr/>
        </p:nvSpPr>
        <p:spPr>
          <a:xfrm>
            <a:off x="8138160" y="4389120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8686800" y="45262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GA4 + 자체 대시보드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57200" y="5349240"/>
            <a:ext cx="3657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57200" y="5349240"/>
            <a:ext cx="365760" cy="777240"/>
          </a:xfrm>
          <a:prstGeom prst="rect">
            <a:avLst/>
          </a:prstGeom>
          <a:solidFill>
            <a:srgbClr val="C5FF00"/>
          </a:solidFill>
          <a:ln/>
        </p:spPr>
      </p:sp>
      <p:sp>
        <p:nvSpPr>
          <p:cNvPr id="45" name="Text 43"/>
          <p:cNvSpPr/>
          <p:nvPr/>
        </p:nvSpPr>
        <p:spPr>
          <a:xfrm>
            <a:off x="457200" y="5349240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005840" y="54864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월 1회 임원 미팅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297680" y="5349240"/>
            <a:ext cx="3657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297680" y="5349240"/>
            <a:ext cx="365760" cy="777240"/>
          </a:xfrm>
          <a:prstGeom prst="rect">
            <a:avLst/>
          </a:prstGeom>
          <a:solidFill>
            <a:srgbClr val="FF1F8A"/>
          </a:solidFill>
          <a:ln/>
        </p:spPr>
      </p:sp>
      <p:sp>
        <p:nvSpPr>
          <p:cNvPr id="49" name="Text 47"/>
          <p:cNvSpPr/>
          <p:nvPr/>
        </p:nvSpPr>
        <p:spPr>
          <a:xfrm>
            <a:off x="4297680" y="5349240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4846320" y="54864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Slack 24시간 응답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8138160" y="5349240"/>
            <a:ext cx="3657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138160" y="5349240"/>
            <a:ext cx="365760" cy="777240"/>
          </a:xfrm>
          <a:prstGeom prst="rect">
            <a:avLst/>
          </a:prstGeom>
          <a:solidFill>
            <a:srgbClr val="C5FF00"/>
          </a:solidFill>
          <a:ln/>
        </p:spPr>
      </p:sp>
      <p:sp>
        <p:nvSpPr>
          <p:cNvPr id="53" name="Text 51"/>
          <p:cNvSpPr/>
          <p:nvPr/>
        </p:nvSpPr>
        <p:spPr>
          <a:xfrm>
            <a:off x="8138160" y="5349240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8686800" y="54864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비상 시 즉시 핫라인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0" cy="411480"/>
          </a:xfrm>
          <a:prstGeom prst="rect">
            <a:avLst/>
          </a:prstGeom>
          <a:solidFill>
            <a:srgbClr val="FF1F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0116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0" y="411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p.18 / 20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spc="-3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 GO.</a:t>
            </a:r>
            <a:endParaRPr lang="en-US" sz="900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1371600" cy="164592"/>
          </a:xfrm>
          <a:prstGeom prst="rect">
            <a:avLst/>
          </a:prstGeom>
          <a:solidFill>
            <a:srgbClr val="FF1F8A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3017520"/>
            <a:ext cx="1280160" cy="59436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01752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5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W0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920240" y="30632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F1F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 TALK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43600" y="31089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30분 무료 진단 콜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1280160" cy="59436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79476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5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920240" y="38404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F1F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AUDIT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943600" y="3886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현재 마케팅 풀 진단 + 리포트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572000"/>
            <a:ext cx="1280160" cy="59436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57200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5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920240" y="46177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F1F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PROPOSAL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943600" y="46634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맞춤 패키지 + KPI 제안서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5349240"/>
            <a:ext cx="1280160" cy="59436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534924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5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920240" y="53949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F1F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 LIVE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943600" y="5440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광고 셋업 + 첫 캠페인 실행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5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0" cy="41148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C5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0116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CONTACT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0" y="411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p.19 / 20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b="1" spc="-4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SAY HI.</a:t>
            </a:r>
            <a:endParaRPr lang="en-US" sz="13000" dirty="0"/>
          </a:p>
        </p:txBody>
      </p:sp>
      <p:sp>
        <p:nvSpPr>
          <p:cNvPr id="7" name="Shape 5"/>
          <p:cNvSpPr/>
          <p:nvPr/>
        </p:nvSpPr>
        <p:spPr>
          <a:xfrm>
            <a:off x="457200" y="3383280"/>
            <a:ext cx="1371600" cy="164592"/>
          </a:xfrm>
          <a:prstGeom prst="rect">
            <a:avLst/>
          </a:prstGeom>
          <a:solidFill>
            <a:srgbClr val="FF1F8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703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1F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EMAIL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28800" y="3703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hello@growthpie.kr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4160520"/>
            <a:ext cx="11247120" cy="0"/>
          </a:xfrm>
          <a:prstGeom prst="line">
            <a:avLst/>
          </a:prstGeom>
          <a:noFill/>
          <a:ln w="5080">
            <a:solidFill>
              <a:srgbClr val="0A0A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2976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1F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PHONE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28800" y="4297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+82 2 555-1818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" y="4754880"/>
            <a:ext cx="11247120" cy="0"/>
          </a:xfrm>
          <a:prstGeom prst="line">
            <a:avLst/>
          </a:prstGeom>
          <a:noFill/>
          <a:ln w="5080">
            <a:solidFill>
              <a:srgbClr val="0A0A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892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1F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28800" y="4892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growthpie.kr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7200" y="5349240"/>
            <a:ext cx="11247120" cy="0"/>
          </a:xfrm>
          <a:prstGeom prst="line">
            <a:avLst/>
          </a:prstGeom>
          <a:noFill/>
          <a:ln w="5080">
            <a:solidFill>
              <a:srgbClr val="0A0A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54864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1F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28800" y="5486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@growthpie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57200" y="5943600"/>
            <a:ext cx="11247120" cy="0"/>
          </a:xfrm>
          <a:prstGeom prst="line">
            <a:avLst/>
          </a:prstGeom>
          <a:noFill/>
          <a:ln w="5080">
            <a:solidFill>
              <a:srgbClr val="0A0A0A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FF1F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126480"/>
            <a:ext cx="12188952" cy="548640"/>
          </a:xfrm>
          <a:prstGeom prst="rect">
            <a:avLst/>
          </a:prstGeom>
          <a:solidFill>
            <a:srgbClr val="C5FF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10972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0" b="1" spc="-5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0972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0" b="1" spc="-500" kern="0" dirty="0">
                <a:solidFill>
                  <a:srgbClr val="C5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GROW.</a:t>
            </a:r>
            <a:endParaRPr lang="en-US" sz="15000" dirty="0"/>
          </a:p>
        </p:txBody>
      </p:sp>
      <p:sp>
        <p:nvSpPr>
          <p:cNvPr id="6" name="Shape 4"/>
          <p:cNvSpPr/>
          <p:nvPr/>
        </p:nvSpPr>
        <p:spPr>
          <a:xfrm>
            <a:off x="457200" y="4572000"/>
            <a:ext cx="1371600" cy="137160"/>
          </a:xfrm>
          <a:prstGeom prst="rect">
            <a:avLst/>
          </a:prstGeom>
          <a:solidFill>
            <a:srgbClr val="FF1F8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00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FF0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GrowthPie — 매출을 숫자로 키운다.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5349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hello@growthpie.kr  ·  growthpie.kr  ·  @growthpie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0" y="6263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p.20 / 20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2026-04-30T11:57:38Z</dcterms:created>
  <dcterms:modified xsi:type="dcterms:W3CDTF">2026-04-30T11:57:38Z</dcterms:modified>
</cp:coreProperties>
</file>